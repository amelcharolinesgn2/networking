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64" r:id="rId2"/>
    <p:sldId id="298" r:id="rId3"/>
    <p:sldId id="291" r:id="rId4"/>
    <p:sldId id="292" r:id="rId5"/>
    <p:sldId id="293" r:id="rId6"/>
    <p:sldId id="294" r:id="rId7"/>
    <p:sldId id="295" r:id="rId8"/>
    <p:sldId id="296" r:id="rId9"/>
    <p:sldId id="297" r:id="rId10"/>
    <p:sldId id="278"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59" autoAdjust="0"/>
    <p:restoredTop sz="72042" autoAdjust="0"/>
  </p:normalViewPr>
  <p:slideViewPr>
    <p:cSldViewPr snapToGrid="0">
      <p:cViewPr varScale="1">
        <p:scale>
          <a:sx n="83" d="100"/>
          <a:sy n="83" d="100"/>
        </p:scale>
        <p:origin x="1722"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275E80C-3B53-450A-868F-CD36AA0AB034}" type="doc">
      <dgm:prSet loTypeId="urn:microsoft.com/office/officeart/2005/8/layout/target3" loCatId="relationship" qsTypeId="urn:microsoft.com/office/officeart/2005/8/quickstyle/3d1" qsCatId="3D" csTypeId="urn:microsoft.com/office/officeart/2005/8/colors/accent2_2" csCatId="accent2" phldr="1"/>
      <dgm:spPr/>
      <dgm:t>
        <a:bodyPr/>
        <a:lstStyle/>
        <a:p>
          <a:endParaRPr lang="en-US"/>
        </a:p>
      </dgm:t>
    </dgm:pt>
    <dgm:pt modelId="{D8FDBA16-E463-462A-B396-7080D4852B10}">
      <dgm:prSet/>
      <dgm:spPr/>
      <dgm:t>
        <a:bodyPr/>
        <a:lstStyle/>
        <a:p>
          <a:pPr algn="l" rtl="0"/>
          <a:r>
            <a:rPr lang="en-US" b="1" dirty="0" err="1" smtClean="0"/>
            <a:t>Konfigurasi</a:t>
          </a:r>
          <a:r>
            <a:rPr lang="en-US" b="1" dirty="0" smtClean="0"/>
            <a:t> DHCP on Ubuntu Server</a:t>
          </a:r>
          <a:endParaRPr lang="en-US" dirty="0"/>
        </a:p>
      </dgm:t>
    </dgm:pt>
    <dgm:pt modelId="{CB0A1544-BCC3-498B-A1CB-3A83F46C4FEA}" type="parTrans" cxnId="{D2CA0264-F12F-4F95-A54F-23E59145D055}">
      <dgm:prSet/>
      <dgm:spPr/>
      <dgm:t>
        <a:bodyPr/>
        <a:lstStyle/>
        <a:p>
          <a:endParaRPr lang="en-US"/>
        </a:p>
      </dgm:t>
    </dgm:pt>
    <dgm:pt modelId="{ECAAE9D0-60C2-4B06-AAA6-E3E3F3BC91BD}" type="sibTrans" cxnId="{D2CA0264-F12F-4F95-A54F-23E59145D055}">
      <dgm:prSet/>
      <dgm:spPr/>
      <dgm:t>
        <a:bodyPr/>
        <a:lstStyle/>
        <a:p>
          <a:endParaRPr lang="en-US"/>
        </a:p>
      </dgm:t>
    </dgm:pt>
    <dgm:pt modelId="{30CCE222-7FD2-4854-87A2-4A9A310BBB7A}" type="pres">
      <dgm:prSet presAssocID="{2275E80C-3B53-450A-868F-CD36AA0AB034}" presName="Name0" presStyleCnt="0">
        <dgm:presLayoutVars>
          <dgm:chMax val="7"/>
          <dgm:dir/>
          <dgm:animLvl val="lvl"/>
          <dgm:resizeHandles val="exact"/>
        </dgm:presLayoutVars>
      </dgm:prSet>
      <dgm:spPr/>
      <dgm:t>
        <a:bodyPr/>
        <a:lstStyle/>
        <a:p>
          <a:endParaRPr lang="en-US"/>
        </a:p>
      </dgm:t>
    </dgm:pt>
    <dgm:pt modelId="{2C47B31C-951C-425E-A4D2-593F9963D3E6}" type="pres">
      <dgm:prSet presAssocID="{D8FDBA16-E463-462A-B396-7080D4852B10}" presName="circle1" presStyleLbl="node1" presStyleIdx="0" presStyleCnt="1"/>
      <dgm:spPr/>
      <dgm:t>
        <a:bodyPr/>
        <a:lstStyle/>
        <a:p>
          <a:endParaRPr lang="en-US"/>
        </a:p>
      </dgm:t>
    </dgm:pt>
    <dgm:pt modelId="{3ED554F4-7685-4CC8-8DB5-90AC62C5D699}" type="pres">
      <dgm:prSet presAssocID="{D8FDBA16-E463-462A-B396-7080D4852B10}" presName="space" presStyleCnt="0"/>
      <dgm:spPr/>
      <dgm:t>
        <a:bodyPr/>
        <a:lstStyle/>
        <a:p>
          <a:endParaRPr lang="en-US"/>
        </a:p>
      </dgm:t>
    </dgm:pt>
    <dgm:pt modelId="{10DAA3CF-D6D9-4A12-B5E8-9D3BDC3303B6}" type="pres">
      <dgm:prSet presAssocID="{D8FDBA16-E463-462A-B396-7080D4852B10}" presName="rect1" presStyleLbl="alignAcc1" presStyleIdx="0" presStyleCnt="1"/>
      <dgm:spPr/>
      <dgm:t>
        <a:bodyPr/>
        <a:lstStyle/>
        <a:p>
          <a:endParaRPr lang="en-US"/>
        </a:p>
      </dgm:t>
    </dgm:pt>
    <dgm:pt modelId="{AF10313C-3C27-4E63-B292-64E86E0D7026}" type="pres">
      <dgm:prSet presAssocID="{D8FDBA16-E463-462A-B396-7080D4852B10}" presName="rect1ParTxNoCh" presStyleLbl="alignAcc1" presStyleIdx="0" presStyleCnt="1">
        <dgm:presLayoutVars>
          <dgm:chMax val="1"/>
          <dgm:bulletEnabled val="1"/>
        </dgm:presLayoutVars>
      </dgm:prSet>
      <dgm:spPr/>
      <dgm:t>
        <a:bodyPr/>
        <a:lstStyle/>
        <a:p>
          <a:endParaRPr lang="en-US"/>
        </a:p>
      </dgm:t>
    </dgm:pt>
  </dgm:ptLst>
  <dgm:cxnLst>
    <dgm:cxn modelId="{3A0822C4-AD35-4CD4-8371-1FDD78E220F6}" type="presOf" srcId="{2275E80C-3B53-450A-868F-CD36AA0AB034}" destId="{30CCE222-7FD2-4854-87A2-4A9A310BBB7A}" srcOrd="0" destOrd="0" presId="urn:microsoft.com/office/officeart/2005/8/layout/target3"/>
    <dgm:cxn modelId="{D2CA0264-F12F-4F95-A54F-23E59145D055}" srcId="{2275E80C-3B53-450A-868F-CD36AA0AB034}" destId="{D8FDBA16-E463-462A-B396-7080D4852B10}" srcOrd="0" destOrd="0" parTransId="{CB0A1544-BCC3-498B-A1CB-3A83F46C4FEA}" sibTransId="{ECAAE9D0-60C2-4B06-AAA6-E3E3F3BC91BD}"/>
    <dgm:cxn modelId="{D1D1E284-33B1-4B28-ADF3-E3233F134477}" type="presOf" srcId="{D8FDBA16-E463-462A-B396-7080D4852B10}" destId="{10DAA3CF-D6D9-4A12-B5E8-9D3BDC3303B6}" srcOrd="0" destOrd="0" presId="urn:microsoft.com/office/officeart/2005/8/layout/target3"/>
    <dgm:cxn modelId="{BAA7B625-929A-4239-9D2C-391664917524}" type="presOf" srcId="{D8FDBA16-E463-462A-B396-7080D4852B10}" destId="{AF10313C-3C27-4E63-B292-64E86E0D7026}" srcOrd="1" destOrd="0" presId="urn:microsoft.com/office/officeart/2005/8/layout/target3"/>
    <dgm:cxn modelId="{9849BA3A-F583-41D5-AB22-508EA3420B96}" type="presParOf" srcId="{30CCE222-7FD2-4854-87A2-4A9A310BBB7A}" destId="{2C47B31C-951C-425E-A4D2-593F9963D3E6}" srcOrd="0" destOrd="0" presId="urn:microsoft.com/office/officeart/2005/8/layout/target3"/>
    <dgm:cxn modelId="{B9C41106-E541-4783-9592-0321A5277098}" type="presParOf" srcId="{30CCE222-7FD2-4854-87A2-4A9A310BBB7A}" destId="{3ED554F4-7685-4CC8-8DB5-90AC62C5D699}" srcOrd="1" destOrd="0" presId="urn:microsoft.com/office/officeart/2005/8/layout/target3"/>
    <dgm:cxn modelId="{947D0443-88B7-433F-AB8D-FC4B10D6F79A}" type="presParOf" srcId="{30CCE222-7FD2-4854-87A2-4A9A310BBB7A}" destId="{10DAA3CF-D6D9-4A12-B5E8-9D3BDC3303B6}" srcOrd="2" destOrd="0" presId="urn:microsoft.com/office/officeart/2005/8/layout/target3"/>
    <dgm:cxn modelId="{E6BFF8DE-8F07-4B46-8A10-D72F23999A50}" type="presParOf" srcId="{30CCE222-7FD2-4854-87A2-4A9A310BBB7A}" destId="{AF10313C-3C27-4E63-B292-64E86E0D7026}" srcOrd="3" destOrd="0" presId="urn:microsoft.com/office/officeart/2005/8/layout/target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275E80C-3B53-450A-868F-CD36AA0AB034}" type="doc">
      <dgm:prSet loTypeId="urn:microsoft.com/office/officeart/2005/8/layout/target3" loCatId="relationship" qsTypeId="urn:microsoft.com/office/officeart/2005/8/quickstyle/3d1" qsCatId="3D" csTypeId="urn:microsoft.com/office/officeart/2005/8/colors/accent2_2" csCatId="accent2" phldr="1"/>
      <dgm:spPr/>
      <dgm:t>
        <a:bodyPr/>
        <a:lstStyle/>
        <a:p>
          <a:endParaRPr lang="en-US"/>
        </a:p>
      </dgm:t>
    </dgm:pt>
    <dgm:pt modelId="{D8FDBA16-E463-462A-B396-7080D4852B10}">
      <dgm:prSet/>
      <dgm:spPr/>
      <dgm:t>
        <a:bodyPr/>
        <a:lstStyle/>
        <a:p>
          <a:pPr algn="l" rtl="0"/>
          <a:r>
            <a:rPr lang="en-US" b="1" dirty="0" err="1" smtClean="0"/>
            <a:t>Konfigurasi</a:t>
          </a:r>
          <a:r>
            <a:rPr lang="en-US" b="1" dirty="0" smtClean="0"/>
            <a:t> DHCP on Ubuntu Server</a:t>
          </a:r>
          <a:endParaRPr lang="en-US" dirty="0"/>
        </a:p>
      </dgm:t>
    </dgm:pt>
    <dgm:pt modelId="{CB0A1544-BCC3-498B-A1CB-3A83F46C4FEA}" type="parTrans" cxnId="{D2CA0264-F12F-4F95-A54F-23E59145D055}">
      <dgm:prSet/>
      <dgm:spPr/>
      <dgm:t>
        <a:bodyPr/>
        <a:lstStyle/>
        <a:p>
          <a:endParaRPr lang="en-US"/>
        </a:p>
      </dgm:t>
    </dgm:pt>
    <dgm:pt modelId="{ECAAE9D0-60C2-4B06-AAA6-E3E3F3BC91BD}" type="sibTrans" cxnId="{D2CA0264-F12F-4F95-A54F-23E59145D055}">
      <dgm:prSet/>
      <dgm:spPr/>
      <dgm:t>
        <a:bodyPr/>
        <a:lstStyle/>
        <a:p>
          <a:endParaRPr lang="en-US"/>
        </a:p>
      </dgm:t>
    </dgm:pt>
    <dgm:pt modelId="{30CCE222-7FD2-4854-87A2-4A9A310BBB7A}" type="pres">
      <dgm:prSet presAssocID="{2275E80C-3B53-450A-868F-CD36AA0AB034}" presName="Name0" presStyleCnt="0">
        <dgm:presLayoutVars>
          <dgm:chMax val="7"/>
          <dgm:dir/>
          <dgm:animLvl val="lvl"/>
          <dgm:resizeHandles val="exact"/>
        </dgm:presLayoutVars>
      </dgm:prSet>
      <dgm:spPr/>
      <dgm:t>
        <a:bodyPr/>
        <a:lstStyle/>
        <a:p>
          <a:endParaRPr lang="en-US"/>
        </a:p>
      </dgm:t>
    </dgm:pt>
    <dgm:pt modelId="{2C47B31C-951C-425E-A4D2-593F9963D3E6}" type="pres">
      <dgm:prSet presAssocID="{D8FDBA16-E463-462A-B396-7080D4852B10}" presName="circle1" presStyleLbl="node1" presStyleIdx="0" presStyleCnt="1"/>
      <dgm:spPr/>
      <dgm:t>
        <a:bodyPr/>
        <a:lstStyle/>
        <a:p>
          <a:endParaRPr lang="en-US"/>
        </a:p>
      </dgm:t>
    </dgm:pt>
    <dgm:pt modelId="{3ED554F4-7685-4CC8-8DB5-90AC62C5D699}" type="pres">
      <dgm:prSet presAssocID="{D8FDBA16-E463-462A-B396-7080D4852B10}" presName="space" presStyleCnt="0"/>
      <dgm:spPr/>
      <dgm:t>
        <a:bodyPr/>
        <a:lstStyle/>
        <a:p>
          <a:endParaRPr lang="en-US"/>
        </a:p>
      </dgm:t>
    </dgm:pt>
    <dgm:pt modelId="{10DAA3CF-D6D9-4A12-B5E8-9D3BDC3303B6}" type="pres">
      <dgm:prSet presAssocID="{D8FDBA16-E463-462A-B396-7080D4852B10}" presName="rect1" presStyleLbl="alignAcc1" presStyleIdx="0" presStyleCnt="1"/>
      <dgm:spPr/>
      <dgm:t>
        <a:bodyPr/>
        <a:lstStyle/>
        <a:p>
          <a:endParaRPr lang="en-US"/>
        </a:p>
      </dgm:t>
    </dgm:pt>
    <dgm:pt modelId="{AF10313C-3C27-4E63-B292-64E86E0D7026}" type="pres">
      <dgm:prSet presAssocID="{D8FDBA16-E463-462A-B396-7080D4852B10}" presName="rect1ParTxNoCh" presStyleLbl="alignAcc1" presStyleIdx="0" presStyleCnt="1">
        <dgm:presLayoutVars>
          <dgm:chMax val="1"/>
          <dgm:bulletEnabled val="1"/>
        </dgm:presLayoutVars>
      </dgm:prSet>
      <dgm:spPr/>
      <dgm:t>
        <a:bodyPr/>
        <a:lstStyle/>
        <a:p>
          <a:endParaRPr lang="en-US"/>
        </a:p>
      </dgm:t>
    </dgm:pt>
  </dgm:ptLst>
  <dgm:cxnLst>
    <dgm:cxn modelId="{3A0822C4-AD35-4CD4-8371-1FDD78E220F6}" type="presOf" srcId="{2275E80C-3B53-450A-868F-CD36AA0AB034}" destId="{30CCE222-7FD2-4854-87A2-4A9A310BBB7A}" srcOrd="0" destOrd="0" presId="urn:microsoft.com/office/officeart/2005/8/layout/target3"/>
    <dgm:cxn modelId="{D2CA0264-F12F-4F95-A54F-23E59145D055}" srcId="{2275E80C-3B53-450A-868F-CD36AA0AB034}" destId="{D8FDBA16-E463-462A-B396-7080D4852B10}" srcOrd="0" destOrd="0" parTransId="{CB0A1544-BCC3-498B-A1CB-3A83F46C4FEA}" sibTransId="{ECAAE9D0-60C2-4B06-AAA6-E3E3F3BC91BD}"/>
    <dgm:cxn modelId="{D1D1E284-33B1-4B28-ADF3-E3233F134477}" type="presOf" srcId="{D8FDBA16-E463-462A-B396-7080D4852B10}" destId="{10DAA3CF-D6D9-4A12-B5E8-9D3BDC3303B6}" srcOrd="0" destOrd="0" presId="urn:microsoft.com/office/officeart/2005/8/layout/target3"/>
    <dgm:cxn modelId="{BAA7B625-929A-4239-9D2C-391664917524}" type="presOf" srcId="{D8FDBA16-E463-462A-B396-7080D4852B10}" destId="{AF10313C-3C27-4E63-B292-64E86E0D7026}" srcOrd="1" destOrd="0" presId="urn:microsoft.com/office/officeart/2005/8/layout/target3"/>
    <dgm:cxn modelId="{9849BA3A-F583-41D5-AB22-508EA3420B96}" type="presParOf" srcId="{30CCE222-7FD2-4854-87A2-4A9A310BBB7A}" destId="{2C47B31C-951C-425E-A4D2-593F9963D3E6}" srcOrd="0" destOrd="0" presId="urn:microsoft.com/office/officeart/2005/8/layout/target3"/>
    <dgm:cxn modelId="{B9C41106-E541-4783-9592-0321A5277098}" type="presParOf" srcId="{30CCE222-7FD2-4854-87A2-4A9A310BBB7A}" destId="{3ED554F4-7685-4CC8-8DB5-90AC62C5D699}" srcOrd="1" destOrd="0" presId="urn:microsoft.com/office/officeart/2005/8/layout/target3"/>
    <dgm:cxn modelId="{947D0443-88B7-433F-AB8D-FC4B10D6F79A}" type="presParOf" srcId="{30CCE222-7FD2-4854-87A2-4A9A310BBB7A}" destId="{10DAA3CF-D6D9-4A12-B5E8-9D3BDC3303B6}" srcOrd="2" destOrd="0" presId="urn:microsoft.com/office/officeart/2005/8/layout/target3"/>
    <dgm:cxn modelId="{E6BFF8DE-8F07-4B46-8A10-D72F23999A50}" type="presParOf" srcId="{30CCE222-7FD2-4854-87A2-4A9A310BBB7A}" destId="{AF10313C-3C27-4E63-B292-64E86E0D7026}" srcOrd="3" destOrd="0" presId="urn:microsoft.com/office/officeart/2005/8/layout/targe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47B31C-951C-425E-A4D2-593F9963D3E6}">
      <dsp:nvSpPr>
        <dsp:cNvPr id="0" name=""/>
        <dsp:cNvSpPr/>
      </dsp:nvSpPr>
      <dsp:spPr>
        <a:xfrm>
          <a:off x="0" y="0"/>
          <a:ext cx="914399" cy="914399"/>
        </a:xfrm>
        <a:prstGeom prst="pie">
          <a:avLst>
            <a:gd name="adj1" fmla="val 5400000"/>
            <a:gd name="adj2" fmla="val 1620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10DAA3CF-D6D9-4A12-B5E8-9D3BDC3303B6}">
      <dsp:nvSpPr>
        <dsp:cNvPr id="0" name=""/>
        <dsp:cNvSpPr/>
      </dsp:nvSpPr>
      <dsp:spPr>
        <a:xfrm>
          <a:off x="457199" y="0"/>
          <a:ext cx="8255379" cy="914399"/>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60020" tIns="160020" rIns="160020" bIns="160020" numCol="1" spcCol="1270" anchor="ctr" anchorCtr="0">
          <a:noAutofit/>
        </a:bodyPr>
        <a:lstStyle/>
        <a:p>
          <a:pPr lvl="0" algn="l" defTabSz="1866900" rtl="0">
            <a:lnSpc>
              <a:spcPct val="90000"/>
            </a:lnSpc>
            <a:spcBef>
              <a:spcPct val="0"/>
            </a:spcBef>
            <a:spcAft>
              <a:spcPct val="35000"/>
            </a:spcAft>
          </a:pPr>
          <a:r>
            <a:rPr lang="en-US" sz="4200" b="1" kern="1200" dirty="0" err="1" smtClean="0"/>
            <a:t>Konfigurasi</a:t>
          </a:r>
          <a:r>
            <a:rPr lang="en-US" sz="4200" b="1" kern="1200" dirty="0" smtClean="0"/>
            <a:t> DHCP on Ubuntu Server</a:t>
          </a:r>
          <a:endParaRPr lang="en-US" sz="4200" kern="1200" dirty="0"/>
        </a:p>
      </dsp:txBody>
      <dsp:txXfrm>
        <a:off x="457199" y="0"/>
        <a:ext cx="8255379" cy="91439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47B31C-951C-425E-A4D2-593F9963D3E6}">
      <dsp:nvSpPr>
        <dsp:cNvPr id="0" name=""/>
        <dsp:cNvSpPr/>
      </dsp:nvSpPr>
      <dsp:spPr>
        <a:xfrm>
          <a:off x="0" y="0"/>
          <a:ext cx="914399" cy="914399"/>
        </a:xfrm>
        <a:prstGeom prst="pie">
          <a:avLst>
            <a:gd name="adj1" fmla="val 5400000"/>
            <a:gd name="adj2" fmla="val 1620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10DAA3CF-D6D9-4A12-B5E8-9D3BDC3303B6}">
      <dsp:nvSpPr>
        <dsp:cNvPr id="0" name=""/>
        <dsp:cNvSpPr/>
      </dsp:nvSpPr>
      <dsp:spPr>
        <a:xfrm>
          <a:off x="457199" y="0"/>
          <a:ext cx="8255379" cy="914399"/>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60020" tIns="160020" rIns="160020" bIns="160020" numCol="1" spcCol="1270" anchor="ctr" anchorCtr="0">
          <a:noAutofit/>
        </a:bodyPr>
        <a:lstStyle/>
        <a:p>
          <a:pPr lvl="0" algn="l" defTabSz="1866900" rtl="0">
            <a:lnSpc>
              <a:spcPct val="90000"/>
            </a:lnSpc>
            <a:spcBef>
              <a:spcPct val="0"/>
            </a:spcBef>
            <a:spcAft>
              <a:spcPct val="35000"/>
            </a:spcAft>
          </a:pPr>
          <a:r>
            <a:rPr lang="en-US" sz="4200" b="1" kern="1200" dirty="0" err="1" smtClean="0"/>
            <a:t>Konfigurasi</a:t>
          </a:r>
          <a:r>
            <a:rPr lang="en-US" sz="4200" b="1" kern="1200" dirty="0" smtClean="0"/>
            <a:t> DHCP on Ubuntu Server</a:t>
          </a:r>
          <a:endParaRPr lang="en-US" sz="4200" kern="1200" dirty="0"/>
        </a:p>
      </dsp:txBody>
      <dsp:txXfrm>
        <a:off x="457199" y="0"/>
        <a:ext cx="8255379" cy="914399"/>
      </dsp:txXfrm>
    </dsp:sp>
  </dsp:spTree>
</dsp:drawing>
</file>

<file path=ppt/diagrams/layout1.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5D0C7D-798A-44DC-AC41-FEC01C38F0EB}" type="datetimeFigureOut">
              <a:rPr lang="en-US" smtClean="0"/>
              <a:t>3/30/2026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1A1DE6-A801-4746-9FC0-8352D20A3103}" type="slidenum">
              <a:rPr lang="en-US" smtClean="0"/>
              <a:t>‹#›</a:t>
            </a:fld>
            <a:endParaRPr lang="en-US"/>
          </a:p>
        </p:txBody>
      </p:sp>
    </p:spTree>
    <p:extLst>
      <p:ext uri="{BB962C8B-B14F-4D97-AF65-F5344CB8AC3E}">
        <p14:creationId xmlns:p14="http://schemas.microsoft.com/office/powerpoint/2010/main" val="28595932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http://www.sophphx.caltech.edu/Physics_5/Experiment_6.pdf</a:t>
            </a:r>
            <a:endParaRPr lang="en-US" dirty="0"/>
          </a:p>
        </p:txBody>
      </p:sp>
      <p:sp>
        <p:nvSpPr>
          <p:cNvPr id="4" name="Slide Number Placeholder 3"/>
          <p:cNvSpPr>
            <a:spLocks noGrp="1"/>
          </p:cNvSpPr>
          <p:nvPr>
            <p:ph type="sldNum" sz="quarter" idx="10"/>
          </p:nvPr>
        </p:nvSpPr>
        <p:spPr/>
        <p:txBody>
          <a:bodyPr/>
          <a:lstStyle/>
          <a:p>
            <a:fld id="{CDC773BF-E5C9-44BF-B19B-39EF1F90376E}" type="slidenum">
              <a:rPr lang="en-US" smtClean="0"/>
              <a:t>1</a:t>
            </a:fld>
            <a:endParaRPr lang="en-US"/>
          </a:p>
        </p:txBody>
      </p:sp>
    </p:spTree>
    <p:extLst>
      <p:ext uri="{BB962C8B-B14F-4D97-AF65-F5344CB8AC3E}">
        <p14:creationId xmlns:p14="http://schemas.microsoft.com/office/powerpoint/2010/main" val="884784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sz="1200" b="0" i="0" kern="1200" dirty="0" smtClean="0">
                <a:solidFill>
                  <a:schemeClr val="tx1"/>
                </a:solidFill>
                <a:effectLst/>
                <a:latin typeface="+mn-lt"/>
                <a:ea typeface="+mn-ea"/>
                <a:cs typeface="+mn-cs"/>
              </a:rPr>
              <a:t>DHCP (Dynamic Configuration Protocol) adalah layanan yang secara otomatis memberikan nomor IP kepada komputer yang memintanya. Komputer yang memberikan nomor IP disebut sebagai </a:t>
            </a:r>
            <a:r>
              <a:rPr lang="id-ID" sz="1200" b="1" i="1" kern="1200" dirty="0" smtClean="0">
                <a:solidFill>
                  <a:schemeClr val="tx1"/>
                </a:solidFill>
                <a:effectLst/>
                <a:latin typeface="+mn-lt"/>
                <a:ea typeface="+mn-ea"/>
                <a:cs typeface="+mn-cs"/>
              </a:rPr>
              <a:t>DHCP server</a:t>
            </a:r>
            <a:r>
              <a:rPr lang="id-ID" sz="1200" b="0" i="0" kern="1200" dirty="0" smtClean="0">
                <a:solidFill>
                  <a:schemeClr val="tx1"/>
                </a:solidFill>
                <a:effectLst/>
                <a:latin typeface="+mn-lt"/>
                <a:ea typeface="+mn-ea"/>
                <a:cs typeface="+mn-cs"/>
              </a:rPr>
              <a:t>, sedangkan komputer yang meminta nomor IP disebut sebagai DHCP Client. Dengan demikian administrator tidak perlu lagi harus memberikan nomor IP secara manual pada saat konfigurasi TCP/IP, tapi cukup dengan memberikan referensi kepada DHCP Server. </a:t>
            </a:r>
          </a:p>
          <a:p>
            <a:r>
              <a:rPr lang="id-ID" sz="1200" b="0" i="0" kern="1200" dirty="0" smtClean="0">
                <a:solidFill>
                  <a:schemeClr val="tx1"/>
                </a:solidFill>
                <a:effectLst/>
                <a:latin typeface="+mn-lt"/>
                <a:ea typeface="+mn-ea"/>
                <a:cs typeface="+mn-cs"/>
              </a:rPr>
              <a:t>Pada saat kedua DHCP client dihidupkan, maka komputer tersebut melakukan request ke DHCP-Server untuk mendapatkan nomor IP. DHCP menjawab dengan memberikan nomor IP yang ada di database DHCP. Setelah DHCP Server memberikan nomor IP, maka server meminjamkan (lease) nomor IP yang ada ke DHCP-Client dan mencoret nomor IP tersebut dari daftar pool. Nomor IP diberikan bersama dengan subnet mask dan default gateway. Jika tidak ada lagi nomor IP yang dapat diberikan, maka client tidak dapat menginisialisasi TCP/IP, dengan sendirinya tidak dapat tersambung pada jaringan tersebut. Setelah periode waktu tertentu, maka pemakaian DHCP Client tersebut dinyatakan selesai dan client tidak memperbaharui permintaan kembali, maka nomor IP tersebut dikembalikan kepada DHCP Server, dan server dapat memberikan nomor IP tersebut kepada Client yang membutuhkan. Lama periode ini dapat ditentukan dalam menit, jam, bulan atau selamanya. Jangka waktu disebut </a:t>
            </a:r>
            <a:r>
              <a:rPr lang="id-ID" sz="1200" b="0" i="1" kern="1200" dirty="0" smtClean="0">
                <a:solidFill>
                  <a:schemeClr val="tx1"/>
                </a:solidFill>
                <a:effectLst/>
                <a:latin typeface="+mn-lt"/>
                <a:ea typeface="+mn-ea"/>
                <a:cs typeface="+mn-cs"/>
              </a:rPr>
              <a:t>leased period.</a:t>
            </a:r>
            <a:endParaRPr lang="id-ID" sz="1200" b="0" i="0" kern="1200" dirty="0" smtClean="0">
              <a:solidFill>
                <a:schemeClr val="tx1"/>
              </a:solidFill>
              <a:effectLst/>
              <a:latin typeface="+mn-lt"/>
              <a:ea typeface="+mn-ea"/>
              <a:cs typeface="+mn-cs"/>
            </a:endParaRPr>
          </a:p>
          <a:p>
            <a:r>
              <a:rPr lang="id-ID" sz="1200" b="1" i="0" kern="1200" dirty="0" smtClean="0">
                <a:solidFill>
                  <a:schemeClr val="tx1"/>
                </a:solidFill>
                <a:effectLst/>
                <a:latin typeface="+mn-lt"/>
                <a:ea typeface="+mn-ea"/>
                <a:cs typeface="+mn-cs"/>
              </a:rPr>
              <a:t>Cara Kerja DHCP :</a:t>
            </a:r>
            <a:endParaRPr lang="id-ID" sz="1200" b="0" i="0" kern="1200" dirty="0" smtClean="0">
              <a:solidFill>
                <a:schemeClr val="tx1"/>
              </a:solidFill>
              <a:effectLst/>
              <a:latin typeface="+mn-lt"/>
              <a:ea typeface="+mn-ea"/>
              <a:cs typeface="+mn-cs"/>
            </a:endParaRPr>
          </a:p>
          <a:p>
            <a:r>
              <a:rPr lang="id-ID" sz="1200" b="0" i="0" kern="1200" dirty="0" smtClean="0">
                <a:solidFill>
                  <a:schemeClr val="tx1"/>
                </a:solidFill>
                <a:effectLst/>
                <a:latin typeface="+mn-lt"/>
                <a:ea typeface="+mn-ea"/>
                <a:cs typeface="+mn-cs"/>
              </a:rPr>
              <a:t>DHCP menggunakan 4 tahapan proses untuk memberikan konfigurasi nomor IP.  Jika Client punya NIC Card lebih dari satu dan perlu no IP lebih dari 1 maka proses DHCP dijalankan untuk setiap adaptor secara sendiri-sendiri) :</a:t>
            </a:r>
          </a:p>
          <a:p>
            <a:r>
              <a:rPr lang="id-ID" sz="1200" b="0" i="0" kern="1200" dirty="0" smtClean="0">
                <a:solidFill>
                  <a:schemeClr val="tx1"/>
                </a:solidFill>
                <a:effectLst/>
                <a:latin typeface="+mn-lt"/>
                <a:ea typeface="+mn-ea"/>
                <a:cs typeface="+mn-cs"/>
              </a:rPr>
              <a:t>1. DHCPDISCOVER</a:t>
            </a:r>
          </a:p>
          <a:p>
            <a:r>
              <a:rPr lang="id-ID" sz="1200" b="0" i="0" kern="1200" dirty="0" smtClean="0">
                <a:solidFill>
                  <a:schemeClr val="tx1"/>
                </a:solidFill>
                <a:effectLst/>
                <a:latin typeface="+mn-lt"/>
                <a:ea typeface="+mn-ea"/>
                <a:cs typeface="+mn-cs"/>
              </a:rPr>
              <a:t>Client meminta nomor IP ke server (Broadcast mencari DHCP server).</a:t>
            </a:r>
          </a:p>
          <a:p>
            <a:r>
              <a:rPr lang="id-ID" sz="1200" b="0" i="0" kern="1200" dirty="0" smtClean="0">
                <a:solidFill>
                  <a:schemeClr val="tx1"/>
                </a:solidFill>
                <a:effectLst/>
                <a:latin typeface="+mn-lt"/>
                <a:ea typeface="+mn-ea"/>
                <a:cs typeface="+mn-cs"/>
              </a:rPr>
              <a:t>2. DHCPOFFER</a:t>
            </a:r>
          </a:p>
          <a:p>
            <a:r>
              <a:rPr lang="id-ID" sz="1200" b="0" i="0" kern="1200" dirty="0" smtClean="0">
                <a:solidFill>
                  <a:schemeClr val="tx1"/>
                </a:solidFill>
                <a:effectLst/>
                <a:latin typeface="+mn-lt"/>
                <a:ea typeface="+mn-ea"/>
                <a:cs typeface="+mn-cs"/>
              </a:rPr>
              <a:t>DHCP server (bisa satu atau lebih server jika memang ada 2 atau lebih DHCP server) yang mempunyai no IP memberikan penawaran ke client tersebut.</a:t>
            </a:r>
          </a:p>
          <a:p>
            <a:r>
              <a:rPr lang="id-ID" sz="1200" b="0" i="0" kern="1200" dirty="0" smtClean="0">
                <a:solidFill>
                  <a:schemeClr val="tx1"/>
                </a:solidFill>
                <a:effectLst/>
                <a:latin typeface="+mn-lt"/>
                <a:ea typeface="+mn-ea"/>
                <a:cs typeface="+mn-cs"/>
              </a:rPr>
              <a:t>3. DHCPREQUEST</a:t>
            </a:r>
          </a:p>
          <a:p>
            <a:r>
              <a:rPr lang="id-ID" sz="1200" b="0" i="0" kern="1200" dirty="0" smtClean="0">
                <a:solidFill>
                  <a:schemeClr val="tx1"/>
                </a:solidFill>
                <a:effectLst/>
                <a:latin typeface="+mn-lt"/>
                <a:ea typeface="+mn-ea"/>
                <a:cs typeface="+mn-cs"/>
              </a:rPr>
              <a:t>Client memilih penawaran DHCP Server yng pertama diterima dan kembali melakukan broadcast dengan message menyetujui peminjaman tersebut kepada DHCP Server</a:t>
            </a:r>
          </a:p>
          <a:p>
            <a:r>
              <a:rPr lang="id-ID" sz="1200" b="0" i="0" kern="1200" dirty="0" smtClean="0">
                <a:solidFill>
                  <a:schemeClr val="tx1"/>
                </a:solidFill>
                <a:effectLst/>
                <a:latin typeface="+mn-lt"/>
                <a:ea typeface="+mn-ea"/>
                <a:cs typeface="+mn-cs"/>
              </a:rPr>
              <a:t>4. DHCPACK</a:t>
            </a:r>
          </a:p>
          <a:p>
            <a:r>
              <a:rPr lang="id-ID" sz="1200" b="0" i="0" kern="1200" dirty="0" smtClean="0">
                <a:solidFill>
                  <a:schemeClr val="tx1"/>
                </a:solidFill>
                <a:effectLst/>
                <a:latin typeface="+mn-lt"/>
                <a:ea typeface="+mn-ea"/>
                <a:cs typeface="+mn-cs"/>
              </a:rPr>
              <a:t>DHCP Server yang menang memberikan jawaban atas pesan tersebut berupa konfirmasi no IP dan informasi lain kepada Client dengan sebuah ACKnowledgment. Kemudian client melakukan inisialisasi dengan mengikat (binding) nomor IP tersebut dan client dapat bekerja pada jaringan tersebut. Sedangkan DHCP Server yang lain menarik tawarannya kembali.</a:t>
            </a:r>
          </a:p>
          <a:p>
            <a:r>
              <a:rPr lang="id-ID" sz="1200" b="0" i="0" kern="1200" dirty="0" smtClean="0">
                <a:solidFill>
                  <a:schemeClr val="tx1"/>
                </a:solidFill>
                <a:effectLst/>
                <a:latin typeface="+mn-lt"/>
                <a:ea typeface="+mn-ea"/>
                <a:cs typeface="+mn-cs"/>
              </a:rPr>
              <a:t/>
            </a:r>
            <a:br>
              <a:rPr lang="id-ID" sz="1200" b="0" i="0" kern="1200" dirty="0" smtClean="0">
                <a:solidFill>
                  <a:schemeClr val="tx1"/>
                </a:solidFill>
                <a:effectLst/>
                <a:latin typeface="+mn-lt"/>
                <a:ea typeface="+mn-ea"/>
                <a:cs typeface="+mn-cs"/>
              </a:rPr>
            </a:br>
            <a:endParaRPr lang="id-ID" sz="1200" b="0" i="0" kern="1200" dirty="0" smtClean="0">
              <a:solidFill>
                <a:schemeClr val="tx1"/>
              </a:solidFill>
              <a:effectLst/>
              <a:latin typeface="+mn-lt"/>
              <a:ea typeface="+mn-ea"/>
              <a:cs typeface="+mn-cs"/>
            </a:endParaRPr>
          </a:p>
          <a:p>
            <a:r>
              <a:rPr lang="id-ID" sz="1200" b="0" i="0" kern="1200" dirty="0" smtClean="0">
                <a:solidFill>
                  <a:schemeClr val="tx1"/>
                </a:solidFill>
                <a:effectLst/>
                <a:latin typeface="+mn-lt"/>
                <a:ea typeface="+mn-ea"/>
                <a:cs typeface="+mn-cs"/>
              </a:rPr>
              <a:t>Langkah Konfigurasi DHCP Server di Linux dengan distro Debian dan turunannya:</a:t>
            </a:r>
          </a:p>
          <a:p>
            <a:r>
              <a:rPr lang="id-ID" sz="1200" b="1" i="0" kern="1200" dirty="0" smtClean="0">
                <a:solidFill>
                  <a:schemeClr val="tx1"/>
                </a:solidFill>
                <a:effectLst/>
                <a:latin typeface="+mn-lt"/>
                <a:ea typeface="+mn-ea"/>
                <a:cs typeface="+mn-cs"/>
              </a:rPr>
              <a:t>A.</a:t>
            </a:r>
            <a:r>
              <a:rPr lang="id-ID" sz="1200" b="0" i="0" kern="1200" dirty="0" smtClean="0">
                <a:solidFill>
                  <a:schemeClr val="tx1"/>
                </a:solidFill>
                <a:effectLst/>
                <a:latin typeface="+mn-lt"/>
                <a:ea typeface="+mn-ea"/>
                <a:cs typeface="+mn-cs"/>
              </a:rPr>
              <a:t>      </a:t>
            </a:r>
            <a:r>
              <a:rPr lang="id-ID" sz="1200" b="1" i="0" kern="1200" dirty="0" smtClean="0">
                <a:solidFill>
                  <a:schemeClr val="tx1"/>
                </a:solidFill>
                <a:effectLst/>
                <a:latin typeface="+mn-lt"/>
                <a:ea typeface="+mn-ea"/>
                <a:cs typeface="+mn-cs"/>
              </a:rPr>
              <a:t>Konfigurasi Server</a:t>
            </a:r>
            <a:endParaRPr lang="id-ID" sz="1200" b="0" i="0" kern="1200" dirty="0" smtClean="0">
              <a:solidFill>
                <a:schemeClr val="tx1"/>
              </a:solidFill>
              <a:effectLst/>
              <a:latin typeface="+mn-lt"/>
              <a:ea typeface="+mn-ea"/>
              <a:cs typeface="+mn-cs"/>
            </a:endParaRPr>
          </a:p>
          <a:p>
            <a:r>
              <a:rPr lang="id-ID" sz="1200" b="0" i="0" kern="1200" dirty="0" smtClean="0">
                <a:solidFill>
                  <a:schemeClr val="tx1"/>
                </a:solidFill>
                <a:effectLst/>
                <a:latin typeface="+mn-lt"/>
                <a:ea typeface="+mn-ea"/>
                <a:cs typeface="+mn-cs"/>
              </a:rPr>
              <a:t>1.       Login sebagai root</a:t>
            </a:r>
          </a:p>
          <a:p>
            <a:r>
              <a:rPr lang="id-ID" sz="1200" b="0" i="0" kern="1200" dirty="0" smtClean="0">
                <a:solidFill>
                  <a:schemeClr val="tx1"/>
                </a:solidFill>
                <a:effectLst/>
                <a:latin typeface="+mn-lt"/>
                <a:ea typeface="+mn-ea"/>
                <a:cs typeface="+mn-cs"/>
              </a:rPr>
              <a:t>2.       Lakukan pengecekan apakah paket DHCP server sudah terinstall atau belum:</a:t>
            </a:r>
          </a:p>
          <a:p>
            <a:r>
              <a:rPr lang="id-ID" sz="1200" b="0" i="0" kern="1200" dirty="0" smtClean="0">
                <a:solidFill>
                  <a:schemeClr val="tx1"/>
                </a:solidFill>
                <a:effectLst/>
                <a:latin typeface="+mn-lt"/>
                <a:ea typeface="+mn-ea"/>
                <a:cs typeface="+mn-cs"/>
              </a:rPr>
              <a:t>#dpkg –l | grep dhcp</a:t>
            </a:r>
          </a:p>
          <a:p>
            <a:r>
              <a:rPr lang="id-ID" sz="1200" b="0" i="0" kern="1200" dirty="0" smtClean="0">
                <a:solidFill>
                  <a:schemeClr val="tx1"/>
                </a:solidFill>
                <a:effectLst/>
                <a:latin typeface="+mn-lt"/>
                <a:ea typeface="+mn-ea"/>
                <a:cs typeface="+mn-cs"/>
              </a:rPr>
              <a:t>Lihat hasil yang ditampilkan, apakah ada paket DHCP server atau tidak (biasanya nama paket yang digunakan adalah dhcp3-server). Kalau tidak ada berarti paket dhcp3-server belum terinstall, dan kalau paket dhcp3-server sudah ada/tampil berarti sudah terinstall.</a:t>
            </a:r>
          </a:p>
          <a:p>
            <a:r>
              <a:rPr lang="id-ID" sz="1200" b="0" i="0" kern="1200" dirty="0" smtClean="0">
                <a:solidFill>
                  <a:schemeClr val="tx1"/>
                </a:solidFill>
                <a:effectLst/>
                <a:latin typeface="+mn-lt"/>
                <a:ea typeface="+mn-ea"/>
                <a:cs typeface="+mn-cs"/>
              </a:rPr>
              <a:t>Untuk menyeragamkan, agar semuanya menginstall paket dhcp3-server mulai dari awal, maka bagi yang pada komputernya sudah terinstall paket dhcp3-server, lakukan uninstall terlebih dahulu dengan perintah berikut :</a:t>
            </a:r>
          </a:p>
          <a:p>
            <a:r>
              <a:rPr lang="id-ID" sz="1200" b="0" i="0" kern="1200" dirty="0" smtClean="0">
                <a:solidFill>
                  <a:schemeClr val="tx1"/>
                </a:solidFill>
                <a:effectLst/>
                <a:latin typeface="+mn-lt"/>
                <a:ea typeface="+mn-ea"/>
                <a:cs typeface="+mn-cs"/>
              </a:rPr>
              <a:t>#dpkg –P dhcp3-server</a:t>
            </a:r>
          </a:p>
          <a:p>
            <a:r>
              <a:rPr lang="id-ID" sz="1200" b="0" i="0" kern="1200" dirty="0" smtClean="0">
                <a:solidFill>
                  <a:schemeClr val="tx1"/>
                </a:solidFill>
                <a:effectLst/>
                <a:latin typeface="+mn-lt"/>
                <a:ea typeface="+mn-ea"/>
                <a:cs typeface="+mn-cs"/>
              </a:rPr>
              <a:t>Tunggu sampai proses uninstall selesai.</a:t>
            </a:r>
          </a:p>
          <a:p>
            <a:r>
              <a:rPr lang="id-ID" sz="1200" b="0" i="0" kern="1200" dirty="0" smtClean="0">
                <a:solidFill>
                  <a:schemeClr val="tx1"/>
                </a:solidFill>
                <a:effectLst/>
                <a:latin typeface="+mn-lt"/>
                <a:ea typeface="+mn-ea"/>
                <a:cs typeface="+mn-cs"/>
              </a:rPr>
              <a:t>Setelah selesai, cek kembali apakah paket dhcp3-server masih terinstall atau sudah berhasil di-uninstall.</a:t>
            </a:r>
          </a:p>
          <a:p>
            <a:r>
              <a:rPr lang="id-ID" sz="1200" b="0" i="0" kern="1200" dirty="0" smtClean="0">
                <a:solidFill>
                  <a:schemeClr val="tx1"/>
                </a:solidFill>
                <a:effectLst/>
                <a:latin typeface="+mn-lt"/>
                <a:ea typeface="+mn-ea"/>
                <a:cs typeface="+mn-cs"/>
              </a:rPr>
              <a:t>3.     Lakukan pengecekan paket DHCP server </a:t>
            </a:r>
          </a:p>
          <a:p>
            <a:r>
              <a:rPr lang="id-ID" sz="1200" b="0" i="0" kern="1200" dirty="0" smtClean="0">
                <a:solidFill>
                  <a:schemeClr val="tx1"/>
                </a:solidFill>
                <a:effectLst/>
                <a:latin typeface="+mn-lt"/>
                <a:ea typeface="+mn-ea"/>
                <a:cs typeface="+mn-cs"/>
              </a:rPr>
              <a:t>#apt-cache search dhcp</a:t>
            </a:r>
          </a:p>
          <a:p>
            <a:r>
              <a:rPr lang="id-ID" sz="1200" b="0" i="0" kern="1200" dirty="0" smtClean="0">
                <a:solidFill>
                  <a:schemeClr val="tx1"/>
                </a:solidFill>
                <a:effectLst/>
                <a:latin typeface="+mn-lt"/>
                <a:ea typeface="+mn-ea"/>
                <a:cs typeface="+mn-cs"/>
              </a:rPr>
              <a:t>Maka akan ditampilkan beberapa paket yang berhubungan dengan DHCP, tentukan atau pilih paket yang akan kita install, misalnya untuk praktikum ini kita gunakan paket dhcp3-server.</a:t>
            </a:r>
          </a:p>
          <a:p>
            <a:r>
              <a:rPr lang="id-ID" sz="1200" b="0" i="0" kern="1200" dirty="0" smtClean="0">
                <a:solidFill>
                  <a:schemeClr val="tx1"/>
                </a:solidFill>
                <a:effectLst/>
                <a:latin typeface="+mn-lt"/>
                <a:ea typeface="+mn-ea"/>
                <a:cs typeface="+mn-cs"/>
              </a:rPr>
              <a:t>4.     Lakukan instalasi paket dhcp3-server </a:t>
            </a:r>
          </a:p>
          <a:p>
            <a:r>
              <a:rPr lang="id-ID" sz="1200" b="0" i="0" kern="1200" dirty="0" smtClean="0">
                <a:solidFill>
                  <a:schemeClr val="tx1"/>
                </a:solidFill>
                <a:effectLst/>
                <a:latin typeface="+mn-lt"/>
                <a:ea typeface="+mn-ea"/>
                <a:cs typeface="+mn-cs"/>
              </a:rPr>
              <a:t>#apt-get install dhcp3-server</a:t>
            </a:r>
          </a:p>
          <a:p>
            <a:r>
              <a:rPr lang="id-ID" sz="1200" b="0" i="0" kern="1200" dirty="0" smtClean="0">
                <a:solidFill>
                  <a:schemeClr val="tx1"/>
                </a:solidFill>
                <a:effectLst/>
                <a:latin typeface="+mn-lt"/>
                <a:ea typeface="+mn-ea"/>
                <a:cs typeface="+mn-cs"/>
              </a:rPr>
              <a:t>Jika komputer meminta untuk memasukkan CD Ubuntu, masukkan CD Ubuntu-nya kemudian tekan enter. Tunggu sampai proses instalasi selesai.</a:t>
            </a:r>
          </a:p>
          <a:p>
            <a:r>
              <a:rPr lang="id-ID" sz="1200" b="0" i="0" kern="1200" dirty="0" smtClean="0">
                <a:solidFill>
                  <a:schemeClr val="tx1"/>
                </a:solidFill>
                <a:effectLst/>
                <a:latin typeface="+mn-lt"/>
                <a:ea typeface="+mn-ea"/>
                <a:cs typeface="+mn-cs"/>
              </a:rPr>
              <a:t>Di akhir proses instalasi, paket dhcp-server akan langsung dijalankan, tetapi biasanya tidak akan langsung jalan.hal ini karena kita belum melakukan konfigurasi.</a:t>
            </a:r>
          </a:p>
          <a:p>
            <a:r>
              <a:rPr lang="id-ID" sz="1200" b="0" i="0" kern="1200" dirty="0" smtClean="0">
                <a:solidFill>
                  <a:schemeClr val="tx1"/>
                </a:solidFill>
                <a:effectLst/>
                <a:latin typeface="+mn-lt"/>
                <a:ea typeface="+mn-ea"/>
                <a:cs typeface="+mn-cs"/>
              </a:rPr>
              <a:t>Lakukan konfigurasi IP Address pada server DHCP, misalnya subnet yang digunakan adalah 192.168.10.0/24, dan komputer yang akan dijadikan DHCP server diberi IP Address 192.168.10.1</a:t>
            </a:r>
          </a:p>
          <a:p>
            <a:r>
              <a:rPr lang="id-ID" sz="1200" b="0" i="0" kern="1200" dirty="0" smtClean="0">
                <a:solidFill>
                  <a:schemeClr val="tx1"/>
                </a:solidFill>
                <a:effectLst/>
                <a:latin typeface="+mn-lt"/>
                <a:ea typeface="+mn-ea"/>
                <a:cs typeface="+mn-cs"/>
              </a:rPr>
              <a:t>#vim /etc/network/interfaces</a:t>
            </a:r>
          </a:p>
          <a:p>
            <a:r>
              <a:rPr lang="id-ID" sz="1200" b="0" i="0" kern="1200" dirty="0" smtClean="0">
                <a:solidFill>
                  <a:schemeClr val="tx1"/>
                </a:solidFill>
                <a:effectLst/>
                <a:latin typeface="+mn-lt"/>
                <a:ea typeface="+mn-ea"/>
                <a:cs typeface="+mn-cs"/>
              </a:rPr>
              <a:t>Edit konfigurasi networking :</a:t>
            </a:r>
          </a:p>
          <a:p>
            <a:r>
              <a:rPr lang="id-ID" sz="1200" b="0" i="0" kern="1200" dirty="0" smtClean="0">
                <a:solidFill>
                  <a:schemeClr val="tx1"/>
                </a:solidFill>
                <a:effectLst/>
                <a:latin typeface="+mn-lt"/>
                <a:ea typeface="+mn-ea"/>
                <a:cs typeface="+mn-cs"/>
              </a:rPr>
              <a:t>auto lo</a:t>
            </a:r>
          </a:p>
          <a:p>
            <a:r>
              <a:rPr lang="id-ID" sz="1200" b="0" i="0" kern="1200" dirty="0" smtClean="0">
                <a:solidFill>
                  <a:schemeClr val="tx1"/>
                </a:solidFill>
                <a:effectLst/>
                <a:latin typeface="+mn-lt"/>
                <a:ea typeface="+mn-ea"/>
                <a:cs typeface="+mn-cs"/>
              </a:rPr>
              <a:t>iface lo inet loopback</a:t>
            </a:r>
          </a:p>
          <a:p>
            <a:r>
              <a:rPr lang="id-ID" sz="1200" b="0" i="0" kern="1200" dirty="0" smtClean="0">
                <a:solidFill>
                  <a:schemeClr val="tx1"/>
                </a:solidFill>
                <a:effectLst/>
                <a:latin typeface="+mn-lt"/>
                <a:ea typeface="+mn-ea"/>
                <a:cs typeface="+mn-cs"/>
              </a:rPr>
              <a:t>auto eth0</a:t>
            </a:r>
          </a:p>
          <a:p>
            <a:r>
              <a:rPr lang="id-ID" sz="1200" b="0" i="0" kern="1200" dirty="0" smtClean="0">
                <a:solidFill>
                  <a:schemeClr val="tx1"/>
                </a:solidFill>
                <a:effectLst/>
                <a:latin typeface="+mn-lt"/>
                <a:ea typeface="+mn-ea"/>
                <a:cs typeface="+mn-cs"/>
              </a:rPr>
              <a:t>iface eth0 inet static</a:t>
            </a:r>
          </a:p>
          <a:p>
            <a:r>
              <a:rPr lang="id-ID" sz="1200" b="0" i="0" kern="1200" dirty="0" smtClean="0">
                <a:solidFill>
                  <a:schemeClr val="tx1"/>
                </a:solidFill>
                <a:effectLst/>
                <a:latin typeface="+mn-lt"/>
                <a:ea typeface="+mn-ea"/>
                <a:cs typeface="+mn-cs"/>
              </a:rPr>
              <a:t>     address 192.168.10.1</a:t>
            </a:r>
          </a:p>
          <a:p>
            <a:r>
              <a:rPr lang="id-ID" sz="1200" b="0" i="0" kern="1200" dirty="0" smtClean="0">
                <a:solidFill>
                  <a:schemeClr val="tx1"/>
                </a:solidFill>
                <a:effectLst/>
                <a:latin typeface="+mn-lt"/>
                <a:ea typeface="+mn-ea"/>
                <a:cs typeface="+mn-cs"/>
              </a:rPr>
              <a:t>     netmask 255.255.255.0</a:t>
            </a:r>
          </a:p>
          <a:p>
            <a:r>
              <a:rPr lang="id-ID" sz="1200" b="0" i="0" kern="1200" dirty="0" smtClean="0">
                <a:solidFill>
                  <a:schemeClr val="tx1"/>
                </a:solidFill>
                <a:effectLst/>
                <a:latin typeface="+mn-lt"/>
                <a:ea typeface="+mn-ea"/>
                <a:cs typeface="+mn-cs"/>
              </a:rPr>
              <a:t>     network 192.168.10.0</a:t>
            </a:r>
          </a:p>
          <a:p>
            <a:r>
              <a:rPr lang="id-ID" sz="1200" b="0" i="0" kern="1200" dirty="0" smtClean="0">
                <a:solidFill>
                  <a:schemeClr val="tx1"/>
                </a:solidFill>
                <a:effectLst/>
                <a:latin typeface="+mn-lt"/>
                <a:ea typeface="+mn-ea"/>
                <a:cs typeface="+mn-cs"/>
              </a:rPr>
              <a:t>     broadcast 192.168.10.255</a:t>
            </a:r>
          </a:p>
          <a:p>
            <a:r>
              <a:rPr lang="id-ID" sz="1200" b="0" i="0" kern="1200" dirty="0" smtClean="0">
                <a:solidFill>
                  <a:schemeClr val="tx1"/>
                </a:solidFill>
                <a:effectLst/>
                <a:latin typeface="+mn-lt"/>
                <a:ea typeface="+mn-ea"/>
                <a:cs typeface="+mn-cs"/>
              </a:rPr>
              <a:t>Simpan hasil konfigurasi, kemudian restart networking:</a:t>
            </a:r>
          </a:p>
          <a:p>
            <a:r>
              <a:rPr lang="id-ID" sz="1200" b="0" i="0" kern="1200" dirty="0" smtClean="0">
                <a:solidFill>
                  <a:schemeClr val="tx1"/>
                </a:solidFill>
                <a:effectLst/>
                <a:latin typeface="+mn-lt"/>
                <a:ea typeface="+mn-ea"/>
                <a:cs typeface="+mn-cs"/>
              </a:rPr>
              <a:t>#/etc/init.d/networking restart</a:t>
            </a:r>
          </a:p>
          <a:p>
            <a:r>
              <a:rPr lang="id-ID" sz="1200" b="0" i="0" kern="1200" dirty="0" smtClean="0">
                <a:solidFill>
                  <a:schemeClr val="tx1"/>
                </a:solidFill>
                <a:effectLst/>
                <a:latin typeface="+mn-lt"/>
                <a:ea typeface="+mn-ea"/>
                <a:cs typeface="+mn-cs"/>
              </a:rPr>
              <a:t>Lakukan konfigurasi untuk menentukan kartu jaringan (LAN Card yang akan digunakan sebagai interfaces DHCP), misalnya kita gunakan eth0. Hal ini bisa kita lakukan dengan mengedit file /etc/default/dhcp3-server : </a:t>
            </a:r>
          </a:p>
          <a:p>
            <a:r>
              <a:rPr lang="id-ID" sz="1200" b="0" i="0" kern="1200" dirty="0" smtClean="0">
                <a:solidFill>
                  <a:schemeClr val="tx1"/>
                </a:solidFill>
                <a:effectLst/>
                <a:latin typeface="+mn-lt"/>
                <a:ea typeface="+mn-ea"/>
                <a:cs typeface="+mn-cs"/>
              </a:rPr>
              <a:t>#vim /etc/default/dhcp3-server</a:t>
            </a:r>
          </a:p>
          <a:p>
            <a:r>
              <a:rPr lang="id-ID" sz="1200" b="0" i="0" kern="1200" dirty="0" smtClean="0">
                <a:solidFill>
                  <a:schemeClr val="tx1"/>
                </a:solidFill>
                <a:effectLst/>
                <a:latin typeface="+mn-lt"/>
                <a:ea typeface="+mn-ea"/>
                <a:cs typeface="+mn-cs"/>
              </a:rPr>
              <a:t>Pada option INTERFACES, isi dengan device yang akan digunakan untuk interface DHCP, misalnya kita gunakan eth0, maka bentuk konfigurasinya sebagai berikut :</a:t>
            </a:r>
          </a:p>
          <a:p>
            <a:r>
              <a:rPr lang="id-ID" sz="1200" b="0" i="0" kern="1200" dirty="0" smtClean="0">
                <a:solidFill>
                  <a:schemeClr val="tx1"/>
                </a:solidFill>
                <a:effectLst/>
                <a:latin typeface="+mn-lt"/>
                <a:ea typeface="+mn-ea"/>
                <a:cs typeface="+mn-cs"/>
              </a:rPr>
              <a:t>INTERFACES=”eth0”</a:t>
            </a:r>
          </a:p>
          <a:p>
            <a:r>
              <a:rPr lang="id-ID" sz="1200" b="0" i="0" kern="1200" dirty="0" smtClean="0">
                <a:solidFill>
                  <a:schemeClr val="tx1"/>
                </a:solidFill>
                <a:effectLst/>
                <a:latin typeface="+mn-lt"/>
                <a:ea typeface="+mn-ea"/>
                <a:cs typeface="+mn-cs"/>
              </a:rPr>
              <a:t>Simpan konfigurasi</a:t>
            </a:r>
          </a:p>
          <a:p>
            <a:r>
              <a:rPr lang="id-ID" sz="1200" b="0" i="0" kern="1200" dirty="0" smtClean="0">
                <a:solidFill>
                  <a:schemeClr val="tx1"/>
                </a:solidFill>
                <a:effectLst/>
                <a:latin typeface="+mn-lt"/>
                <a:ea typeface="+mn-ea"/>
                <a:cs typeface="+mn-cs"/>
              </a:rPr>
              <a:t>7.    Lakukan konfigurasi untuk menyediakan alokasi IP Address yang akan disewakan ke Client. Hal ini kita bisa lakukan dengan mengedit file /etc/dhcp3/dhcpd.conf</a:t>
            </a:r>
          </a:p>
          <a:p>
            <a:r>
              <a:rPr lang="id-ID" sz="1200" b="0" i="0" kern="1200" dirty="0" smtClean="0">
                <a:solidFill>
                  <a:schemeClr val="tx1"/>
                </a:solidFill>
                <a:effectLst/>
                <a:latin typeface="+mn-lt"/>
                <a:ea typeface="+mn-ea"/>
                <a:cs typeface="+mn-cs"/>
              </a:rPr>
              <a:t>#vim /etc/dhcp3/dhcpd.conf </a:t>
            </a:r>
          </a:p>
          <a:p>
            <a:r>
              <a:rPr lang="id-ID" sz="1200" b="0" i="0" kern="1200" dirty="0" smtClean="0">
                <a:solidFill>
                  <a:schemeClr val="tx1"/>
                </a:solidFill>
                <a:effectLst/>
                <a:latin typeface="+mn-lt"/>
                <a:ea typeface="+mn-ea"/>
                <a:cs typeface="+mn-cs"/>
              </a:rPr>
              <a:t>Cari baris berikut :</a:t>
            </a:r>
          </a:p>
          <a:p>
            <a:r>
              <a:rPr lang="id-ID" sz="1200" b="0" i="0" kern="1200" dirty="0" smtClean="0">
                <a:solidFill>
                  <a:schemeClr val="tx1"/>
                </a:solidFill>
                <a:effectLst/>
                <a:latin typeface="+mn-lt"/>
                <a:ea typeface="+mn-ea"/>
                <a:cs typeface="+mn-cs"/>
              </a:rPr>
              <a:t># A slightly different configuration for an internal subnet.</a:t>
            </a:r>
          </a:p>
          <a:p>
            <a:r>
              <a:rPr lang="id-ID" sz="1200" b="0" i="0" kern="1200" dirty="0" smtClean="0">
                <a:solidFill>
                  <a:schemeClr val="tx1"/>
                </a:solidFill>
                <a:effectLst/>
                <a:latin typeface="+mn-lt"/>
                <a:ea typeface="+mn-ea"/>
                <a:cs typeface="+mn-cs"/>
              </a:rPr>
              <a:t>#subnet 10.5.5.0 netmask 255.255.255.224 {</a:t>
            </a:r>
          </a:p>
          <a:p>
            <a:r>
              <a:rPr lang="id-ID" sz="1200" b="0" i="0" kern="1200" dirty="0" smtClean="0">
                <a:solidFill>
                  <a:schemeClr val="tx1"/>
                </a:solidFill>
                <a:effectLst/>
                <a:latin typeface="+mn-lt"/>
                <a:ea typeface="+mn-ea"/>
                <a:cs typeface="+mn-cs"/>
              </a:rPr>
              <a:t>#  range 10.5.5.26 10.5.5.30;</a:t>
            </a:r>
          </a:p>
          <a:p>
            <a:r>
              <a:rPr lang="id-ID" sz="1200" b="0" i="0" kern="1200" dirty="0" smtClean="0">
                <a:solidFill>
                  <a:schemeClr val="tx1"/>
                </a:solidFill>
                <a:effectLst/>
                <a:latin typeface="+mn-lt"/>
                <a:ea typeface="+mn-ea"/>
                <a:cs typeface="+mn-cs"/>
              </a:rPr>
              <a:t>#  option domain-name-servers ns1.internal.example.org;</a:t>
            </a:r>
          </a:p>
          <a:p>
            <a:r>
              <a:rPr lang="id-ID" sz="1200" b="0" i="0" kern="1200" dirty="0" smtClean="0">
                <a:solidFill>
                  <a:schemeClr val="tx1"/>
                </a:solidFill>
                <a:effectLst/>
                <a:latin typeface="+mn-lt"/>
                <a:ea typeface="+mn-ea"/>
                <a:cs typeface="+mn-cs"/>
              </a:rPr>
              <a:t>#  option domain-name “internal.example.org”;</a:t>
            </a:r>
          </a:p>
          <a:p>
            <a:r>
              <a:rPr lang="id-ID" sz="1200" b="0" i="0" kern="1200" dirty="0" smtClean="0">
                <a:solidFill>
                  <a:schemeClr val="tx1"/>
                </a:solidFill>
                <a:effectLst/>
                <a:latin typeface="+mn-lt"/>
                <a:ea typeface="+mn-ea"/>
                <a:cs typeface="+mn-cs"/>
              </a:rPr>
              <a:t>#  option routers 10.5.5.1;</a:t>
            </a:r>
          </a:p>
          <a:p>
            <a:r>
              <a:rPr lang="id-ID" sz="1200" b="0" i="0" kern="1200" dirty="0" smtClean="0">
                <a:solidFill>
                  <a:schemeClr val="tx1"/>
                </a:solidFill>
                <a:effectLst/>
                <a:latin typeface="+mn-lt"/>
                <a:ea typeface="+mn-ea"/>
                <a:cs typeface="+mn-cs"/>
              </a:rPr>
              <a:t>#  option broadcast-address 10.5.5.31;</a:t>
            </a:r>
          </a:p>
          <a:p>
            <a:r>
              <a:rPr lang="id-ID" sz="1200" b="0" i="0" kern="1200" dirty="0" smtClean="0">
                <a:solidFill>
                  <a:schemeClr val="tx1"/>
                </a:solidFill>
                <a:effectLst/>
                <a:latin typeface="+mn-lt"/>
                <a:ea typeface="+mn-ea"/>
                <a:cs typeface="+mn-cs"/>
              </a:rPr>
              <a:t>#  default-lease-time 600;</a:t>
            </a:r>
          </a:p>
          <a:p>
            <a:r>
              <a:rPr lang="id-ID" sz="1200" b="0" i="0" kern="1200" dirty="0" smtClean="0">
                <a:solidFill>
                  <a:schemeClr val="tx1"/>
                </a:solidFill>
                <a:effectLst/>
                <a:latin typeface="+mn-lt"/>
                <a:ea typeface="+mn-ea"/>
                <a:cs typeface="+mn-cs"/>
              </a:rPr>
              <a:t>#  max-lease-time 7200;</a:t>
            </a:r>
          </a:p>
          <a:p>
            <a:r>
              <a:rPr lang="id-ID" sz="1200" b="0" i="0" kern="1200" dirty="0" smtClean="0">
                <a:solidFill>
                  <a:schemeClr val="tx1"/>
                </a:solidFill>
                <a:effectLst/>
                <a:latin typeface="+mn-lt"/>
                <a:ea typeface="+mn-ea"/>
                <a:cs typeface="+mn-cs"/>
              </a:rPr>
              <a:t>#}</a:t>
            </a:r>
          </a:p>
          <a:p>
            <a:r>
              <a:rPr lang="id-ID" sz="1200" b="0" i="0" kern="1200" dirty="0" smtClean="0">
                <a:solidFill>
                  <a:schemeClr val="tx1"/>
                </a:solidFill>
                <a:effectLst/>
                <a:latin typeface="+mn-lt"/>
                <a:ea typeface="+mn-ea"/>
                <a:cs typeface="+mn-cs"/>
              </a:rPr>
              <a:t>Hapus tanda “#” pada beberapa option yang akan kita gunakan, kemudian isi dengan parameter sesuai dengan konfigurasi DHCP yang akan dibuat. Misalnya subnet yang kita gunakan adalah 192.168.10.0/24, kemudian kita akan menyewakan IP Address kepada client sebanyak 50 IP dari subnet yang ada, yaitu mulai dari 192.168.10.201 sampai 192.168.10.250, maka konfigurasinya sebagai berikut :</a:t>
            </a:r>
          </a:p>
          <a:p>
            <a:r>
              <a:rPr lang="id-ID" sz="1200" b="0" i="0" kern="1200" dirty="0" smtClean="0">
                <a:solidFill>
                  <a:schemeClr val="tx1"/>
                </a:solidFill>
                <a:effectLst/>
                <a:latin typeface="+mn-lt"/>
                <a:ea typeface="+mn-ea"/>
                <a:cs typeface="+mn-cs"/>
              </a:rPr>
              <a:t># A slightly different configuration for an internal subnet.</a:t>
            </a:r>
          </a:p>
          <a:p>
            <a:r>
              <a:rPr lang="id-ID" sz="1200" b="0" i="0" kern="1200" dirty="0" smtClean="0">
                <a:solidFill>
                  <a:schemeClr val="tx1"/>
                </a:solidFill>
                <a:effectLst/>
                <a:latin typeface="+mn-lt"/>
                <a:ea typeface="+mn-ea"/>
                <a:cs typeface="+mn-cs"/>
              </a:rPr>
              <a:t>  subnet 192.168.10.0 netmask 255.255.255.0 {</a:t>
            </a:r>
          </a:p>
          <a:p>
            <a:r>
              <a:rPr lang="id-ID" sz="1200" b="0" i="0" kern="1200" dirty="0" smtClean="0">
                <a:solidFill>
                  <a:schemeClr val="tx1"/>
                </a:solidFill>
                <a:effectLst/>
                <a:latin typeface="+mn-lt"/>
                <a:ea typeface="+mn-ea"/>
                <a:cs typeface="+mn-cs"/>
              </a:rPr>
              <a:t>  range 192.168.10.201 192.168.10.250;</a:t>
            </a:r>
          </a:p>
          <a:p>
            <a:r>
              <a:rPr lang="id-ID" sz="1200" b="0" i="0" kern="1200" dirty="0" smtClean="0">
                <a:solidFill>
                  <a:schemeClr val="tx1"/>
                </a:solidFill>
                <a:effectLst/>
                <a:latin typeface="+mn-lt"/>
                <a:ea typeface="+mn-ea"/>
                <a:cs typeface="+mn-cs"/>
              </a:rPr>
              <a:t>#  option domain-name-servers ns1.internal.example.org;</a:t>
            </a:r>
          </a:p>
          <a:p>
            <a:r>
              <a:rPr lang="id-ID" sz="1200" b="0" i="0" kern="1200" dirty="0" smtClean="0">
                <a:solidFill>
                  <a:schemeClr val="tx1"/>
                </a:solidFill>
                <a:effectLst/>
                <a:latin typeface="+mn-lt"/>
                <a:ea typeface="+mn-ea"/>
                <a:cs typeface="+mn-cs"/>
              </a:rPr>
              <a:t>#  option domain-name “internal.example.org”;</a:t>
            </a:r>
          </a:p>
          <a:p>
            <a:r>
              <a:rPr lang="id-ID" sz="1200" b="0" i="0" kern="1200" dirty="0" smtClean="0">
                <a:solidFill>
                  <a:schemeClr val="tx1"/>
                </a:solidFill>
                <a:effectLst/>
                <a:latin typeface="+mn-lt"/>
                <a:ea typeface="+mn-ea"/>
                <a:cs typeface="+mn-cs"/>
              </a:rPr>
              <a:t>  option routers 192.168.10.1;</a:t>
            </a:r>
          </a:p>
          <a:p>
            <a:r>
              <a:rPr lang="id-ID" sz="1200" b="0" i="0" kern="1200" dirty="0" smtClean="0">
                <a:solidFill>
                  <a:schemeClr val="tx1"/>
                </a:solidFill>
                <a:effectLst/>
                <a:latin typeface="+mn-lt"/>
                <a:ea typeface="+mn-ea"/>
                <a:cs typeface="+mn-cs"/>
              </a:rPr>
              <a:t>  option broadcast-address 192.168.10.255;</a:t>
            </a:r>
          </a:p>
          <a:p>
            <a:r>
              <a:rPr lang="id-ID" sz="1200" b="0" i="0" kern="1200" dirty="0" smtClean="0">
                <a:solidFill>
                  <a:schemeClr val="tx1"/>
                </a:solidFill>
                <a:effectLst/>
                <a:latin typeface="+mn-lt"/>
                <a:ea typeface="+mn-ea"/>
                <a:cs typeface="+mn-cs"/>
              </a:rPr>
              <a:t>  default-lease-time 600;</a:t>
            </a:r>
          </a:p>
          <a:p>
            <a:r>
              <a:rPr lang="id-ID" sz="1200" b="0" i="0" kern="1200" dirty="0" smtClean="0">
                <a:solidFill>
                  <a:schemeClr val="tx1"/>
                </a:solidFill>
                <a:effectLst/>
                <a:latin typeface="+mn-lt"/>
                <a:ea typeface="+mn-ea"/>
                <a:cs typeface="+mn-cs"/>
              </a:rPr>
              <a:t>  max-lease-time 7200;</a:t>
            </a:r>
          </a:p>
          <a:p>
            <a:r>
              <a:rPr lang="id-ID" sz="1200" b="0" i="0" kern="1200" dirty="0" smtClean="0">
                <a:solidFill>
                  <a:schemeClr val="tx1"/>
                </a:solidFill>
                <a:effectLst/>
                <a:latin typeface="+mn-lt"/>
                <a:ea typeface="+mn-ea"/>
                <a:cs typeface="+mn-cs"/>
              </a:rPr>
              <a:t>}</a:t>
            </a:r>
          </a:p>
          <a:p>
            <a:r>
              <a:rPr lang="id-ID" sz="1200" b="0" i="0" kern="1200" dirty="0" smtClean="0">
                <a:solidFill>
                  <a:schemeClr val="tx1"/>
                </a:solidFill>
                <a:effectLst/>
                <a:latin typeface="+mn-lt"/>
                <a:ea typeface="+mn-ea"/>
                <a:cs typeface="+mn-cs"/>
              </a:rPr>
              <a:t>Simpan konfigurasi</a:t>
            </a:r>
          </a:p>
          <a:p>
            <a:r>
              <a:rPr lang="id-ID" sz="1200" b="0" i="0" kern="1200" dirty="0" smtClean="0">
                <a:solidFill>
                  <a:schemeClr val="tx1"/>
                </a:solidFill>
                <a:effectLst/>
                <a:latin typeface="+mn-lt"/>
                <a:ea typeface="+mn-ea"/>
                <a:cs typeface="+mn-cs"/>
              </a:rPr>
              <a:t>8.     Restart paket dhcp3-server :</a:t>
            </a:r>
          </a:p>
          <a:p>
            <a:r>
              <a:rPr lang="id-ID" sz="1200" b="0" i="0" kern="1200" dirty="0" smtClean="0">
                <a:solidFill>
                  <a:schemeClr val="tx1"/>
                </a:solidFill>
                <a:effectLst/>
                <a:latin typeface="+mn-lt"/>
                <a:ea typeface="+mn-ea"/>
                <a:cs typeface="+mn-cs"/>
              </a:rPr>
              <a:t>#/etc/init.d/dhcp3-server restart </a:t>
            </a:r>
          </a:p>
          <a:p>
            <a:r>
              <a:rPr lang="id-ID" sz="1200" b="0" i="0" kern="1200" dirty="0" smtClean="0">
                <a:solidFill>
                  <a:schemeClr val="tx1"/>
                </a:solidFill>
                <a:effectLst/>
                <a:latin typeface="+mn-lt"/>
                <a:ea typeface="+mn-ea"/>
                <a:cs typeface="+mn-cs"/>
              </a:rPr>
              <a:t>Proses restart terdiri dari 2 tahap, yaitu tahap </a:t>
            </a:r>
            <a:r>
              <a:rPr lang="id-ID" sz="1200" b="0" i="1" kern="1200" dirty="0" smtClean="0">
                <a:solidFill>
                  <a:schemeClr val="tx1"/>
                </a:solidFill>
                <a:effectLst/>
                <a:latin typeface="+mn-lt"/>
                <a:ea typeface="+mn-ea"/>
                <a:cs typeface="+mn-cs"/>
              </a:rPr>
              <a:t>stopping</a:t>
            </a:r>
            <a:r>
              <a:rPr lang="id-ID" sz="1200" b="0" i="0" kern="1200" dirty="0" smtClean="0">
                <a:solidFill>
                  <a:schemeClr val="tx1"/>
                </a:solidFill>
                <a:effectLst/>
                <a:latin typeface="+mn-lt"/>
                <a:ea typeface="+mn-ea"/>
                <a:cs typeface="+mn-cs"/>
              </a:rPr>
              <a:t> dan </a:t>
            </a:r>
            <a:r>
              <a:rPr lang="id-ID" sz="1200" b="0" i="1" kern="1200" dirty="0" smtClean="0">
                <a:solidFill>
                  <a:schemeClr val="tx1"/>
                </a:solidFill>
                <a:effectLst/>
                <a:latin typeface="+mn-lt"/>
                <a:ea typeface="+mn-ea"/>
                <a:cs typeface="+mn-cs"/>
              </a:rPr>
              <a:t>starting</a:t>
            </a:r>
            <a:r>
              <a:rPr lang="id-ID" sz="1200" b="0" i="0" kern="1200" dirty="0" smtClean="0">
                <a:solidFill>
                  <a:schemeClr val="tx1"/>
                </a:solidFill>
                <a:effectLst/>
                <a:latin typeface="+mn-lt"/>
                <a:ea typeface="+mn-ea"/>
                <a:cs typeface="+mn-cs"/>
              </a:rPr>
              <a:t>. Pastikan proses </a:t>
            </a:r>
            <a:r>
              <a:rPr lang="id-ID" sz="1200" b="0" i="1" kern="1200" dirty="0" smtClean="0">
                <a:solidFill>
                  <a:schemeClr val="tx1"/>
                </a:solidFill>
                <a:effectLst/>
                <a:latin typeface="+mn-lt"/>
                <a:ea typeface="+mn-ea"/>
                <a:cs typeface="+mn-cs"/>
              </a:rPr>
              <a:t>starting</a:t>
            </a:r>
            <a:r>
              <a:rPr lang="id-ID" sz="1200" b="0" i="0" kern="1200" dirty="0" smtClean="0">
                <a:solidFill>
                  <a:schemeClr val="tx1"/>
                </a:solidFill>
                <a:effectLst/>
                <a:latin typeface="+mn-lt"/>
                <a:ea typeface="+mn-ea"/>
                <a:cs typeface="+mn-cs"/>
              </a:rPr>
              <a:t> DHCP Server berhasil. (jika proses </a:t>
            </a:r>
            <a:r>
              <a:rPr lang="id-ID" sz="1200" b="0" i="1" kern="1200" dirty="0" smtClean="0">
                <a:solidFill>
                  <a:schemeClr val="tx1"/>
                </a:solidFill>
                <a:effectLst/>
                <a:latin typeface="+mn-lt"/>
                <a:ea typeface="+mn-ea"/>
                <a:cs typeface="+mn-cs"/>
              </a:rPr>
              <a:t>stopping</a:t>
            </a:r>
            <a:r>
              <a:rPr lang="id-ID" sz="1200" b="0" i="0" kern="1200" dirty="0" smtClean="0">
                <a:solidFill>
                  <a:schemeClr val="tx1"/>
                </a:solidFill>
                <a:effectLst/>
                <a:latin typeface="+mn-lt"/>
                <a:ea typeface="+mn-ea"/>
                <a:cs typeface="+mn-cs"/>
              </a:rPr>
              <a:t> “FALIED” tidak masalah, asalkan proses </a:t>
            </a:r>
            <a:r>
              <a:rPr lang="id-ID" sz="1200" b="0" i="1" kern="1200" dirty="0" smtClean="0">
                <a:solidFill>
                  <a:schemeClr val="tx1"/>
                </a:solidFill>
                <a:effectLst/>
                <a:latin typeface="+mn-lt"/>
                <a:ea typeface="+mn-ea"/>
                <a:cs typeface="+mn-cs"/>
              </a:rPr>
              <a:t>starting</a:t>
            </a:r>
            <a:r>
              <a:rPr lang="id-ID" sz="1200" b="0" i="0" kern="1200" dirty="0" smtClean="0">
                <a:solidFill>
                  <a:schemeClr val="tx1"/>
                </a:solidFill>
                <a:effectLst/>
                <a:latin typeface="+mn-lt"/>
                <a:ea typeface="+mn-ea"/>
                <a:cs typeface="+mn-cs"/>
              </a:rPr>
              <a:t> “OK”).</a:t>
            </a:r>
          </a:p>
          <a:p>
            <a:r>
              <a:rPr lang="id-ID" sz="1200" b="0" i="0" kern="1200" dirty="0" smtClean="0">
                <a:solidFill>
                  <a:schemeClr val="tx1"/>
                </a:solidFill>
                <a:effectLst/>
                <a:latin typeface="+mn-lt"/>
                <a:ea typeface="+mn-ea"/>
                <a:cs typeface="+mn-cs"/>
              </a:rPr>
              <a:t>Sampai di sini kita sudah selesai membuat DHCP Server.</a:t>
            </a:r>
          </a:p>
          <a:p>
            <a:r>
              <a:rPr lang="id-ID" sz="1200" b="1" i="0" kern="1200" dirty="0" smtClean="0">
                <a:solidFill>
                  <a:schemeClr val="tx1"/>
                </a:solidFill>
                <a:effectLst/>
                <a:latin typeface="+mn-lt"/>
                <a:ea typeface="+mn-ea"/>
                <a:cs typeface="+mn-cs"/>
              </a:rPr>
              <a:t>B.</a:t>
            </a:r>
            <a:r>
              <a:rPr lang="id-ID" sz="1200" b="0" i="0" kern="1200" dirty="0" smtClean="0">
                <a:solidFill>
                  <a:schemeClr val="tx1"/>
                </a:solidFill>
                <a:effectLst/>
                <a:latin typeface="+mn-lt"/>
                <a:ea typeface="+mn-ea"/>
                <a:cs typeface="+mn-cs"/>
              </a:rPr>
              <a:t>      </a:t>
            </a:r>
            <a:r>
              <a:rPr lang="id-ID" sz="1200" b="1" i="0" kern="1200" dirty="0" smtClean="0">
                <a:solidFill>
                  <a:schemeClr val="tx1"/>
                </a:solidFill>
                <a:effectLst/>
                <a:latin typeface="+mn-lt"/>
                <a:ea typeface="+mn-ea"/>
                <a:cs typeface="+mn-cs"/>
              </a:rPr>
              <a:t>Konfigurasi Client</a:t>
            </a:r>
            <a:endParaRPr lang="id-ID" sz="1200" b="0" i="0" kern="1200" dirty="0" smtClean="0">
              <a:solidFill>
                <a:schemeClr val="tx1"/>
              </a:solidFill>
              <a:effectLst/>
              <a:latin typeface="+mn-lt"/>
              <a:ea typeface="+mn-ea"/>
              <a:cs typeface="+mn-cs"/>
            </a:endParaRPr>
          </a:p>
          <a:p>
            <a:r>
              <a:rPr lang="id-ID" sz="1200" b="0" i="0" kern="1200" dirty="0" smtClean="0">
                <a:solidFill>
                  <a:schemeClr val="tx1"/>
                </a:solidFill>
                <a:effectLst/>
                <a:latin typeface="+mn-lt"/>
                <a:ea typeface="+mn-ea"/>
                <a:cs typeface="+mn-cs"/>
              </a:rPr>
              <a:t>a.       Untuk Client Linux</a:t>
            </a:r>
          </a:p>
          <a:p>
            <a:r>
              <a:rPr lang="id-ID" sz="1200" b="0" i="0" kern="1200" dirty="0" smtClean="0">
                <a:solidFill>
                  <a:schemeClr val="tx1"/>
                </a:solidFill>
                <a:effectLst/>
                <a:latin typeface="+mn-lt"/>
                <a:ea typeface="+mn-ea"/>
                <a:cs typeface="+mn-cs"/>
              </a:rPr>
              <a:t>1.       Login sebagai root</a:t>
            </a:r>
          </a:p>
          <a:p>
            <a:r>
              <a:rPr lang="id-ID" sz="1200" b="0" i="0" kern="1200" dirty="0" smtClean="0">
                <a:solidFill>
                  <a:schemeClr val="tx1"/>
                </a:solidFill>
                <a:effectLst/>
                <a:latin typeface="+mn-lt"/>
                <a:ea typeface="+mn-ea"/>
                <a:cs typeface="+mn-cs"/>
              </a:rPr>
              <a:t>2.       Lakukan Konfigurasi networking sebagai berikut :</a:t>
            </a:r>
          </a:p>
          <a:p>
            <a:r>
              <a:rPr lang="id-ID" sz="1200" b="0" i="0" kern="1200" dirty="0" smtClean="0">
                <a:solidFill>
                  <a:schemeClr val="tx1"/>
                </a:solidFill>
                <a:effectLst/>
                <a:latin typeface="+mn-lt"/>
                <a:ea typeface="+mn-ea"/>
                <a:cs typeface="+mn-cs"/>
              </a:rPr>
              <a:t>#vim /etc/network/interfaces</a:t>
            </a:r>
          </a:p>
          <a:p>
            <a:r>
              <a:rPr lang="id-ID" sz="1200" b="0" i="0" kern="1200" dirty="0" smtClean="0">
                <a:solidFill>
                  <a:schemeClr val="tx1"/>
                </a:solidFill>
                <a:effectLst/>
                <a:latin typeface="+mn-lt"/>
                <a:ea typeface="+mn-ea"/>
                <a:cs typeface="+mn-cs"/>
              </a:rPr>
              <a:t>Edit konfigurasi networking :</a:t>
            </a:r>
          </a:p>
          <a:p>
            <a:r>
              <a:rPr lang="id-ID" sz="1200" b="0" i="0" kern="1200" dirty="0" smtClean="0">
                <a:solidFill>
                  <a:schemeClr val="tx1"/>
                </a:solidFill>
                <a:effectLst/>
                <a:latin typeface="+mn-lt"/>
                <a:ea typeface="+mn-ea"/>
                <a:cs typeface="+mn-cs"/>
              </a:rPr>
              <a:t>auto lo</a:t>
            </a:r>
          </a:p>
          <a:p>
            <a:r>
              <a:rPr lang="id-ID" sz="1200" b="0" i="0" kern="1200" dirty="0" smtClean="0">
                <a:solidFill>
                  <a:schemeClr val="tx1"/>
                </a:solidFill>
                <a:effectLst/>
                <a:latin typeface="+mn-lt"/>
                <a:ea typeface="+mn-ea"/>
                <a:cs typeface="+mn-cs"/>
              </a:rPr>
              <a:t>iface lo inet loopback</a:t>
            </a:r>
          </a:p>
          <a:p>
            <a:r>
              <a:rPr lang="id-ID" sz="1200" b="0" i="0" kern="1200" dirty="0" smtClean="0">
                <a:solidFill>
                  <a:schemeClr val="tx1"/>
                </a:solidFill>
                <a:effectLst/>
                <a:latin typeface="+mn-lt"/>
                <a:ea typeface="+mn-ea"/>
                <a:cs typeface="+mn-cs"/>
              </a:rPr>
              <a:t>auto eth0</a:t>
            </a:r>
          </a:p>
          <a:p>
            <a:r>
              <a:rPr lang="id-ID" sz="1200" b="0" i="0" kern="1200" dirty="0" smtClean="0">
                <a:solidFill>
                  <a:schemeClr val="tx1"/>
                </a:solidFill>
                <a:effectLst/>
                <a:latin typeface="+mn-lt"/>
                <a:ea typeface="+mn-ea"/>
                <a:cs typeface="+mn-cs"/>
              </a:rPr>
              <a:t>iface eth0 inet dhcp </a:t>
            </a:r>
          </a:p>
          <a:p>
            <a:r>
              <a:rPr lang="id-ID" sz="1200" b="0" i="0" kern="1200" dirty="0" smtClean="0">
                <a:solidFill>
                  <a:schemeClr val="tx1"/>
                </a:solidFill>
                <a:effectLst/>
                <a:latin typeface="+mn-lt"/>
                <a:ea typeface="+mn-ea"/>
                <a:cs typeface="+mn-cs"/>
              </a:rPr>
              <a:t>Simpan hasil konfigurasi, kemudian restart networking:</a:t>
            </a:r>
          </a:p>
          <a:p>
            <a:r>
              <a:rPr lang="id-ID" sz="1200" b="0" i="0" kern="1200" dirty="0" smtClean="0">
                <a:solidFill>
                  <a:schemeClr val="tx1"/>
                </a:solidFill>
                <a:effectLst/>
                <a:latin typeface="+mn-lt"/>
                <a:ea typeface="+mn-ea"/>
                <a:cs typeface="+mn-cs"/>
              </a:rPr>
              <a:t>#/etc/init.d/networking restart</a:t>
            </a:r>
          </a:p>
          <a:p>
            <a:r>
              <a:rPr lang="id-ID" sz="1200" b="0" i="0" kern="1200" dirty="0" smtClean="0">
                <a:solidFill>
                  <a:schemeClr val="tx1"/>
                </a:solidFill>
                <a:effectLst/>
                <a:latin typeface="+mn-lt"/>
                <a:ea typeface="+mn-ea"/>
                <a:cs typeface="+mn-cs"/>
              </a:rPr>
              <a:t>3.       Cek IP Address yang diperoleh</a:t>
            </a:r>
          </a:p>
          <a:p>
            <a:r>
              <a:rPr lang="id-ID" sz="1200" b="0" i="0" kern="1200" dirty="0" smtClean="0">
                <a:solidFill>
                  <a:schemeClr val="tx1"/>
                </a:solidFill>
                <a:effectLst/>
                <a:latin typeface="+mn-lt"/>
                <a:ea typeface="+mn-ea"/>
                <a:cs typeface="+mn-cs"/>
              </a:rPr>
              <a:t>#ifconfig</a:t>
            </a:r>
          </a:p>
          <a:p>
            <a:r>
              <a:rPr lang="id-ID" sz="1200" b="0" i="0" kern="1200" dirty="0" smtClean="0">
                <a:solidFill>
                  <a:schemeClr val="tx1"/>
                </a:solidFill>
                <a:effectLst/>
                <a:latin typeface="+mn-lt"/>
                <a:ea typeface="+mn-ea"/>
                <a:cs typeface="+mn-cs"/>
              </a:rPr>
              <a:t>4.       Lakukan pengecekan koneksi ke DHCP Server dan ke client lain</a:t>
            </a:r>
          </a:p>
          <a:p>
            <a:r>
              <a:rPr lang="id-ID" sz="1200" b="0" i="0" kern="1200" dirty="0" smtClean="0">
                <a:solidFill>
                  <a:schemeClr val="tx1"/>
                </a:solidFill>
                <a:effectLst/>
                <a:latin typeface="+mn-lt"/>
                <a:ea typeface="+mn-ea"/>
                <a:cs typeface="+mn-cs"/>
              </a:rPr>
              <a:t>#ping 192.168.10.1</a:t>
            </a:r>
          </a:p>
          <a:p>
            <a:r>
              <a:rPr lang="id-ID" sz="1200" b="0" i="0" kern="1200" dirty="0" smtClean="0">
                <a:solidFill>
                  <a:schemeClr val="tx1"/>
                </a:solidFill>
                <a:effectLst/>
                <a:latin typeface="+mn-lt"/>
                <a:ea typeface="+mn-ea"/>
                <a:cs typeface="+mn-cs"/>
              </a:rPr>
              <a:t>b.      Untuk Client Windows</a:t>
            </a:r>
          </a:p>
          <a:p>
            <a:r>
              <a:rPr lang="id-ID" sz="1200" b="0" i="0" kern="1200" dirty="0" smtClean="0">
                <a:solidFill>
                  <a:schemeClr val="tx1"/>
                </a:solidFill>
                <a:effectLst/>
                <a:latin typeface="+mn-lt"/>
                <a:ea typeface="+mn-ea"/>
                <a:cs typeface="+mn-cs"/>
              </a:rPr>
              <a:t>1.       Lakukan konfigurasi IP Addres dengan cara memilih  “Obtain an IP address automatically” dan “Obtain DNS server automatically”</a:t>
            </a:r>
          </a:p>
          <a:p>
            <a:r>
              <a:rPr lang="id-ID" sz="1200" b="0" i="0" kern="1200" dirty="0" smtClean="0">
                <a:solidFill>
                  <a:schemeClr val="tx1"/>
                </a:solidFill>
                <a:effectLst/>
                <a:latin typeface="+mn-lt"/>
                <a:ea typeface="+mn-ea"/>
                <a:cs typeface="+mn-cs"/>
              </a:rPr>
              <a:t>2.       Buka command prompt dan periksa IP Address yang diperoleh</a:t>
            </a:r>
          </a:p>
          <a:p>
            <a:r>
              <a:rPr lang="id-ID" sz="1200" b="0" i="0" kern="1200" dirty="0" smtClean="0">
                <a:solidFill>
                  <a:schemeClr val="tx1"/>
                </a:solidFill>
                <a:effectLst/>
                <a:latin typeface="+mn-lt"/>
                <a:ea typeface="+mn-ea"/>
                <a:cs typeface="+mn-cs"/>
              </a:rPr>
              <a:t>#ipconfig</a:t>
            </a:r>
          </a:p>
          <a:p>
            <a:r>
              <a:rPr lang="id-ID" sz="1200" b="0" i="0" kern="1200" dirty="0" smtClean="0">
                <a:solidFill>
                  <a:schemeClr val="tx1"/>
                </a:solidFill>
                <a:effectLst/>
                <a:latin typeface="+mn-lt"/>
                <a:ea typeface="+mn-ea"/>
                <a:cs typeface="+mn-cs"/>
              </a:rPr>
              <a:t>3.       Lakukan pengecekan koneksi ke DHCP Server dan ke client lain</a:t>
            </a:r>
          </a:p>
          <a:p>
            <a:r>
              <a:rPr lang="id-ID" sz="1200" b="0" i="0" kern="1200" dirty="0" smtClean="0">
                <a:solidFill>
                  <a:schemeClr val="tx1"/>
                </a:solidFill>
                <a:effectLst/>
                <a:latin typeface="+mn-lt"/>
                <a:ea typeface="+mn-ea"/>
                <a:cs typeface="+mn-cs"/>
              </a:rPr>
              <a:t>#ping 192.168.10.1</a:t>
            </a:r>
          </a:p>
          <a:p>
            <a:endParaRPr lang="en-US" dirty="0"/>
          </a:p>
        </p:txBody>
      </p:sp>
      <p:sp>
        <p:nvSpPr>
          <p:cNvPr id="4" name="Slide Number Placeholder 3"/>
          <p:cNvSpPr>
            <a:spLocks noGrp="1"/>
          </p:cNvSpPr>
          <p:nvPr>
            <p:ph type="sldNum" sz="quarter" idx="10"/>
          </p:nvPr>
        </p:nvSpPr>
        <p:spPr/>
        <p:txBody>
          <a:bodyPr/>
          <a:lstStyle/>
          <a:p>
            <a:fld id="{F71A1DE6-A801-4746-9FC0-8352D20A3103}" type="slidenum">
              <a:rPr lang="en-US" smtClean="0"/>
              <a:t>2</a:t>
            </a:fld>
            <a:endParaRPr lang="en-US"/>
          </a:p>
        </p:txBody>
      </p:sp>
    </p:spTree>
    <p:extLst>
      <p:ext uri="{BB962C8B-B14F-4D97-AF65-F5344CB8AC3E}">
        <p14:creationId xmlns:p14="http://schemas.microsoft.com/office/powerpoint/2010/main" val="39751399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sz="1200" b="0" i="0" kern="1200" dirty="0" smtClean="0">
                <a:solidFill>
                  <a:schemeClr val="tx1"/>
                </a:solidFill>
                <a:effectLst/>
                <a:latin typeface="+mn-lt"/>
                <a:ea typeface="+mn-ea"/>
                <a:cs typeface="+mn-cs"/>
              </a:rPr>
              <a:t>DHCP (Dynamic Configuration Protocol) adalah layanan yang secara otomatis memberikan nomor IP kepada komputer yang memintanya. Komputer yang memberikan nomor IP disebut sebagai </a:t>
            </a:r>
            <a:r>
              <a:rPr lang="id-ID" sz="1200" b="1" i="1" kern="1200" dirty="0" smtClean="0">
                <a:solidFill>
                  <a:schemeClr val="tx1"/>
                </a:solidFill>
                <a:effectLst/>
                <a:latin typeface="+mn-lt"/>
                <a:ea typeface="+mn-ea"/>
                <a:cs typeface="+mn-cs"/>
              </a:rPr>
              <a:t>DHCP server</a:t>
            </a:r>
            <a:r>
              <a:rPr lang="id-ID" sz="1200" b="0" i="0" kern="1200" dirty="0" smtClean="0">
                <a:solidFill>
                  <a:schemeClr val="tx1"/>
                </a:solidFill>
                <a:effectLst/>
                <a:latin typeface="+mn-lt"/>
                <a:ea typeface="+mn-ea"/>
                <a:cs typeface="+mn-cs"/>
              </a:rPr>
              <a:t>, sedangkan komputer yang meminta nomor IP disebut sebagai DHCP Client. Dengan demikian administrator tidak perlu lagi harus memberikan nomor IP secara manual pada saat konfigurasi TCP/IP, tapi cukup dengan memberikan referensi kepada DHCP Server. </a:t>
            </a:r>
          </a:p>
          <a:p>
            <a:r>
              <a:rPr lang="id-ID" sz="1200" b="0" i="0" kern="1200" dirty="0" smtClean="0">
                <a:solidFill>
                  <a:schemeClr val="tx1"/>
                </a:solidFill>
                <a:effectLst/>
                <a:latin typeface="+mn-lt"/>
                <a:ea typeface="+mn-ea"/>
                <a:cs typeface="+mn-cs"/>
              </a:rPr>
              <a:t>Pada saat kedua DHCP client dihidupkan, maka komputer tersebut melakukan request ke DHCP-Server untuk mendapatkan nomor IP. DHCP menjawab dengan memberikan nomor IP yang ada di database DHCP. Setelah DHCP Server memberikan nomor IP, maka server meminjamkan (lease) nomor IP yang ada ke DHCP-Client dan mencoret nomor IP tersebut dari daftar pool. Nomor IP diberikan bersama dengan subnet mask dan default gateway. Jika tidak ada lagi nomor IP yang dapat diberikan, maka client tidak dapat menginisialisasi TCP/IP, dengan sendirinya tidak dapat tersambung pada jaringan tersebut. Setelah periode waktu tertentu, maka pemakaian DHCP Client tersebut dinyatakan selesai dan client tidak memperbaharui permintaan kembali, maka nomor IP tersebut dikembalikan kepada DHCP Server, dan server dapat memberikan nomor IP tersebut kepada Client yang membutuhkan. Lama periode ini dapat ditentukan dalam menit, jam, bulan atau selamanya. Jangka waktu disebut </a:t>
            </a:r>
            <a:r>
              <a:rPr lang="id-ID" sz="1200" b="0" i="1" kern="1200" dirty="0" smtClean="0">
                <a:solidFill>
                  <a:schemeClr val="tx1"/>
                </a:solidFill>
                <a:effectLst/>
                <a:latin typeface="+mn-lt"/>
                <a:ea typeface="+mn-ea"/>
                <a:cs typeface="+mn-cs"/>
              </a:rPr>
              <a:t>leased period.</a:t>
            </a:r>
            <a:endParaRPr lang="id-ID" sz="1200" b="0" i="0" kern="1200" dirty="0" smtClean="0">
              <a:solidFill>
                <a:schemeClr val="tx1"/>
              </a:solidFill>
              <a:effectLst/>
              <a:latin typeface="+mn-lt"/>
              <a:ea typeface="+mn-ea"/>
              <a:cs typeface="+mn-cs"/>
            </a:endParaRPr>
          </a:p>
          <a:p>
            <a:r>
              <a:rPr lang="id-ID" sz="1200" b="1" i="0" kern="1200" dirty="0" smtClean="0">
                <a:solidFill>
                  <a:schemeClr val="tx1"/>
                </a:solidFill>
                <a:effectLst/>
                <a:latin typeface="+mn-lt"/>
                <a:ea typeface="+mn-ea"/>
                <a:cs typeface="+mn-cs"/>
              </a:rPr>
              <a:t>Cara Kerja DHCP :</a:t>
            </a:r>
            <a:endParaRPr lang="id-ID" sz="1200" b="0" i="0" kern="1200" dirty="0" smtClean="0">
              <a:solidFill>
                <a:schemeClr val="tx1"/>
              </a:solidFill>
              <a:effectLst/>
              <a:latin typeface="+mn-lt"/>
              <a:ea typeface="+mn-ea"/>
              <a:cs typeface="+mn-cs"/>
            </a:endParaRPr>
          </a:p>
          <a:p>
            <a:r>
              <a:rPr lang="id-ID" sz="1200" b="0" i="0" kern="1200" dirty="0" smtClean="0">
                <a:solidFill>
                  <a:schemeClr val="tx1"/>
                </a:solidFill>
                <a:effectLst/>
                <a:latin typeface="+mn-lt"/>
                <a:ea typeface="+mn-ea"/>
                <a:cs typeface="+mn-cs"/>
              </a:rPr>
              <a:t>DHCP menggunakan 4 tahapan proses untuk memberikan konfigurasi nomor IP.  Jika Client punya NIC Card lebih dari satu dan perlu no IP lebih dari 1 maka proses DHCP dijalankan untuk setiap adaptor secara sendiri-sendiri) :</a:t>
            </a:r>
          </a:p>
          <a:p>
            <a:r>
              <a:rPr lang="id-ID" sz="1200" b="0" i="0" kern="1200" dirty="0" smtClean="0">
                <a:solidFill>
                  <a:schemeClr val="tx1"/>
                </a:solidFill>
                <a:effectLst/>
                <a:latin typeface="+mn-lt"/>
                <a:ea typeface="+mn-ea"/>
                <a:cs typeface="+mn-cs"/>
              </a:rPr>
              <a:t>1. DHCPDISCOVER</a:t>
            </a:r>
          </a:p>
          <a:p>
            <a:r>
              <a:rPr lang="id-ID" sz="1200" b="0" i="0" kern="1200" dirty="0" smtClean="0">
                <a:solidFill>
                  <a:schemeClr val="tx1"/>
                </a:solidFill>
                <a:effectLst/>
                <a:latin typeface="+mn-lt"/>
                <a:ea typeface="+mn-ea"/>
                <a:cs typeface="+mn-cs"/>
              </a:rPr>
              <a:t>Client meminta nomor IP ke server (Broadcast mencari DHCP server).</a:t>
            </a:r>
          </a:p>
          <a:p>
            <a:r>
              <a:rPr lang="id-ID" sz="1200" b="0" i="0" kern="1200" dirty="0" smtClean="0">
                <a:solidFill>
                  <a:schemeClr val="tx1"/>
                </a:solidFill>
                <a:effectLst/>
                <a:latin typeface="+mn-lt"/>
                <a:ea typeface="+mn-ea"/>
                <a:cs typeface="+mn-cs"/>
              </a:rPr>
              <a:t>2. DHCPOFFER</a:t>
            </a:r>
          </a:p>
          <a:p>
            <a:r>
              <a:rPr lang="id-ID" sz="1200" b="0" i="0" kern="1200" dirty="0" smtClean="0">
                <a:solidFill>
                  <a:schemeClr val="tx1"/>
                </a:solidFill>
                <a:effectLst/>
                <a:latin typeface="+mn-lt"/>
                <a:ea typeface="+mn-ea"/>
                <a:cs typeface="+mn-cs"/>
              </a:rPr>
              <a:t>DHCP server (bisa satu atau lebih server jika memang ada 2 atau lebih DHCP server) yang mempunyai no IP memberikan penawaran ke client tersebut.</a:t>
            </a:r>
          </a:p>
          <a:p>
            <a:r>
              <a:rPr lang="id-ID" sz="1200" b="0" i="0" kern="1200" dirty="0" smtClean="0">
                <a:solidFill>
                  <a:schemeClr val="tx1"/>
                </a:solidFill>
                <a:effectLst/>
                <a:latin typeface="+mn-lt"/>
                <a:ea typeface="+mn-ea"/>
                <a:cs typeface="+mn-cs"/>
              </a:rPr>
              <a:t>3. DHCPREQUEST</a:t>
            </a:r>
          </a:p>
          <a:p>
            <a:r>
              <a:rPr lang="id-ID" sz="1200" b="0" i="0" kern="1200" dirty="0" smtClean="0">
                <a:solidFill>
                  <a:schemeClr val="tx1"/>
                </a:solidFill>
                <a:effectLst/>
                <a:latin typeface="+mn-lt"/>
                <a:ea typeface="+mn-ea"/>
                <a:cs typeface="+mn-cs"/>
              </a:rPr>
              <a:t>Client memilih penawaran DHCP Server yng pertama diterima dan kembali melakukan broadcast dengan message menyetujui peminjaman tersebut kepada DHCP Server</a:t>
            </a:r>
          </a:p>
          <a:p>
            <a:r>
              <a:rPr lang="id-ID" sz="1200" b="0" i="0" kern="1200" dirty="0" smtClean="0">
                <a:solidFill>
                  <a:schemeClr val="tx1"/>
                </a:solidFill>
                <a:effectLst/>
                <a:latin typeface="+mn-lt"/>
                <a:ea typeface="+mn-ea"/>
                <a:cs typeface="+mn-cs"/>
              </a:rPr>
              <a:t>4. DHCPACK</a:t>
            </a:r>
          </a:p>
          <a:p>
            <a:r>
              <a:rPr lang="id-ID" sz="1200" b="0" i="0" kern="1200" dirty="0" smtClean="0">
                <a:solidFill>
                  <a:schemeClr val="tx1"/>
                </a:solidFill>
                <a:effectLst/>
                <a:latin typeface="+mn-lt"/>
                <a:ea typeface="+mn-ea"/>
                <a:cs typeface="+mn-cs"/>
              </a:rPr>
              <a:t>DHCP Server yang menang memberikan jawaban atas pesan tersebut berupa konfirmasi no IP dan informasi lain kepada Client dengan sebuah ACKnowledgment. Kemudian client melakukan inisialisasi dengan mengikat (binding) nomor IP tersebut dan client dapat bekerja pada jaringan tersebut. Sedangkan DHCP Server yang lain menarik tawarannya kembali.</a:t>
            </a:r>
          </a:p>
          <a:p>
            <a:r>
              <a:rPr lang="id-ID" sz="1200" b="0" i="0" kern="1200" dirty="0" smtClean="0">
                <a:solidFill>
                  <a:schemeClr val="tx1"/>
                </a:solidFill>
                <a:effectLst/>
                <a:latin typeface="+mn-lt"/>
                <a:ea typeface="+mn-ea"/>
                <a:cs typeface="+mn-cs"/>
              </a:rPr>
              <a:t/>
            </a:r>
            <a:br>
              <a:rPr lang="id-ID" sz="1200" b="0" i="0" kern="1200" dirty="0" smtClean="0">
                <a:solidFill>
                  <a:schemeClr val="tx1"/>
                </a:solidFill>
                <a:effectLst/>
                <a:latin typeface="+mn-lt"/>
                <a:ea typeface="+mn-ea"/>
                <a:cs typeface="+mn-cs"/>
              </a:rPr>
            </a:br>
            <a:endParaRPr lang="id-ID" sz="1200" b="0" i="0" kern="1200" dirty="0" smtClean="0">
              <a:solidFill>
                <a:schemeClr val="tx1"/>
              </a:solidFill>
              <a:effectLst/>
              <a:latin typeface="+mn-lt"/>
              <a:ea typeface="+mn-ea"/>
              <a:cs typeface="+mn-cs"/>
            </a:endParaRPr>
          </a:p>
          <a:p>
            <a:r>
              <a:rPr lang="id-ID" sz="1200" b="0" i="0" kern="1200" dirty="0" smtClean="0">
                <a:solidFill>
                  <a:schemeClr val="tx1"/>
                </a:solidFill>
                <a:effectLst/>
                <a:latin typeface="+mn-lt"/>
                <a:ea typeface="+mn-ea"/>
                <a:cs typeface="+mn-cs"/>
              </a:rPr>
              <a:t>Langkah Konfigurasi DHCP Server di Linux dengan distro Debian dan turunannya:</a:t>
            </a:r>
          </a:p>
          <a:p>
            <a:r>
              <a:rPr lang="id-ID" sz="1200" b="1" i="0" kern="1200" dirty="0" smtClean="0">
                <a:solidFill>
                  <a:schemeClr val="tx1"/>
                </a:solidFill>
                <a:effectLst/>
                <a:latin typeface="+mn-lt"/>
                <a:ea typeface="+mn-ea"/>
                <a:cs typeface="+mn-cs"/>
              </a:rPr>
              <a:t>A.</a:t>
            </a:r>
            <a:r>
              <a:rPr lang="id-ID" sz="1200" b="0" i="0" kern="1200" dirty="0" smtClean="0">
                <a:solidFill>
                  <a:schemeClr val="tx1"/>
                </a:solidFill>
                <a:effectLst/>
                <a:latin typeface="+mn-lt"/>
                <a:ea typeface="+mn-ea"/>
                <a:cs typeface="+mn-cs"/>
              </a:rPr>
              <a:t>      </a:t>
            </a:r>
            <a:r>
              <a:rPr lang="id-ID" sz="1200" b="1" i="0" kern="1200" dirty="0" smtClean="0">
                <a:solidFill>
                  <a:schemeClr val="tx1"/>
                </a:solidFill>
                <a:effectLst/>
                <a:latin typeface="+mn-lt"/>
                <a:ea typeface="+mn-ea"/>
                <a:cs typeface="+mn-cs"/>
              </a:rPr>
              <a:t>Konfigurasi Server</a:t>
            </a:r>
            <a:endParaRPr lang="id-ID" sz="1200" b="0" i="0" kern="1200" dirty="0" smtClean="0">
              <a:solidFill>
                <a:schemeClr val="tx1"/>
              </a:solidFill>
              <a:effectLst/>
              <a:latin typeface="+mn-lt"/>
              <a:ea typeface="+mn-ea"/>
              <a:cs typeface="+mn-cs"/>
            </a:endParaRPr>
          </a:p>
          <a:p>
            <a:r>
              <a:rPr lang="id-ID" sz="1200" b="0" i="0" kern="1200" dirty="0" smtClean="0">
                <a:solidFill>
                  <a:schemeClr val="tx1"/>
                </a:solidFill>
                <a:effectLst/>
                <a:latin typeface="+mn-lt"/>
                <a:ea typeface="+mn-ea"/>
                <a:cs typeface="+mn-cs"/>
              </a:rPr>
              <a:t>1.       Login sebagai root</a:t>
            </a:r>
          </a:p>
          <a:p>
            <a:r>
              <a:rPr lang="id-ID" sz="1200" b="0" i="0" kern="1200" dirty="0" smtClean="0">
                <a:solidFill>
                  <a:schemeClr val="tx1"/>
                </a:solidFill>
                <a:effectLst/>
                <a:latin typeface="+mn-lt"/>
                <a:ea typeface="+mn-ea"/>
                <a:cs typeface="+mn-cs"/>
              </a:rPr>
              <a:t>2.       Lakukan pengecekan apakah paket DHCP server sudah terinstall atau belum:</a:t>
            </a:r>
          </a:p>
          <a:p>
            <a:r>
              <a:rPr lang="id-ID" sz="1200" b="0" i="0" kern="1200" dirty="0" smtClean="0">
                <a:solidFill>
                  <a:schemeClr val="tx1"/>
                </a:solidFill>
                <a:effectLst/>
                <a:latin typeface="+mn-lt"/>
                <a:ea typeface="+mn-ea"/>
                <a:cs typeface="+mn-cs"/>
              </a:rPr>
              <a:t>#dpkg –l | grep dhcp</a:t>
            </a:r>
          </a:p>
          <a:p>
            <a:r>
              <a:rPr lang="id-ID" sz="1200" b="0" i="0" kern="1200" dirty="0" smtClean="0">
                <a:solidFill>
                  <a:schemeClr val="tx1"/>
                </a:solidFill>
                <a:effectLst/>
                <a:latin typeface="+mn-lt"/>
                <a:ea typeface="+mn-ea"/>
                <a:cs typeface="+mn-cs"/>
              </a:rPr>
              <a:t>Lihat hasil yang ditampilkan, apakah ada paket DHCP server atau tidak (biasanya nama paket yang digunakan adalah dhcp3-server). Kalau tidak ada berarti paket dhcp3-server belum terinstall, dan kalau paket dhcp3-server sudah ada/tampil berarti sudah terinstall.</a:t>
            </a:r>
          </a:p>
          <a:p>
            <a:r>
              <a:rPr lang="id-ID" sz="1200" b="0" i="0" kern="1200" dirty="0" smtClean="0">
                <a:solidFill>
                  <a:schemeClr val="tx1"/>
                </a:solidFill>
                <a:effectLst/>
                <a:latin typeface="+mn-lt"/>
                <a:ea typeface="+mn-ea"/>
                <a:cs typeface="+mn-cs"/>
              </a:rPr>
              <a:t>Untuk menyeragamkan, agar semuanya menginstall paket dhcp3-server mulai dari awal, maka bagi yang pada komputernya sudah terinstall paket dhcp3-server, lakukan uninstall terlebih dahulu dengan perintah berikut :</a:t>
            </a:r>
          </a:p>
          <a:p>
            <a:r>
              <a:rPr lang="id-ID" sz="1200" b="0" i="0" kern="1200" dirty="0" smtClean="0">
                <a:solidFill>
                  <a:schemeClr val="tx1"/>
                </a:solidFill>
                <a:effectLst/>
                <a:latin typeface="+mn-lt"/>
                <a:ea typeface="+mn-ea"/>
                <a:cs typeface="+mn-cs"/>
              </a:rPr>
              <a:t>#dpkg –P dhcp3-server</a:t>
            </a:r>
          </a:p>
          <a:p>
            <a:r>
              <a:rPr lang="id-ID" sz="1200" b="0" i="0" kern="1200" dirty="0" smtClean="0">
                <a:solidFill>
                  <a:schemeClr val="tx1"/>
                </a:solidFill>
                <a:effectLst/>
                <a:latin typeface="+mn-lt"/>
                <a:ea typeface="+mn-ea"/>
                <a:cs typeface="+mn-cs"/>
              </a:rPr>
              <a:t>Tunggu sampai proses uninstall selesai.</a:t>
            </a:r>
          </a:p>
          <a:p>
            <a:r>
              <a:rPr lang="id-ID" sz="1200" b="0" i="0" kern="1200" dirty="0" smtClean="0">
                <a:solidFill>
                  <a:schemeClr val="tx1"/>
                </a:solidFill>
                <a:effectLst/>
                <a:latin typeface="+mn-lt"/>
                <a:ea typeface="+mn-ea"/>
                <a:cs typeface="+mn-cs"/>
              </a:rPr>
              <a:t>Setelah selesai, cek kembali apakah paket dhcp3-server masih terinstall atau sudah berhasil di-uninstall.</a:t>
            </a:r>
          </a:p>
          <a:p>
            <a:r>
              <a:rPr lang="id-ID" sz="1200" b="0" i="0" kern="1200" dirty="0" smtClean="0">
                <a:solidFill>
                  <a:schemeClr val="tx1"/>
                </a:solidFill>
                <a:effectLst/>
                <a:latin typeface="+mn-lt"/>
                <a:ea typeface="+mn-ea"/>
                <a:cs typeface="+mn-cs"/>
              </a:rPr>
              <a:t>3.     Lakukan pengecekan paket DHCP server </a:t>
            </a:r>
          </a:p>
          <a:p>
            <a:r>
              <a:rPr lang="id-ID" sz="1200" b="0" i="0" kern="1200" dirty="0" smtClean="0">
                <a:solidFill>
                  <a:schemeClr val="tx1"/>
                </a:solidFill>
                <a:effectLst/>
                <a:latin typeface="+mn-lt"/>
                <a:ea typeface="+mn-ea"/>
                <a:cs typeface="+mn-cs"/>
              </a:rPr>
              <a:t>#apt-cache search dhcp</a:t>
            </a:r>
          </a:p>
          <a:p>
            <a:r>
              <a:rPr lang="id-ID" sz="1200" b="0" i="0" kern="1200" dirty="0" smtClean="0">
                <a:solidFill>
                  <a:schemeClr val="tx1"/>
                </a:solidFill>
                <a:effectLst/>
                <a:latin typeface="+mn-lt"/>
                <a:ea typeface="+mn-ea"/>
                <a:cs typeface="+mn-cs"/>
              </a:rPr>
              <a:t>Maka akan ditampilkan beberapa paket yang berhubungan dengan DHCP, tentukan atau pilih paket yang akan kita install, misalnya untuk praktikum ini kita gunakan paket dhcp3-server.</a:t>
            </a:r>
          </a:p>
          <a:p>
            <a:r>
              <a:rPr lang="id-ID" sz="1200" b="0" i="0" kern="1200" dirty="0" smtClean="0">
                <a:solidFill>
                  <a:schemeClr val="tx1"/>
                </a:solidFill>
                <a:effectLst/>
                <a:latin typeface="+mn-lt"/>
                <a:ea typeface="+mn-ea"/>
                <a:cs typeface="+mn-cs"/>
              </a:rPr>
              <a:t>4.     Lakukan instalasi paket dhcp3-server </a:t>
            </a:r>
          </a:p>
          <a:p>
            <a:r>
              <a:rPr lang="id-ID" sz="1200" b="0" i="0" kern="1200" dirty="0" smtClean="0">
                <a:solidFill>
                  <a:schemeClr val="tx1"/>
                </a:solidFill>
                <a:effectLst/>
                <a:latin typeface="+mn-lt"/>
                <a:ea typeface="+mn-ea"/>
                <a:cs typeface="+mn-cs"/>
              </a:rPr>
              <a:t>#apt-get install dhcp3-server</a:t>
            </a:r>
          </a:p>
          <a:p>
            <a:r>
              <a:rPr lang="id-ID" sz="1200" b="0" i="0" kern="1200" dirty="0" smtClean="0">
                <a:solidFill>
                  <a:schemeClr val="tx1"/>
                </a:solidFill>
                <a:effectLst/>
                <a:latin typeface="+mn-lt"/>
                <a:ea typeface="+mn-ea"/>
                <a:cs typeface="+mn-cs"/>
              </a:rPr>
              <a:t>Jika komputer meminta untuk memasukkan CD Ubuntu, masukkan CD Ubuntu-nya kemudian tekan enter. Tunggu sampai proses instalasi selesai.</a:t>
            </a:r>
          </a:p>
          <a:p>
            <a:r>
              <a:rPr lang="id-ID" sz="1200" b="0" i="0" kern="1200" dirty="0" smtClean="0">
                <a:solidFill>
                  <a:schemeClr val="tx1"/>
                </a:solidFill>
                <a:effectLst/>
                <a:latin typeface="+mn-lt"/>
                <a:ea typeface="+mn-ea"/>
                <a:cs typeface="+mn-cs"/>
              </a:rPr>
              <a:t>Di akhir proses instalasi, paket dhcp-server akan langsung dijalankan, tetapi biasanya tidak akan langsung jalan.hal ini karena kita belum melakukan konfigurasi.</a:t>
            </a:r>
          </a:p>
          <a:p>
            <a:r>
              <a:rPr lang="id-ID" sz="1200" b="0" i="0" kern="1200" dirty="0" smtClean="0">
                <a:solidFill>
                  <a:schemeClr val="tx1"/>
                </a:solidFill>
                <a:effectLst/>
                <a:latin typeface="+mn-lt"/>
                <a:ea typeface="+mn-ea"/>
                <a:cs typeface="+mn-cs"/>
              </a:rPr>
              <a:t>Lakukan konfigurasi IP Address pada server DHCP, misalnya subnet yang digunakan adalah 192.168.10.0/24, dan komputer yang akan dijadikan DHCP server diberi IP Address 192.168.10.1</a:t>
            </a:r>
          </a:p>
          <a:p>
            <a:r>
              <a:rPr lang="id-ID" sz="1200" b="0" i="0" kern="1200" dirty="0" smtClean="0">
                <a:solidFill>
                  <a:schemeClr val="tx1"/>
                </a:solidFill>
                <a:effectLst/>
                <a:latin typeface="+mn-lt"/>
                <a:ea typeface="+mn-ea"/>
                <a:cs typeface="+mn-cs"/>
              </a:rPr>
              <a:t>#vim /etc/network/interfaces</a:t>
            </a:r>
          </a:p>
          <a:p>
            <a:r>
              <a:rPr lang="id-ID" sz="1200" b="0" i="0" kern="1200" dirty="0" smtClean="0">
                <a:solidFill>
                  <a:schemeClr val="tx1"/>
                </a:solidFill>
                <a:effectLst/>
                <a:latin typeface="+mn-lt"/>
                <a:ea typeface="+mn-ea"/>
                <a:cs typeface="+mn-cs"/>
              </a:rPr>
              <a:t>Edit konfigurasi networking :</a:t>
            </a:r>
          </a:p>
          <a:p>
            <a:r>
              <a:rPr lang="id-ID" sz="1200" b="0" i="0" kern="1200" dirty="0" smtClean="0">
                <a:solidFill>
                  <a:schemeClr val="tx1"/>
                </a:solidFill>
                <a:effectLst/>
                <a:latin typeface="+mn-lt"/>
                <a:ea typeface="+mn-ea"/>
                <a:cs typeface="+mn-cs"/>
              </a:rPr>
              <a:t>auto lo</a:t>
            </a:r>
          </a:p>
          <a:p>
            <a:r>
              <a:rPr lang="id-ID" sz="1200" b="0" i="0" kern="1200" dirty="0" smtClean="0">
                <a:solidFill>
                  <a:schemeClr val="tx1"/>
                </a:solidFill>
                <a:effectLst/>
                <a:latin typeface="+mn-lt"/>
                <a:ea typeface="+mn-ea"/>
                <a:cs typeface="+mn-cs"/>
              </a:rPr>
              <a:t>iface lo inet loopback</a:t>
            </a:r>
          </a:p>
          <a:p>
            <a:r>
              <a:rPr lang="id-ID" sz="1200" b="0" i="0" kern="1200" dirty="0" smtClean="0">
                <a:solidFill>
                  <a:schemeClr val="tx1"/>
                </a:solidFill>
                <a:effectLst/>
                <a:latin typeface="+mn-lt"/>
                <a:ea typeface="+mn-ea"/>
                <a:cs typeface="+mn-cs"/>
              </a:rPr>
              <a:t>auto eth0</a:t>
            </a:r>
          </a:p>
          <a:p>
            <a:r>
              <a:rPr lang="id-ID" sz="1200" b="0" i="0" kern="1200" dirty="0" smtClean="0">
                <a:solidFill>
                  <a:schemeClr val="tx1"/>
                </a:solidFill>
                <a:effectLst/>
                <a:latin typeface="+mn-lt"/>
                <a:ea typeface="+mn-ea"/>
                <a:cs typeface="+mn-cs"/>
              </a:rPr>
              <a:t>iface eth0 inet static</a:t>
            </a:r>
          </a:p>
          <a:p>
            <a:r>
              <a:rPr lang="id-ID" sz="1200" b="0" i="0" kern="1200" dirty="0" smtClean="0">
                <a:solidFill>
                  <a:schemeClr val="tx1"/>
                </a:solidFill>
                <a:effectLst/>
                <a:latin typeface="+mn-lt"/>
                <a:ea typeface="+mn-ea"/>
                <a:cs typeface="+mn-cs"/>
              </a:rPr>
              <a:t>     address 192.168.10.1</a:t>
            </a:r>
          </a:p>
          <a:p>
            <a:r>
              <a:rPr lang="id-ID" sz="1200" b="0" i="0" kern="1200" dirty="0" smtClean="0">
                <a:solidFill>
                  <a:schemeClr val="tx1"/>
                </a:solidFill>
                <a:effectLst/>
                <a:latin typeface="+mn-lt"/>
                <a:ea typeface="+mn-ea"/>
                <a:cs typeface="+mn-cs"/>
              </a:rPr>
              <a:t>     netmask 255.255.255.0</a:t>
            </a:r>
          </a:p>
          <a:p>
            <a:r>
              <a:rPr lang="id-ID" sz="1200" b="0" i="0" kern="1200" dirty="0" smtClean="0">
                <a:solidFill>
                  <a:schemeClr val="tx1"/>
                </a:solidFill>
                <a:effectLst/>
                <a:latin typeface="+mn-lt"/>
                <a:ea typeface="+mn-ea"/>
                <a:cs typeface="+mn-cs"/>
              </a:rPr>
              <a:t>     network 192.168.10.0</a:t>
            </a:r>
          </a:p>
          <a:p>
            <a:r>
              <a:rPr lang="id-ID" sz="1200" b="0" i="0" kern="1200" dirty="0" smtClean="0">
                <a:solidFill>
                  <a:schemeClr val="tx1"/>
                </a:solidFill>
                <a:effectLst/>
                <a:latin typeface="+mn-lt"/>
                <a:ea typeface="+mn-ea"/>
                <a:cs typeface="+mn-cs"/>
              </a:rPr>
              <a:t>     broadcast 192.168.10.255</a:t>
            </a:r>
          </a:p>
          <a:p>
            <a:r>
              <a:rPr lang="id-ID" sz="1200" b="0" i="0" kern="1200" dirty="0" smtClean="0">
                <a:solidFill>
                  <a:schemeClr val="tx1"/>
                </a:solidFill>
                <a:effectLst/>
                <a:latin typeface="+mn-lt"/>
                <a:ea typeface="+mn-ea"/>
                <a:cs typeface="+mn-cs"/>
              </a:rPr>
              <a:t>Simpan hasil konfigurasi, kemudian restart networking:</a:t>
            </a:r>
          </a:p>
          <a:p>
            <a:r>
              <a:rPr lang="id-ID" sz="1200" b="0" i="0" kern="1200" dirty="0" smtClean="0">
                <a:solidFill>
                  <a:schemeClr val="tx1"/>
                </a:solidFill>
                <a:effectLst/>
                <a:latin typeface="+mn-lt"/>
                <a:ea typeface="+mn-ea"/>
                <a:cs typeface="+mn-cs"/>
              </a:rPr>
              <a:t>#/etc/init.d/networking restart</a:t>
            </a:r>
          </a:p>
          <a:p>
            <a:r>
              <a:rPr lang="id-ID" sz="1200" b="0" i="0" kern="1200" dirty="0" smtClean="0">
                <a:solidFill>
                  <a:schemeClr val="tx1"/>
                </a:solidFill>
                <a:effectLst/>
                <a:latin typeface="+mn-lt"/>
                <a:ea typeface="+mn-ea"/>
                <a:cs typeface="+mn-cs"/>
              </a:rPr>
              <a:t>Lakukan konfigurasi untuk menentukan kartu jaringan (LAN Card yang akan digunakan sebagai interfaces DHCP), misalnya kita gunakan eth0. Hal ini bisa kita lakukan dengan mengedit file /etc/default/dhcp3-server : </a:t>
            </a:r>
          </a:p>
          <a:p>
            <a:r>
              <a:rPr lang="id-ID" sz="1200" b="0" i="0" kern="1200" dirty="0" smtClean="0">
                <a:solidFill>
                  <a:schemeClr val="tx1"/>
                </a:solidFill>
                <a:effectLst/>
                <a:latin typeface="+mn-lt"/>
                <a:ea typeface="+mn-ea"/>
                <a:cs typeface="+mn-cs"/>
              </a:rPr>
              <a:t>#vim /etc/default/dhcp3-server</a:t>
            </a:r>
          </a:p>
          <a:p>
            <a:r>
              <a:rPr lang="id-ID" sz="1200" b="0" i="0" kern="1200" dirty="0" smtClean="0">
                <a:solidFill>
                  <a:schemeClr val="tx1"/>
                </a:solidFill>
                <a:effectLst/>
                <a:latin typeface="+mn-lt"/>
                <a:ea typeface="+mn-ea"/>
                <a:cs typeface="+mn-cs"/>
              </a:rPr>
              <a:t>Pada option INTERFACES, isi dengan device yang akan digunakan untuk interface DHCP, misalnya kita gunakan eth0, maka bentuk konfigurasinya sebagai berikut :</a:t>
            </a:r>
          </a:p>
          <a:p>
            <a:r>
              <a:rPr lang="id-ID" sz="1200" b="0" i="0" kern="1200" dirty="0" smtClean="0">
                <a:solidFill>
                  <a:schemeClr val="tx1"/>
                </a:solidFill>
                <a:effectLst/>
                <a:latin typeface="+mn-lt"/>
                <a:ea typeface="+mn-ea"/>
                <a:cs typeface="+mn-cs"/>
              </a:rPr>
              <a:t>INTERFACES=”eth0”</a:t>
            </a:r>
          </a:p>
          <a:p>
            <a:r>
              <a:rPr lang="id-ID" sz="1200" b="0" i="0" kern="1200" dirty="0" smtClean="0">
                <a:solidFill>
                  <a:schemeClr val="tx1"/>
                </a:solidFill>
                <a:effectLst/>
                <a:latin typeface="+mn-lt"/>
                <a:ea typeface="+mn-ea"/>
                <a:cs typeface="+mn-cs"/>
              </a:rPr>
              <a:t>Simpan konfigurasi</a:t>
            </a:r>
          </a:p>
          <a:p>
            <a:r>
              <a:rPr lang="id-ID" sz="1200" b="0" i="0" kern="1200" dirty="0" smtClean="0">
                <a:solidFill>
                  <a:schemeClr val="tx1"/>
                </a:solidFill>
                <a:effectLst/>
                <a:latin typeface="+mn-lt"/>
                <a:ea typeface="+mn-ea"/>
                <a:cs typeface="+mn-cs"/>
              </a:rPr>
              <a:t>7.    Lakukan konfigurasi untuk menyediakan alokasi IP Address yang akan disewakan ke Client. Hal ini kita bisa lakukan dengan mengedit file /etc/dhcp3/dhcpd.conf</a:t>
            </a:r>
          </a:p>
          <a:p>
            <a:r>
              <a:rPr lang="id-ID" sz="1200" b="0" i="0" kern="1200" dirty="0" smtClean="0">
                <a:solidFill>
                  <a:schemeClr val="tx1"/>
                </a:solidFill>
                <a:effectLst/>
                <a:latin typeface="+mn-lt"/>
                <a:ea typeface="+mn-ea"/>
                <a:cs typeface="+mn-cs"/>
              </a:rPr>
              <a:t>#vim /etc/dhcp3/dhcpd.conf </a:t>
            </a:r>
          </a:p>
          <a:p>
            <a:r>
              <a:rPr lang="id-ID" sz="1200" b="0" i="0" kern="1200" dirty="0" smtClean="0">
                <a:solidFill>
                  <a:schemeClr val="tx1"/>
                </a:solidFill>
                <a:effectLst/>
                <a:latin typeface="+mn-lt"/>
                <a:ea typeface="+mn-ea"/>
                <a:cs typeface="+mn-cs"/>
              </a:rPr>
              <a:t>Cari baris berikut :</a:t>
            </a:r>
          </a:p>
          <a:p>
            <a:r>
              <a:rPr lang="id-ID" sz="1200" b="0" i="0" kern="1200" dirty="0" smtClean="0">
                <a:solidFill>
                  <a:schemeClr val="tx1"/>
                </a:solidFill>
                <a:effectLst/>
                <a:latin typeface="+mn-lt"/>
                <a:ea typeface="+mn-ea"/>
                <a:cs typeface="+mn-cs"/>
              </a:rPr>
              <a:t># A slightly different configuration for an internal subnet.</a:t>
            </a:r>
          </a:p>
          <a:p>
            <a:r>
              <a:rPr lang="id-ID" sz="1200" b="0" i="0" kern="1200" dirty="0" smtClean="0">
                <a:solidFill>
                  <a:schemeClr val="tx1"/>
                </a:solidFill>
                <a:effectLst/>
                <a:latin typeface="+mn-lt"/>
                <a:ea typeface="+mn-ea"/>
                <a:cs typeface="+mn-cs"/>
              </a:rPr>
              <a:t>#subnet 10.5.5.0 netmask 255.255.255.224 {</a:t>
            </a:r>
          </a:p>
          <a:p>
            <a:r>
              <a:rPr lang="id-ID" sz="1200" b="0" i="0" kern="1200" dirty="0" smtClean="0">
                <a:solidFill>
                  <a:schemeClr val="tx1"/>
                </a:solidFill>
                <a:effectLst/>
                <a:latin typeface="+mn-lt"/>
                <a:ea typeface="+mn-ea"/>
                <a:cs typeface="+mn-cs"/>
              </a:rPr>
              <a:t>#  range 10.5.5.26 10.5.5.30;</a:t>
            </a:r>
          </a:p>
          <a:p>
            <a:r>
              <a:rPr lang="id-ID" sz="1200" b="0" i="0" kern="1200" dirty="0" smtClean="0">
                <a:solidFill>
                  <a:schemeClr val="tx1"/>
                </a:solidFill>
                <a:effectLst/>
                <a:latin typeface="+mn-lt"/>
                <a:ea typeface="+mn-ea"/>
                <a:cs typeface="+mn-cs"/>
              </a:rPr>
              <a:t>#  option domain-name-servers ns1.internal.example.org;</a:t>
            </a:r>
          </a:p>
          <a:p>
            <a:r>
              <a:rPr lang="id-ID" sz="1200" b="0" i="0" kern="1200" dirty="0" smtClean="0">
                <a:solidFill>
                  <a:schemeClr val="tx1"/>
                </a:solidFill>
                <a:effectLst/>
                <a:latin typeface="+mn-lt"/>
                <a:ea typeface="+mn-ea"/>
                <a:cs typeface="+mn-cs"/>
              </a:rPr>
              <a:t>#  option domain-name “internal.example.org”;</a:t>
            </a:r>
          </a:p>
          <a:p>
            <a:r>
              <a:rPr lang="id-ID" sz="1200" b="0" i="0" kern="1200" dirty="0" smtClean="0">
                <a:solidFill>
                  <a:schemeClr val="tx1"/>
                </a:solidFill>
                <a:effectLst/>
                <a:latin typeface="+mn-lt"/>
                <a:ea typeface="+mn-ea"/>
                <a:cs typeface="+mn-cs"/>
              </a:rPr>
              <a:t>#  option routers 10.5.5.1;</a:t>
            </a:r>
          </a:p>
          <a:p>
            <a:r>
              <a:rPr lang="id-ID" sz="1200" b="0" i="0" kern="1200" dirty="0" smtClean="0">
                <a:solidFill>
                  <a:schemeClr val="tx1"/>
                </a:solidFill>
                <a:effectLst/>
                <a:latin typeface="+mn-lt"/>
                <a:ea typeface="+mn-ea"/>
                <a:cs typeface="+mn-cs"/>
              </a:rPr>
              <a:t>#  option broadcast-address 10.5.5.31;</a:t>
            </a:r>
          </a:p>
          <a:p>
            <a:r>
              <a:rPr lang="id-ID" sz="1200" b="0" i="0" kern="1200" dirty="0" smtClean="0">
                <a:solidFill>
                  <a:schemeClr val="tx1"/>
                </a:solidFill>
                <a:effectLst/>
                <a:latin typeface="+mn-lt"/>
                <a:ea typeface="+mn-ea"/>
                <a:cs typeface="+mn-cs"/>
              </a:rPr>
              <a:t>#  default-lease-time 600;</a:t>
            </a:r>
          </a:p>
          <a:p>
            <a:r>
              <a:rPr lang="id-ID" sz="1200" b="0" i="0" kern="1200" dirty="0" smtClean="0">
                <a:solidFill>
                  <a:schemeClr val="tx1"/>
                </a:solidFill>
                <a:effectLst/>
                <a:latin typeface="+mn-lt"/>
                <a:ea typeface="+mn-ea"/>
                <a:cs typeface="+mn-cs"/>
              </a:rPr>
              <a:t>#  max-lease-time 7200;</a:t>
            </a:r>
          </a:p>
          <a:p>
            <a:r>
              <a:rPr lang="id-ID" sz="1200" b="0" i="0" kern="1200" dirty="0" smtClean="0">
                <a:solidFill>
                  <a:schemeClr val="tx1"/>
                </a:solidFill>
                <a:effectLst/>
                <a:latin typeface="+mn-lt"/>
                <a:ea typeface="+mn-ea"/>
                <a:cs typeface="+mn-cs"/>
              </a:rPr>
              <a:t>#}</a:t>
            </a:r>
          </a:p>
          <a:p>
            <a:r>
              <a:rPr lang="id-ID" sz="1200" b="0" i="0" kern="1200" dirty="0" smtClean="0">
                <a:solidFill>
                  <a:schemeClr val="tx1"/>
                </a:solidFill>
                <a:effectLst/>
                <a:latin typeface="+mn-lt"/>
                <a:ea typeface="+mn-ea"/>
                <a:cs typeface="+mn-cs"/>
              </a:rPr>
              <a:t>Hapus tanda “#” pada beberapa option yang akan kita gunakan, kemudian isi dengan parameter sesuai dengan konfigurasi DHCP yang akan dibuat. Misalnya subnet yang kita gunakan adalah 192.168.10.0/24, kemudian kita akan menyewakan IP Address kepada client sebanyak 50 IP dari subnet yang ada, yaitu mulai dari 192.168.10.201 sampai 192.168.10.250, maka konfigurasinya sebagai berikut :</a:t>
            </a:r>
          </a:p>
          <a:p>
            <a:r>
              <a:rPr lang="id-ID" sz="1200" b="0" i="0" kern="1200" dirty="0" smtClean="0">
                <a:solidFill>
                  <a:schemeClr val="tx1"/>
                </a:solidFill>
                <a:effectLst/>
                <a:latin typeface="+mn-lt"/>
                <a:ea typeface="+mn-ea"/>
                <a:cs typeface="+mn-cs"/>
              </a:rPr>
              <a:t># A slightly different configuration for an internal subnet.</a:t>
            </a:r>
          </a:p>
          <a:p>
            <a:r>
              <a:rPr lang="id-ID" sz="1200" b="0" i="0" kern="1200" dirty="0" smtClean="0">
                <a:solidFill>
                  <a:schemeClr val="tx1"/>
                </a:solidFill>
                <a:effectLst/>
                <a:latin typeface="+mn-lt"/>
                <a:ea typeface="+mn-ea"/>
                <a:cs typeface="+mn-cs"/>
              </a:rPr>
              <a:t>  subnet 192.168.10.0 netmask 255.255.255.0 {</a:t>
            </a:r>
          </a:p>
          <a:p>
            <a:r>
              <a:rPr lang="id-ID" sz="1200" b="0" i="0" kern="1200" dirty="0" smtClean="0">
                <a:solidFill>
                  <a:schemeClr val="tx1"/>
                </a:solidFill>
                <a:effectLst/>
                <a:latin typeface="+mn-lt"/>
                <a:ea typeface="+mn-ea"/>
                <a:cs typeface="+mn-cs"/>
              </a:rPr>
              <a:t>  range 192.168.10.201 192.168.10.250;</a:t>
            </a:r>
          </a:p>
          <a:p>
            <a:r>
              <a:rPr lang="id-ID" sz="1200" b="0" i="0" kern="1200" dirty="0" smtClean="0">
                <a:solidFill>
                  <a:schemeClr val="tx1"/>
                </a:solidFill>
                <a:effectLst/>
                <a:latin typeface="+mn-lt"/>
                <a:ea typeface="+mn-ea"/>
                <a:cs typeface="+mn-cs"/>
              </a:rPr>
              <a:t>#  option domain-name-servers ns1.internal.example.org;</a:t>
            </a:r>
          </a:p>
          <a:p>
            <a:r>
              <a:rPr lang="id-ID" sz="1200" b="0" i="0" kern="1200" dirty="0" smtClean="0">
                <a:solidFill>
                  <a:schemeClr val="tx1"/>
                </a:solidFill>
                <a:effectLst/>
                <a:latin typeface="+mn-lt"/>
                <a:ea typeface="+mn-ea"/>
                <a:cs typeface="+mn-cs"/>
              </a:rPr>
              <a:t>#  option domain-name “internal.example.org”;</a:t>
            </a:r>
          </a:p>
          <a:p>
            <a:r>
              <a:rPr lang="id-ID" sz="1200" b="0" i="0" kern="1200" dirty="0" smtClean="0">
                <a:solidFill>
                  <a:schemeClr val="tx1"/>
                </a:solidFill>
                <a:effectLst/>
                <a:latin typeface="+mn-lt"/>
                <a:ea typeface="+mn-ea"/>
                <a:cs typeface="+mn-cs"/>
              </a:rPr>
              <a:t>  option routers 192.168.10.1;</a:t>
            </a:r>
          </a:p>
          <a:p>
            <a:r>
              <a:rPr lang="id-ID" sz="1200" b="0" i="0" kern="1200" dirty="0" smtClean="0">
                <a:solidFill>
                  <a:schemeClr val="tx1"/>
                </a:solidFill>
                <a:effectLst/>
                <a:latin typeface="+mn-lt"/>
                <a:ea typeface="+mn-ea"/>
                <a:cs typeface="+mn-cs"/>
              </a:rPr>
              <a:t>  option broadcast-address 192.168.10.255;</a:t>
            </a:r>
          </a:p>
          <a:p>
            <a:r>
              <a:rPr lang="id-ID" sz="1200" b="0" i="0" kern="1200" dirty="0" smtClean="0">
                <a:solidFill>
                  <a:schemeClr val="tx1"/>
                </a:solidFill>
                <a:effectLst/>
                <a:latin typeface="+mn-lt"/>
                <a:ea typeface="+mn-ea"/>
                <a:cs typeface="+mn-cs"/>
              </a:rPr>
              <a:t>  default-lease-time 600;</a:t>
            </a:r>
          </a:p>
          <a:p>
            <a:r>
              <a:rPr lang="id-ID" sz="1200" b="0" i="0" kern="1200" dirty="0" smtClean="0">
                <a:solidFill>
                  <a:schemeClr val="tx1"/>
                </a:solidFill>
                <a:effectLst/>
                <a:latin typeface="+mn-lt"/>
                <a:ea typeface="+mn-ea"/>
                <a:cs typeface="+mn-cs"/>
              </a:rPr>
              <a:t>  max-lease-time 7200;</a:t>
            </a:r>
          </a:p>
          <a:p>
            <a:r>
              <a:rPr lang="id-ID" sz="1200" b="0" i="0" kern="1200" dirty="0" smtClean="0">
                <a:solidFill>
                  <a:schemeClr val="tx1"/>
                </a:solidFill>
                <a:effectLst/>
                <a:latin typeface="+mn-lt"/>
                <a:ea typeface="+mn-ea"/>
                <a:cs typeface="+mn-cs"/>
              </a:rPr>
              <a:t>}</a:t>
            </a:r>
          </a:p>
          <a:p>
            <a:r>
              <a:rPr lang="id-ID" sz="1200" b="0" i="0" kern="1200" dirty="0" smtClean="0">
                <a:solidFill>
                  <a:schemeClr val="tx1"/>
                </a:solidFill>
                <a:effectLst/>
                <a:latin typeface="+mn-lt"/>
                <a:ea typeface="+mn-ea"/>
                <a:cs typeface="+mn-cs"/>
              </a:rPr>
              <a:t>Simpan konfigurasi</a:t>
            </a:r>
          </a:p>
          <a:p>
            <a:r>
              <a:rPr lang="id-ID" sz="1200" b="0" i="0" kern="1200" dirty="0" smtClean="0">
                <a:solidFill>
                  <a:schemeClr val="tx1"/>
                </a:solidFill>
                <a:effectLst/>
                <a:latin typeface="+mn-lt"/>
                <a:ea typeface="+mn-ea"/>
                <a:cs typeface="+mn-cs"/>
              </a:rPr>
              <a:t>8.     Restart paket dhcp3-server :</a:t>
            </a:r>
          </a:p>
          <a:p>
            <a:r>
              <a:rPr lang="id-ID" sz="1200" b="0" i="0" kern="1200" dirty="0" smtClean="0">
                <a:solidFill>
                  <a:schemeClr val="tx1"/>
                </a:solidFill>
                <a:effectLst/>
                <a:latin typeface="+mn-lt"/>
                <a:ea typeface="+mn-ea"/>
                <a:cs typeface="+mn-cs"/>
              </a:rPr>
              <a:t>#/etc/init.d/dhcp3-server restart </a:t>
            </a:r>
          </a:p>
          <a:p>
            <a:r>
              <a:rPr lang="id-ID" sz="1200" b="0" i="0" kern="1200" dirty="0" smtClean="0">
                <a:solidFill>
                  <a:schemeClr val="tx1"/>
                </a:solidFill>
                <a:effectLst/>
                <a:latin typeface="+mn-lt"/>
                <a:ea typeface="+mn-ea"/>
                <a:cs typeface="+mn-cs"/>
              </a:rPr>
              <a:t>Proses restart terdiri dari 2 tahap, yaitu tahap </a:t>
            </a:r>
            <a:r>
              <a:rPr lang="id-ID" sz="1200" b="0" i="1" kern="1200" dirty="0" smtClean="0">
                <a:solidFill>
                  <a:schemeClr val="tx1"/>
                </a:solidFill>
                <a:effectLst/>
                <a:latin typeface="+mn-lt"/>
                <a:ea typeface="+mn-ea"/>
                <a:cs typeface="+mn-cs"/>
              </a:rPr>
              <a:t>stopping</a:t>
            </a:r>
            <a:r>
              <a:rPr lang="id-ID" sz="1200" b="0" i="0" kern="1200" dirty="0" smtClean="0">
                <a:solidFill>
                  <a:schemeClr val="tx1"/>
                </a:solidFill>
                <a:effectLst/>
                <a:latin typeface="+mn-lt"/>
                <a:ea typeface="+mn-ea"/>
                <a:cs typeface="+mn-cs"/>
              </a:rPr>
              <a:t> dan </a:t>
            </a:r>
            <a:r>
              <a:rPr lang="id-ID" sz="1200" b="0" i="1" kern="1200" dirty="0" smtClean="0">
                <a:solidFill>
                  <a:schemeClr val="tx1"/>
                </a:solidFill>
                <a:effectLst/>
                <a:latin typeface="+mn-lt"/>
                <a:ea typeface="+mn-ea"/>
                <a:cs typeface="+mn-cs"/>
              </a:rPr>
              <a:t>starting</a:t>
            </a:r>
            <a:r>
              <a:rPr lang="id-ID" sz="1200" b="0" i="0" kern="1200" dirty="0" smtClean="0">
                <a:solidFill>
                  <a:schemeClr val="tx1"/>
                </a:solidFill>
                <a:effectLst/>
                <a:latin typeface="+mn-lt"/>
                <a:ea typeface="+mn-ea"/>
                <a:cs typeface="+mn-cs"/>
              </a:rPr>
              <a:t>. Pastikan proses </a:t>
            </a:r>
            <a:r>
              <a:rPr lang="id-ID" sz="1200" b="0" i="1" kern="1200" dirty="0" smtClean="0">
                <a:solidFill>
                  <a:schemeClr val="tx1"/>
                </a:solidFill>
                <a:effectLst/>
                <a:latin typeface="+mn-lt"/>
                <a:ea typeface="+mn-ea"/>
                <a:cs typeface="+mn-cs"/>
              </a:rPr>
              <a:t>starting</a:t>
            </a:r>
            <a:r>
              <a:rPr lang="id-ID" sz="1200" b="0" i="0" kern="1200" dirty="0" smtClean="0">
                <a:solidFill>
                  <a:schemeClr val="tx1"/>
                </a:solidFill>
                <a:effectLst/>
                <a:latin typeface="+mn-lt"/>
                <a:ea typeface="+mn-ea"/>
                <a:cs typeface="+mn-cs"/>
              </a:rPr>
              <a:t> DHCP Server berhasil. (jika proses </a:t>
            </a:r>
            <a:r>
              <a:rPr lang="id-ID" sz="1200" b="0" i="1" kern="1200" dirty="0" smtClean="0">
                <a:solidFill>
                  <a:schemeClr val="tx1"/>
                </a:solidFill>
                <a:effectLst/>
                <a:latin typeface="+mn-lt"/>
                <a:ea typeface="+mn-ea"/>
                <a:cs typeface="+mn-cs"/>
              </a:rPr>
              <a:t>stopping</a:t>
            </a:r>
            <a:r>
              <a:rPr lang="id-ID" sz="1200" b="0" i="0" kern="1200" dirty="0" smtClean="0">
                <a:solidFill>
                  <a:schemeClr val="tx1"/>
                </a:solidFill>
                <a:effectLst/>
                <a:latin typeface="+mn-lt"/>
                <a:ea typeface="+mn-ea"/>
                <a:cs typeface="+mn-cs"/>
              </a:rPr>
              <a:t> “FALIED” tidak masalah, asalkan proses </a:t>
            </a:r>
            <a:r>
              <a:rPr lang="id-ID" sz="1200" b="0" i="1" kern="1200" dirty="0" smtClean="0">
                <a:solidFill>
                  <a:schemeClr val="tx1"/>
                </a:solidFill>
                <a:effectLst/>
                <a:latin typeface="+mn-lt"/>
                <a:ea typeface="+mn-ea"/>
                <a:cs typeface="+mn-cs"/>
              </a:rPr>
              <a:t>starting</a:t>
            </a:r>
            <a:r>
              <a:rPr lang="id-ID" sz="1200" b="0" i="0" kern="1200" dirty="0" smtClean="0">
                <a:solidFill>
                  <a:schemeClr val="tx1"/>
                </a:solidFill>
                <a:effectLst/>
                <a:latin typeface="+mn-lt"/>
                <a:ea typeface="+mn-ea"/>
                <a:cs typeface="+mn-cs"/>
              </a:rPr>
              <a:t> “OK”).</a:t>
            </a:r>
          </a:p>
          <a:p>
            <a:r>
              <a:rPr lang="id-ID" sz="1200" b="0" i="0" kern="1200" dirty="0" smtClean="0">
                <a:solidFill>
                  <a:schemeClr val="tx1"/>
                </a:solidFill>
                <a:effectLst/>
                <a:latin typeface="+mn-lt"/>
                <a:ea typeface="+mn-ea"/>
                <a:cs typeface="+mn-cs"/>
              </a:rPr>
              <a:t>Sampai di sini kita sudah selesai membuat DHCP Server.</a:t>
            </a:r>
          </a:p>
          <a:p>
            <a:r>
              <a:rPr lang="id-ID" sz="1200" b="1" i="0" kern="1200" dirty="0" smtClean="0">
                <a:solidFill>
                  <a:schemeClr val="tx1"/>
                </a:solidFill>
                <a:effectLst/>
                <a:latin typeface="+mn-lt"/>
                <a:ea typeface="+mn-ea"/>
                <a:cs typeface="+mn-cs"/>
              </a:rPr>
              <a:t>B.</a:t>
            </a:r>
            <a:r>
              <a:rPr lang="id-ID" sz="1200" b="0" i="0" kern="1200" dirty="0" smtClean="0">
                <a:solidFill>
                  <a:schemeClr val="tx1"/>
                </a:solidFill>
                <a:effectLst/>
                <a:latin typeface="+mn-lt"/>
                <a:ea typeface="+mn-ea"/>
                <a:cs typeface="+mn-cs"/>
              </a:rPr>
              <a:t>      </a:t>
            </a:r>
            <a:r>
              <a:rPr lang="id-ID" sz="1200" b="1" i="0" kern="1200" dirty="0" smtClean="0">
                <a:solidFill>
                  <a:schemeClr val="tx1"/>
                </a:solidFill>
                <a:effectLst/>
                <a:latin typeface="+mn-lt"/>
                <a:ea typeface="+mn-ea"/>
                <a:cs typeface="+mn-cs"/>
              </a:rPr>
              <a:t>Konfigurasi Client</a:t>
            </a:r>
            <a:endParaRPr lang="id-ID" sz="1200" b="0" i="0" kern="1200" dirty="0" smtClean="0">
              <a:solidFill>
                <a:schemeClr val="tx1"/>
              </a:solidFill>
              <a:effectLst/>
              <a:latin typeface="+mn-lt"/>
              <a:ea typeface="+mn-ea"/>
              <a:cs typeface="+mn-cs"/>
            </a:endParaRPr>
          </a:p>
          <a:p>
            <a:r>
              <a:rPr lang="id-ID" sz="1200" b="0" i="0" kern="1200" dirty="0" smtClean="0">
                <a:solidFill>
                  <a:schemeClr val="tx1"/>
                </a:solidFill>
                <a:effectLst/>
                <a:latin typeface="+mn-lt"/>
                <a:ea typeface="+mn-ea"/>
                <a:cs typeface="+mn-cs"/>
              </a:rPr>
              <a:t>a.       Untuk Client Linux</a:t>
            </a:r>
          </a:p>
          <a:p>
            <a:r>
              <a:rPr lang="id-ID" sz="1200" b="0" i="0" kern="1200" dirty="0" smtClean="0">
                <a:solidFill>
                  <a:schemeClr val="tx1"/>
                </a:solidFill>
                <a:effectLst/>
                <a:latin typeface="+mn-lt"/>
                <a:ea typeface="+mn-ea"/>
                <a:cs typeface="+mn-cs"/>
              </a:rPr>
              <a:t>1.       Login sebagai root</a:t>
            </a:r>
          </a:p>
          <a:p>
            <a:r>
              <a:rPr lang="id-ID" sz="1200" b="0" i="0" kern="1200" dirty="0" smtClean="0">
                <a:solidFill>
                  <a:schemeClr val="tx1"/>
                </a:solidFill>
                <a:effectLst/>
                <a:latin typeface="+mn-lt"/>
                <a:ea typeface="+mn-ea"/>
                <a:cs typeface="+mn-cs"/>
              </a:rPr>
              <a:t>2.       Lakukan Konfigurasi networking sebagai berikut :</a:t>
            </a:r>
          </a:p>
          <a:p>
            <a:r>
              <a:rPr lang="id-ID" sz="1200" b="0" i="0" kern="1200" dirty="0" smtClean="0">
                <a:solidFill>
                  <a:schemeClr val="tx1"/>
                </a:solidFill>
                <a:effectLst/>
                <a:latin typeface="+mn-lt"/>
                <a:ea typeface="+mn-ea"/>
                <a:cs typeface="+mn-cs"/>
              </a:rPr>
              <a:t>#vim /etc/network/interfaces</a:t>
            </a:r>
          </a:p>
          <a:p>
            <a:r>
              <a:rPr lang="id-ID" sz="1200" b="0" i="0" kern="1200" dirty="0" smtClean="0">
                <a:solidFill>
                  <a:schemeClr val="tx1"/>
                </a:solidFill>
                <a:effectLst/>
                <a:latin typeface="+mn-lt"/>
                <a:ea typeface="+mn-ea"/>
                <a:cs typeface="+mn-cs"/>
              </a:rPr>
              <a:t>Edit konfigurasi networking :</a:t>
            </a:r>
          </a:p>
          <a:p>
            <a:r>
              <a:rPr lang="id-ID" sz="1200" b="0" i="0" kern="1200" dirty="0" smtClean="0">
                <a:solidFill>
                  <a:schemeClr val="tx1"/>
                </a:solidFill>
                <a:effectLst/>
                <a:latin typeface="+mn-lt"/>
                <a:ea typeface="+mn-ea"/>
                <a:cs typeface="+mn-cs"/>
              </a:rPr>
              <a:t>auto lo</a:t>
            </a:r>
          </a:p>
          <a:p>
            <a:r>
              <a:rPr lang="id-ID" sz="1200" b="0" i="0" kern="1200" dirty="0" smtClean="0">
                <a:solidFill>
                  <a:schemeClr val="tx1"/>
                </a:solidFill>
                <a:effectLst/>
                <a:latin typeface="+mn-lt"/>
                <a:ea typeface="+mn-ea"/>
                <a:cs typeface="+mn-cs"/>
              </a:rPr>
              <a:t>iface lo inet loopback</a:t>
            </a:r>
          </a:p>
          <a:p>
            <a:r>
              <a:rPr lang="id-ID" sz="1200" b="0" i="0" kern="1200" dirty="0" smtClean="0">
                <a:solidFill>
                  <a:schemeClr val="tx1"/>
                </a:solidFill>
                <a:effectLst/>
                <a:latin typeface="+mn-lt"/>
                <a:ea typeface="+mn-ea"/>
                <a:cs typeface="+mn-cs"/>
              </a:rPr>
              <a:t>auto eth0</a:t>
            </a:r>
          </a:p>
          <a:p>
            <a:r>
              <a:rPr lang="id-ID" sz="1200" b="0" i="0" kern="1200" dirty="0" smtClean="0">
                <a:solidFill>
                  <a:schemeClr val="tx1"/>
                </a:solidFill>
                <a:effectLst/>
                <a:latin typeface="+mn-lt"/>
                <a:ea typeface="+mn-ea"/>
                <a:cs typeface="+mn-cs"/>
              </a:rPr>
              <a:t>iface eth0 inet dhcp </a:t>
            </a:r>
          </a:p>
          <a:p>
            <a:r>
              <a:rPr lang="id-ID" sz="1200" b="0" i="0" kern="1200" dirty="0" smtClean="0">
                <a:solidFill>
                  <a:schemeClr val="tx1"/>
                </a:solidFill>
                <a:effectLst/>
                <a:latin typeface="+mn-lt"/>
                <a:ea typeface="+mn-ea"/>
                <a:cs typeface="+mn-cs"/>
              </a:rPr>
              <a:t>Simpan hasil konfigurasi, kemudian restart networking:</a:t>
            </a:r>
          </a:p>
          <a:p>
            <a:r>
              <a:rPr lang="id-ID" sz="1200" b="0" i="0" kern="1200" dirty="0" smtClean="0">
                <a:solidFill>
                  <a:schemeClr val="tx1"/>
                </a:solidFill>
                <a:effectLst/>
                <a:latin typeface="+mn-lt"/>
                <a:ea typeface="+mn-ea"/>
                <a:cs typeface="+mn-cs"/>
              </a:rPr>
              <a:t>#/etc/init.d/networking restart</a:t>
            </a:r>
          </a:p>
          <a:p>
            <a:r>
              <a:rPr lang="id-ID" sz="1200" b="0" i="0" kern="1200" dirty="0" smtClean="0">
                <a:solidFill>
                  <a:schemeClr val="tx1"/>
                </a:solidFill>
                <a:effectLst/>
                <a:latin typeface="+mn-lt"/>
                <a:ea typeface="+mn-ea"/>
                <a:cs typeface="+mn-cs"/>
              </a:rPr>
              <a:t>3.       Cek IP Address yang diperoleh</a:t>
            </a:r>
          </a:p>
          <a:p>
            <a:r>
              <a:rPr lang="id-ID" sz="1200" b="0" i="0" kern="1200" dirty="0" smtClean="0">
                <a:solidFill>
                  <a:schemeClr val="tx1"/>
                </a:solidFill>
                <a:effectLst/>
                <a:latin typeface="+mn-lt"/>
                <a:ea typeface="+mn-ea"/>
                <a:cs typeface="+mn-cs"/>
              </a:rPr>
              <a:t>#ifconfig</a:t>
            </a:r>
          </a:p>
          <a:p>
            <a:r>
              <a:rPr lang="id-ID" sz="1200" b="0" i="0" kern="1200" dirty="0" smtClean="0">
                <a:solidFill>
                  <a:schemeClr val="tx1"/>
                </a:solidFill>
                <a:effectLst/>
                <a:latin typeface="+mn-lt"/>
                <a:ea typeface="+mn-ea"/>
                <a:cs typeface="+mn-cs"/>
              </a:rPr>
              <a:t>4.       Lakukan pengecekan koneksi ke DHCP Server dan ke client lain</a:t>
            </a:r>
          </a:p>
          <a:p>
            <a:r>
              <a:rPr lang="id-ID" sz="1200" b="0" i="0" kern="1200" dirty="0" smtClean="0">
                <a:solidFill>
                  <a:schemeClr val="tx1"/>
                </a:solidFill>
                <a:effectLst/>
                <a:latin typeface="+mn-lt"/>
                <a:ea typeface="+mn-ea"/>
                <a:cs typeface="+mn-cs"/>
              </a:rPr>
              <a:t>#ping 192.168.10.1</a:t>
            </a:r>
          </a:p>
          <a:p>
            <a:r>
              <a:rPr lang="id-ID" sz="1200" b="0" i="0" kern="1200" dirty="0" smtClean="0">
                <a:solidFill>
                  <a:schemeClr val="tx1"/>
                </a:solidFill>
                <a:effectLst/>
                <a:latin typeface="+mn-lt"/>
                <a:ea typeface="+mn-ea"/>
                <a:cs typeface="+mn-cs"/>
              </a:rPr>
              <a:t>b.      Untuk Client Windows</a:t>
            </a:r>
          </a:p>
          <a:p>
            <a:r>
              <a:rPr lang="id-ID" sz="1200" b="0" i="0" kern="1200" dirty="0" smtClean="0">
                <a:solidFill>
                  <a:schemeClr val="tx1"/>
                </a:solidFill>
                <a:effectLst/>
                <a:latin typeface="+mn-lt"/>
                <a:ea typeface="+mn-ea"/>
                <a:cs typeface="+mn-cs"/>
              </a:rPr>
              <a:t>1.       Lakukan konfigurasi IP Addres dengan cara memilih  “Obtain an IP address automatically” dan “Obtain DNS server automatically”</a:t>
            </a:r>
          </a:p>
          <a:p>
            <a:r>
              <a:rPr lang="id-ID" sz="1200" b="0" i="0" kern="1200" dirty="0" smtClean="0">
                <a:solidFill>
                  <a:schemeClr val="tx1"/>
                </a:solidFill>
                <a:effectLst/>
                <a:latin typeface="+mn-lt"/>
                <a:ea typeface="+mn-ea"/>
                <a:cs typeface="+mn-cs"/>
              </a:rPr>
              <a:t>2.       Buka command prompt dan periksa IP Address yang diperoleh</a:t>
            </a:r>
          </a:p>
          <a:p>
            <a:r>
              <a:rPr lang="id-ID" sz="1200" b="0" i="0" kern="1200" dirty="0" smtClean="0">
                <a:solidFill>
                  <a:schemeClr val="tx1"/>
                </a:solidFill>
                <a:effectLst/>
                <a:latin typeface="+mn-lt"/>
                <a:ea typeface="+mn-ea"/>
                <a:cs typeface="+mn-cs"/>
              </a:rPr>
              <a:t>#ipconfig</a:t>
            </a:r>
          </a:p>
          <a:p>
            <a:r>
              <a:rPr lang="id-ID" sz="1200" b="0" i="0" kern="1200" dirty="0" smtClean="0">
                <a:solidFill>
                  <a:schemeClr val="tx1"/>
                </a:solidFill>
                <a:effectLst/>
                <a:latin typeface="+mn-lt"/>
                <a:ea typeface="+mn-ea"/>
                <a:cs typeface="+mn-cs"/>
              </a:rPr>
              <a:t>3.       Lakukan pengecekan koneksi ke DHCP Server dan ke client lain</a:t>
            </a:r>
          </a:p>
          <a:p>
            <a:r>
              <a:rPr lang="id-ID" sz="1200" b="0" i="0" kern="1200" dirty="0" smtClean="0">
                <a:solidFill>
                  <a:schemeClr val="tx1"/>
                </a:solidFill>
                <a:effectLst/>
                <a:latin typeface="+mn-lt"/>
                <a:ea typeface="+mn-ea"/>
                <a:cs typeface="+mn-cs"/>
              </a:rPr>
              <a:t>#ping 192.168.10.1</a:t>
            </a:r>
          </a:p>
          <a:p>
            <a:endParaRPr lang="en-US" dirty="0"/>
          </a:p>
        </p:txBody>
      </p:sp>
      <p:sp>
        <p:nvSpPr>
          <p:cNvPr id="4" name="Slide Number Placeholder 3"/>
          <p:cNvSpPr>
            <a:spLocks noGrp="1"/>
          </p:cNvSpPr>
          <p:nvPr>
            <p:ph type="sldNum" sz="quarter" idx="10"/>
          </p:nvPr>
        </p:nvSpPr>
        <p:spPr/>
        <p:txBody>
          <a:bodyPr/>
          <a:lstStyle/>
          <a:p>
            <a:fld id="{F71A1DE6-A801-4746-9FC0-8352D20A3103}" type="slidenum">
              <a:rPr lang="en-US" smtClean="0"/>
              <a:t>3</a:t>
            </a:fld>
            <a:endParaRPr lang="en-US"/>
          </a:p>
        </p:txBody>
      </p:sp>
    </p:spTree>
    <p:extLst>
      <p:ext uri="{BB962C8B-B14F-4D97-AF65-F5344CB8AC3E}">
        <p14:creationId xmlns:p14="http://schemas.microsoft.com/office/powerpoint/2010/main" val="5452199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C77EA2CC-FABD-466D-82E8-AC953C7EC0CC}" type="slidenum">
              <a:rPr lang="en-US" smtClean="0"/>
              <a:t>10</a:t>
            </a:fld>
            <a:endParaRPr lang="en-US"/>
          </a:p>
        </p:txBody>
      </p:sp>
    </p:spTree>
    <p:extLst>
      <p:ext uri="{BB962C8B-B14F-4D97-AF65-F5344CB8AC3E}">
        <p14:creationId xmlns:p14="http://schemas.microsoft.com/office/powerpoint/2010/main" val="40873288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7BBB5D1-B60B-4B38-B17E-7765EA145201}"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884090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7BBB5D1-B60B-4B38-B17E-7765EA145201}"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16220346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7BBB5D1-B60B-4B38-B17E-7765EA145201}"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346888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7BBB5D1-B60B-4B38-B17E-7765EA145201}" type="datetimeFigureOut">
              <a:rPr lang="en-US" smtClean="0"/>
              <a:t>3/30/2026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39443962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7BBB5D1-B60B-4B38-B17E-7765EA145201}" type="datetimeFigureOut">
              <a:rPr lang="en-US" smtClean="0"/>
              <a:t>3/30/2026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2022342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7BBB5D1-B60B-4B38-B17E-7765EA145201}" type="datetimeFigureOut">
              <a:rPr lang="en-US" smtClean="0"/>
              <a:t>3/30/2026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33620848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BBB5D1-B60B-4B38-B17E-7765EA145201}" type="datetimeFigureOut">
              <a:rPr lang="en-US" smtClean="0"/>
              <a:t>3/30/2026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562924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7BBB5D1-B60B-4B38-B17E-7765EA145201}" type="datetimeFigureOut">
              <a:rPr lang="en-US" smtClean="0"/>
              <a:t>3/30/2026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2775841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7BBB5D1-B60B-4B38-B17E-7765EA145201}" type="datetimeFigureOut">
              <a:rPr lang="en-US" smtClean="0"/>
              <a:t>3/30/2026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2201192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7BBB5D1-B60B-4B38-B17E-7765EA145201}"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1073669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7BBB5D1-B60B-4B38-B17E-7765EA145201}"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29795665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BBB5D1-B60B-4B38-B17E-7765EA145201}" type="datetimeFigureOut">
              <a:rPr lang="en-US" smtClean="0"/>
              <a:t>3/30/2026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F42857-403A-4A86-BF79-9A4C4603A143}" type="slidenum">
              <a:rPr lang="en-US" smtClean="0"/>
              <a:t>‹#›</a:t>
            </a:fld>
            <a:endParaRPr lang="en-US"/>
          </a:p>
        </p:txBody>
      </p:sp>
    </p:spTree>
    <p:extLst>
      <p:ext uri="{BB962C8B-B14F-4D97-AF65-F5344CB8AC3E}">
        <p14:creationId xmlns:p14="http://schemas.microsoft.com/office/powerpoint/2010/main" val="26558989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pn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p:cNvGrpSpPr/>
          <p:nvPr/>
        </p:nvGrpSpPr>
        <p:grpSpPr>
          <a:xfrm>
            <a:off x="2167072" y="4456540"/>
            <a:ext cx="1211113" cy="516834"/>
            <a:chOff x="2583409" y="5680788"/>
            <a:chExt cx="1211113" cy="516834"/>
          </a:xfrm>
        </p:grpSpPr>
        <p:sp>
          <p:nvSpPr>
            <p:cNvPr id="4" name="Pie 3"/>
            <p:cNvSpPr/>
            <p:nvPr/>
          </p:nvSpPr>
          <p:spPr>
            <a:xfrm>
              <a:off x="2583409" y="5680788"/>
              <a:ext cx="755878" cy="516834"/>
            </a:xfrm>
            <a:prstGeom prst="pie">
              <a:avLst>
                <a:gd name="adj1" fmla="val 5400000"/>
                <a:gd name="adj2" fmla="val 16200000"/>
              </a:avLst>
            </a:pr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sp>
        <p:sp>
          <p:nvSpPr>
            <p:cNvPr id="30" name="Pie 29"/>
            <p:cNvSpPr/>
            <p:nvPr/>
          </p:nvSpPr>
          <p:spPr>
            <a:xfrm rot="10800000">
              <a:off x="3088581" y="5680788"/>
              <a:ext cx="705941" cy="516834"/>
            </a:xfrm>
            <a:prstGeom prst="pie">
              <a:avLst>
                <a:gd name="adj1" fmla="val 5400000"/>
                <a:gd name="adj2" fmla="val 16200000"/>
              </a:avLst>
            </a:pr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sp>
      </p:grpSp>
      <p:grpSp>
        <p:nvGrpSpPr>
          <p:cNvPr id="20" name="Group 19"/>
          <p:cNvGrpSpPr/>
          <p:nvPr/>
        </p:nvGrpSpPr>
        <p:grpSpPr>
          <a:xfrm>
            <a:off x="54496" y="359621"/>
            <a:ext cx="4804363" cy="2463094"/>
            <a:chOff x="54496" y="359621"/>
            <a:chExt cx="4804363" cy="2463094"/>
          </a:xfrm>
        </p:grpSpPr>
        <p:pic>
          <p:nvPicPr>
            <p:cNvPr id="19" name="Picture 18"/>
            <p:cNvPicPr>
              <a:picLocks noChangeAspect="1"/>
            </p:cNvPicPr>
            <p:nvPr/>
          </p:nvPicPr>
          <p:blipFill>
            <a:blip r:embed="rId3"/>
            <a:stretch>
              <a:fillRect/>
            </a:stretch>
          </p:blipFill>
          <p:spPr>
            <a:xfrm>
              <a:off x="235105" y="1901987"/>
              <a:ext cx="3104181" cy="263526"/>
            </a:xfrm>
            <a:prstGeom prst="rect">
              <a:avLst/>
            </a:prstGeom>
          </p:spPr>
        </p:pic>
        <p:sp>
          <p:nvSpPr>
            <p:cNvPr id="6" name="Title 4">
              <a:extLst>
                <a:ext uri="{FF2B5EF4-FFF2-40B4-BE49-F238E27FC236}">
                  <a16:creationId xmlns:a16="http://schemas.microsoft.com/office/drawing/2014/main" id="{27228BAE-048B-681E-DD8D-BD96B22560E0}"/>
                </a:ext>
              </a:extLst>
            </p:cNvPr>
            <p:cNvSpPr txBox="1">
              <a:spLocks/>
            </p:cNvSpPr>
            <p:nvPr/>
          </p:nvSpPr>
          <p:spPr>
            <a:xfrm>
              <a:off x="54496" y="1922610"/>
              <a:ext cx="4804363" cy="900105"/>
            </a:xfrm>
            <a:prstGeom prst="rect">
              <a:avLst/>
            </a:prstGeom>
          </p:spPr>
          <p:txBody>
            <a:bodyPr vert="horz" lIns="91440" tIns="45720" rIns="91440" bIns="45720" rtlCol="0" anchor="b">
              <a:normAutofit fontScale="9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dirty="0" smtClean="0">
                  <a:solidFill>
                    <a:schemeClr val="accent1">
                      <a:lumMod val="75000"/>
                    </a:schemeClr>
                  </a:solidFill>
                </a:rPr>
                <a:t>Computer </a:t>
              </a:r>
              <a:r>
                <a:rPr lang="en-US" dirty="0" smtClean="0">
                  <a:solidFill>
                    <a:srgbClr val="00B0F0"/>
                  </a:solidFill>
                </a:rPr>
                <a:t>Vision</a:t>
              </a:r>
              <a:endParaRPr lang="en-US" dirty="0">
                <a:solidFill>
                  <a:srgbClr val="00B0F0"/>
                </a:solidFill>
              </a:endParaRPr>
            </a:p>
          </p:txBody>
        </p:sp>
        <p:grpSp>
          <p:nvGrpSpPr>
            <p:cNvPr id="7" name="Group 6">
              <a:extLst>
                <a:ext uri="{FF2B5EF4-FFF2-40B4-BE49-F238E27FC236}">
                  <a16:creationId xmlns:a16="http://schemas.microsoft.com/office/drawing/2014/main" id="{2AABCB87-2ECC-4C03-B5BB-6EE11C8A4485}"/>
                </a:ext>
              </a:extLst>
            </p:cNvPr>
            <p:cNvGrpSpPr/>
            <p:nvPr/>
          </p:nvGrpSpPr>
          <p:grpSpPr>
            <a:xfrm>
              <a:off x="89638" y="359621"/>
              <a:ext cx="3064025" cy="1516520"/>
              <a:chOff x="4853562" y="1589418"/>
              <a:chExt cx="2609520" cy="1291565"/>
            </a:xfrm>
          </p:grpSpPr>
          <p:sp>
            <p:nvSpPr>
              <p:cNvPr id="8" name="Freeform 7">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a:solidFill>
                    <a:schemeClr val="tx1"/>
                  </a:solidFill>
                </a:endParaRPr>
              </a:p>
            </p:txBody>
          </p:sp>
          <p:sp>
            <p:nvSpPr>
              <p:cNvPr id="9" name="Freeform 8">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dirty="0">
                  <a:solidFill>
                    <a:schemeClr val="tx1"/>
                  </a:solidFill>
                </a:endParaRPr>
              </a:p>
            </p:txBody>
          </p:sp>
        </p:grpSp>
        <p:grpSp>
          <p:nvGrpSpPr>
            <p:cNvPr id="10" name="Group 9">
              <a:extLst>
                <a:ext uri="{FF2B5EF4-FFF2-40B4-BE49-F238E27FC236}">
                  <a16:creationId xmlns:a16="http://schemas.microsoft.com/office/drawing/2014/main" id="{AB8BC7BC-BF58-402E-9A69-AA9226DE7CAA}"/>
                </a:ext>
              </a:extLst>
            </p:cNvPr>
            <p:cNvGrpSpPr/>
            <p:nvPr/>
          </p:nvGrpSpPr>
          <p:grpSpPr>
            <a:xfrm>
              <a:off x="1356703" y="883096"/>
              <a:ext cx="1334145" cy="620384"/>
              <a:chOff x="7729280" y="2195997"/>
              <a:chExt cx="2143740" cy="996849"/>
            </a:xfrm>
            <a:solidFill>
              <a:schemeClr val="accent6"/>
            </a:solidFill>
          </p:grpSpPr>
          <p:sp>
            <p:nvSpPr>
              <p:cNvPr id="11" name="Freeform: Shape 66">
                <a:extLst>
                  <a:ext uri="{FF2B5EF4-FFF2-40B4-BE49-F238E27FC236}">
                    <a16:creationId xmlns:a16="http://schemas.microsoft.com/office/drawing/2014/main" id="{2A081543-B9FF-49B1-8EEF-ABDF5438EDCD}"/>
                  </a:ext>
                </a:extLst>
              </p:cNvPr>
              <p:cNvSpPr/>
              <p:nvPr/>
            </p:nvSpPr>
            <p:spPr>
              <a:xfrm>
                <a:off x="7729280" y="2195997"/>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dirty="0"/>
              </a:p>
            </p:txBody>
          </p:sp>
          <p:sp>
            <p:nvSpPr>
              <p:cNvPr id="12" name="Freeform: Shape 67">
                <a:extLst>
                  <a:ext uri="{FF2B5EF4-FFF2-40B4-BE49-F238E27FC236}">
                    <a16:creationId xmlns:a16="http://schemas.microsoft.com/office/drawing/2014/main" id="{275D1FAA-C13F-4A6B-BA37-7704CFB7ADCD}"/>
                  </a:ext>
                </a:extLst>
              </p:cNvPr>
              <p:cNvSpPr/>
              <p:nvPr/>
            </p:nvSpPr>
            <p:spPr>
              <a:xfrm>
                <a:off x="8421007" y="2543552"/>
                <a:ext cx="443936" cy="326800"/>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14" name="Subtitle 2">
              <a:extLst>
                <a:ext uri="{FF2B5EF4-FFF2-40B4-BE49-F238E27FC236}">
                  <a16:creationId xmlns:a16="http://schemas.microsoft.com/office/drawing/2014/main" id="{53858C97-DA2F-8866-47CC-CDF4077BBF9D}"/>
                </a:ext>
              </a:extLst>
            </p:cNvPr>
            <p:cNvSpPr txBox="1">
              <a:spLocks/>
            </p:cNvSpPr>
            <p:nvPr/>
          </p:nvSpPr>
          <p:spPr>
            <a:xfrm>
              <a:off x="1727403" y="1099395"/>
              <a:ext cx="729275" cy="203382"/>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smtClean="0">
                  <a:solidFill>
                    <a:srgbClr val="7030A0"/>
                  </a:solidFill>
                </a:rPr>
                <a:t>PDS</a:t>
              </a:r>
              <a:endParaRPr lang="en-US" sz="1600" dirty="0">
                <a:solidFill>
                  <a:srgbClr val="7030A0"/>
                </a:solidFill>
              </a:endParaRPr>
            </a:p>
          </p:txBody>
        </p:sp>
        <p:sp>
          <p:nvSpPr>
            <p:cNvPr id="17" name="Title 4">
              <a:extLst>
                <a:ext uri="{FF2B5EF4-FFF2-40B4-BE49-F238E27FC236}">
                  <a16:creationId xmlns:a16="http://schemas.microsoft.com/office/drawing/2014/main" id="{27228BAE-048B-681E-DD8D-BD96B22560E0}"/>
                </a:ext>
              </a:extLst>
            </p:cNvPr>
            <p:cNvSpPr txBox="1">
              <a:spLocks/>
            </p:cNvSpPr>
            <p:nvPr/>
          </p:nvSpPr>
          <p:spPr>
            <a:xfrm>
              <a:off x="788714" y="1452073"/>
              <a:ext cx="938689" cy="470538"/>
            </a:xfrm>
            <a:prstGeom prst="rect">
              <a:avLst/>
            </a:prstGeom>
            <a:solidFill>
              <a:schemeClr val="bg1"/>
            </a:solidFill>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800" dirty="0" smtClean="0">
                  <a:solidFill>
                    <a:schemeClr val="accent5">
                      <a:lumMod val="50000"/>
                    </a:schemeClr>
                  </a:solidFill>
                </a:rPr>
                <a:t>SDN</a:t>
              </a:r>
              <a:endParaRPr lang="en-US" sz="2800" dirty="0">
                <a:solidFill>
                  <a:schemeClr val="accent5">
                    <a:lumMod val="50000"/>
                  </a:schemeClr>
                </a:solidFill>
              </a:endParaRPr>
            </a:p>
          </p:txBody>
        </p:sp>
        <p:sp>
          <p:nvSpPr>
            <p:cNvPr id="18" name="Title 4">
              <a:extLst>
                <a:ext uri="{FF2B5EF4-FFF2-40B4-BE49-F238E27FC236}">
                  <a16:creationId xmlns:a16="http://schemas.microsoft.com/office/drawing/2014/main" id="{27228BAE-048B-681E-DD8D-BD96B22560E0}"/>
                </a:ext>
              </a:extLst>
            </p:cNvPr>
            <p:cNvSpPr txBox="1">
              <a:spLocks/>
            </p:cNvSpPr>
            <p:nvPr/>
          </p:nvSpPr>
          <p:spPr>
            <a:xfrm>
              <a:off x="1449719" y="1352665"/>
              <a:ext cx="928870" cy="581223"/>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800" dirty="0" smtClean="0">
                  <a:solidFill>
                    <a:schemeClr val="accent1">
                      <a:lumMod val="75000"/>
                    </a:schemeClr>
                  </a:solidFill>
                </a:rPr>
                <a:t>NFV</a:t>
              </a:r>
              <a:endParaRPr lang="en-US" sz="2800" dirty="0">
                <a:solidFill>
                  <a:schemeClr val="accent1">
                    <a:lumMod val="75000"/>
                  </a:schemeClr>
                </a:solidFill>
              </a:endParaRPr>
            </a:p>
          </p:txBody>
        </p:sp>
      </p:grpSp>
      <p:sp>
        <p:nvSpPr>
          <p:cNvPr id="22" name="Rectangle 21"/>
          <p:cNvSpPr/>
          <p:nvPr/>
        </p:nvSpPr>
        <p:spPr>
          <a:xfrm>
            <a:off x="9507866" y="6056142"/>
            <a:ext cx="2613761" cy="230832"/>
          </a:xfrm>
          <a:prstGeom prst="rect">
            <a:avLst/>
          </a:prstGeom>
        </p:spPr>
        <p:txBody>
          <a:bodyPr wrap="square">
            <a:spAutoFit/>
          </a:bodyPr>
          <a:lstStyle/>
          <a:p>
            <a:r>
              <a:rPr lang="en-US" sz="900" dirty="0"/>
              <a:t>https://www.youtube.com/@AmelOline/videos</a:t>
            </a:r>
          </a:p>
        </p:txBody>
      </p:sp>
      <p:sp>
        <p:nvSpPr>
          <p:cNvPr id="23" name="Rectangle 22"/>
          <p:cNvSpPr/>
          <p:nvPr/>
        </p:nvSpPr>
        <p:spPr>
          <a:xfrm>
            <a:off x="10344774" y="5917643"/>
            <a:ext cx="1623448" cy="230832"/>
          </a:xfrm>
          <a:prstGeom prst="rect">
            <a:avLst/>
          </a:prstGeom>
        </p:spPr>
        <p:txBody>
          <a:bodyPr wrap="square">
            <a:spAutoFit/>
          </a:bodyPr>
          <a:lstStyle/>
          <a:p>
            <a:r>
              <a:rPr lang="en-US" sz="900" dirty="0"/>
              <a:t>https://github.com/siagianp</a:t>
            </a:r>
          </a:p>
        </p:txBody>
      </p:sp>
      <p:sp>
        <p:nvSpPr>
          <p:cNvPr id="24" name="Rectangle 23"/>
          <p:cNvSpPr/>
          <p:nvPr/>
        </p:nvSpPr>
        <p:spPr>
          <a:xfrm>
            <a:off x="8531473" y="6194642"/>
            <a:ext cx="3667194" cy="230832"/>
          </a:xfrm>
          <a:prstGeom prst="rect">
            <a:avLst/>
          </a:prstGeom>
        </p:spPr>
        <p:txBody>
          <a:bodyPr wrap="square">
            <a:spAutoFit/>
          </a:bodyPr>
          <a:lstStyle/>
          <a:p>
            <a:r>
              <a:rPr lang="en-US" sz="900" dirty="0"/>
              <a:t>https://github.com/amelcharolinesgn2/IoT_simulator-mqtt-NodeRed</a:t>
            </a:r>
          </a:p>
        </p:txBody>
      </p:sp>
      <p:sp>
        <p:nvSpPr>
          <p:cNvPr id="25" name="Rectangle 24"/>
          <p:cNvSpPr/>
          <p:nvPr/>
        </p:nvSpPr>
        <p:spPr>
          <a:xfrm>
            <a:off x="8977163" y="6333141"/>
            <a:ext cx="3204723" cy="230832"/>
          </a:xfrm>
          <a:prstGeom prst="rect">
            <a:avLst/>
          </a:prstGeom>
        </p:spPr>
        <p:txBody>
          <a:bodyPr wrap="none">
            <a:spAutoFit/>
          </a:bodyPr>
          <a:lstStyle/>
          <a:p>
            <a:r>
              <a:rPr lang="en-US" sz="900" dirty="0"/>
              <a:t>https://github.com/amelcharolinesgn2/Cloud-Infrastructures</a:t>
            </a:r>
          </a:p>
        </p:txBody>
      </p:sp>
      <p:sp>
        <p:nvSpPr>
          <p:cNvPr id="26" name="Rectangle 25"/>
          <p:cNvSpPr/>
          <p:nvPr/>
        </p:nvSpPr>
        <p:spPr>
          <a:xfrm>
            <a:off x="8444566" y="6506265"/>
            <a:ext cx="3839513" cy="230832"/>
          </a:xfrm>
          <a:prstGeom prst="rect">
            <a:avLst/>
          </a:prstGeom>
        </p:spPr>
        <p:txBody>
          <a:bodyPr wrap="none">
            <a:spAutoFit/>
          </a:bodyPr>
          <a:lstStyle/>
          <a:p>
            <a:r>
              <a:rPr lang="en-US" sz="900" dirty="0"/>
              <a:t>https://github.com/amelcharolinesgn2/ClouD-Infrastructure-SISKA-2025</a:t>
            </a:r>
          </a:p>
        </p:txBody>
      </p:sp>
      <p:sp>
        <p:nvSpPr>
          <p:cNvPr id="2" name="Rectangle 1"/>
          <p:cNvSpPr/>
          <p:nvPr/>
        </p:nvSpPr>
        <p:spPr>
          <a:xfrm>
            <a:off x="2456677" y="4471172"/>
            <a:ext cx="684803" cy="369332"/>
          </a:xfrm>
          <a:prstGeom prst="rect">
            <a:avLst/>
          </a:prstGeom>
        </p:spPr>
        <p:txBody>
          <a:bodyPr wrap="none">
            <a:spAutoFit/>
          </a:bodyPr>
          <a:lstStyle/>
          <a:p>
            <a:r>
              <a:rPr lang="en-US" dirty="0" smtClean="0"/>
              <a:t>Lab 4</a:t>
            </a:r>
            <a:endParaRPr lang="en-US" dirty="0"/>
          </a:p>
        </p:txBody>
      </p:sp>
      <p:graphicFrame>
        <p:nvGraphicFramePr>
          <p:cNvPr id="28" name="Diagram 27"/>
          <p:cNvGraphicFramePr/>
          <p:nvPr>
            <p:extLst>
              <p:ext uri="{D42A27DB-BD31-4B8C-83A1-F6EECF244321}">
                <p14:modId xmlns:p14="http://schemas.microsoft.com/office/powerpoint/2010/main" val="1666572728"/>
              </p:ext>
            </p:extLst>
          </p:nvPr>
        </p:nvGraphicFramePr>
        <p:xfrm>
          <a:off x="2063477" y="3542141"/>
          <a:ext cx="8712579" cy="91439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9" name="Pie 28"/>
          <p:cNvSpPr/>
          <p:nvPr/>
        </p:nvSpPr>
        <p:spPr>
          <a:xfrm rot="10800000">
            <a:off x="10318857" y="3530994"/>
            <a:ext cx="914399" cy="914399"/>
          </a:xfrm>
          <a:prstGeom prst="pie">
            <a:avLst>
              <a:gd name="adj1" fmla="val 5400000"/>
              <a:gd name="adj2" fmla="val 16200000"/>
            </a:avLst>
          </a:prstGeom>
          <a:solidFill>
            <a:schemeClr val="accent2"/>
          </a:solidFill>
          <a:ln/>
        </p:spPr>
        <p:style>
          <a:lnRef idx="2">
            <a:schemeClr val="accent2"/>
          </a:lnRef>
          <a:fillRef idx="1">
            <a:schemeClr val="lt1"/>
          </a:fillRef>
          <a:effectRef idx="0">
            <a:schemeClr val="accent2"/>
          </a:effectRef>
          <a:fontRef idx="minor">
            <a:schemeClr val="dk1"/>
          </a:fontRef>
        </p:style>
      </p:sp>
    </p:spTree>
    <p:extLst>
      <p:ext uri="{BB962C8B-B14F-4D97-AF65-F5344CB8AC3E}">
        <p14:creationId xmlns:p14="http://schemas.microsoft.com/office/powerpoint/2010/main" val="386400268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Diagram 7"/>
          <p:cNvGraphicFramePr/>
          <p:nvPr>
            <p:extLst>
              <p:ext uri="{D42A27DB-BD31-4B8C-83A1-F6EECF244321}">
                <p14:modId xmlns:p14="http://schemas.microsoft.com/office/powerpoint/2010/main" val="80318245"/>
              </p:ext>
            </p:extLst>
          </p:nvPr>
        </p:nvGraphicFramePr>
        <p:xfrm>
          <a:off x="1368997" y="2688331"/>
          <a:ext cx="8712579" cy="9143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Pie 8"/>
          <p:cNvSpPr/>
          <p:nvPr/>
        </p:nvSpPr>
        <p:spPr>
          <a:xfrm rot="10600249">
            <a:off x="9663067" y="2669608"/>
            <a:ext cx="914399" cy="914399"/>
          </a:xfrm>
          <a:prstGeom prst="pie">
            <a:avLst>
              <a:gd name="adj1" fmla="val 5400000"/>
              <a:gd name="adj2" fmla="val 16200000"/>
            </a:avLst>
          </a:prstGeom>
          <a:solidFill>
            <a:schemeClr val="accent2"/>
          </a:solidFill>
          <a:ln/>
        </p:spPr>
        <p:style>
          <a:lnRef idx="2">
            <a:schemeClr val="accent2"/>
          </a:lnRef>
          <a:fillRef idx="1">
            <a:schemeClr val="lt1"/>
          </a:fillRef>
          <a:effectRef idx="0">
            <a:schemeClr val="accent2"/>
          </a:effectRef>
          <a:fontRef idx="minor">
            <a:schemeClr val="dk1"/>
          </a:fontRef>
        </p:style>
      </p:sp>
    </p:spTree>
    <p:extLst>
      <p:ext uri="{BB962C8B-B14F-4D97-AF65-F5344CB8AC3E}">
        <p14:creationId xmlns:p14="http://schemas.microsoft.com/office/powerpoint/2010/main" val="154397072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DHCP</a:t>
            </a:r>
            <a:endParaRPr lang="en-US" dirty="0"/>
          </a:p>
        </p:txBody>
      </p:sp>
      <p:sp>
        <p:nvSpPr>
          <p:cNvPr id="3" name="Content Placeholder 2"/>
          <p:cNvSpPr>
            <a:spLocks noGrp="1"/>
          </p:cNvSpPr>
          <p:nvPr>
            <p:ph idx="1"/>
          </p:nvPr>
        </p:nvSpPr>
        <p:spPr>
          <a:xfrm>
            <a:off x="838200" y="1573358"/>
            <a:ext cx="10515600" cy="4351338"/>
          </a:xfrm>
        </p:spPr>
        <p:txBody>
          <a:bodyPr>
            <a:normAutofit fontScale="62500" lnSpcReduction="20000"/>
          </a:bodyPr>
          <a:lstStyle/>
          <a:p>
            <a:pPr marL="0" indent="0" algn="just">
              <a:buNone/>
            </a:pPr>
            <a:r>
              <a:rPr lang="id-ID" dirty="0"/>
              <a:t>DHCP (Dynamic Configuration Protocol) </a:t>
            </a:r>
            <a:r>
              <a:rPr lang="id-ID" sz="3400" dirty="0"/>
              <a:t>adalah layanan yang secara otomatis memberikan nomor IP kepada komputer yang memintanya. Komputer yang memberikan nomor IP disebut sebagai </a:t>
            </a:r>
            <a:r>
              <a:rPr lang="id-ID" sz="3400" b="1" i="1" dirty="0"/>
              <a:t>DHCP server</a:t>
            </a:r>
            <a:r>
              <a:rPr lang="id-ID" sz="3400" dirty="0"/>
              <a:t>, sedangkan komputer yang meminta nomor IP disebut sebagai DHCP Client. Dengan demikian administrator tidak perlu lagi harus memberikan nomor IP secara manual pada saat konfigurasi TCP/IP, tapi cukup dengan memberikan referensi kepada DHCP Server. </a:t>
            </a:r>
          </a:p>
          <a:p>
            <a:pPr marL="0" indent="0" algn="just">
              <a:buNone/>
            </a:pPr>
            <a:r>
              <a:rPr lang="id-ID" sz="3400" dirty="0"/>
              <a:t>Pada saat kedua DHCP client dihidupkan, maka komputer tersebut melakukan request ke DHCP-Server untuk mendapatkan nomor IP. DHCP menjawab dengan memberikan nomor IP yang ada di database DHCP. Setelah DHCP Server memberikan nomor IP, maka server meminjamkan (lease) nomor IP yang ada ke DHCP-Client dan mencoret nomor IP tersebut dari daftar pool. Nomor IP diberikan bersama dengan subnet mask dan default gateway. Jika tidak ada lagi nomor IP yang dapat diberikan, maka client tidak dapat menginisialisasi TCP/IP, dengan sendirinya tidak dapat tersambung pada jaringan tersebut. Setelah periode waktu tertentu, maka pemakaian DHCP Client tersebut dinyatakan selesai dan client tidak memperbaharui permintaan kembali, maka nomor IP tersebut dikembalikan kepada DHCP Server, dan server dapat memberikan nomor IP tersebut kepada Client yang membutuhkan. Lama periode ini dapat ditentukan dalam menit, jam, bulan atau selamanya. Jangka waktu disebut </a:t>
            </a:r>
            <a:r>
              <a:rPr lang="id-ID" sz="3400" i="1" dirty="0"/>
              <a:t>leased period</a:t>
            </a:r>
            <a:endParaRPr lang="id-ID" sz="3400" dirty="0"/>
          </a:p>
          <a:p>
            <a:pPr marL="0" indent="0">
              <a:buNone/>
            </a:pPr>
            <a:endParaRPr lang="en-US" dirty="0"/>
          </a:p>
        </p:txBody>
      </p:sp>
      <p:sp>
        <p:nvSpPr>
          <p:cNvPr id="4" name="Pie 3"/>
          <p:cNvSpPr/>
          <p:nvPr/>
        </p:nvSpPr>
        <p:spPr>
          <a:xfrm>
            <a:off x="483745" y="769489"/>
            <a:ext cx="755878" cy="516834"/>
          </a:xfrm>
          <a:prstGeom prst="pie">
            <a:avLst>
              <a:gd name="adj1" fmla="val 5400000"/>
              <a:gd name="adj2" fmla="val 16200000"/>
            </a:avLst>
          </a:pr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sp>
      <p:sp>
        <p:nvSpPr>
          <p:cNvPr id="5" name="Pie 4"/>
          <p:cNvSpPr/>
          <p:nvPr/>
        </p:nvSpPr>
        <p:spPr>
          <a:xfrm rot="10800000">
            <a:off x="1924099" y="769489"/>
            <a:ext cx="705941" cy="516834"/>
          </a:xfrm>
          <a:prstGeom prst="pie">
            <a:avLst>
              <a:gd name="adj1" fmla="val 5400000"/>
              <a:gd name="adj2" fmla="val 16200000"/>
            </a:avLst>
          </a:pr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sp>
    </p:spTree>
    <p:extLst>
      <p:ext uri="{BB962C8B-B14F-4D97-AF65-F5344CB8AC3E}">
        <p14:creationId xmlns:p14="http://schemas.microsoft.com/office/powerpoint/2010/main" val="98649002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80109" y="397363"/>
            <a:ext cx="10781115" cy="923330"/>
          </a:xfrm>
          <a:prstGeom prst="rect">
            <a:avLst/>
          </a:prstGeom>
        </p:spPr>
        <p:txBody>
          <a:bodyPr wrap="square">
            <a:spAutoFit/>
          </a:bodyPr>
          <a:lstStyle/>
          <a:p>
            <a:r>
              <a:rPr lang="en-US" dirty="0" smtClean="0"/>
              <a:t>1. </a:t>
            </a:r>
            <a:r>
              <a:rPr lang="en-US" dirty="0" err="1" smtClean="0"/>
              <a:t>Instalasi</a:t>
            </a:r>
            <a:r>
              <a:rPr lang="en-US" dirty="0" smtClean="0"/>
              <a:t> </a:t>
            </a:r>
            <a:r>
              <a:rPr lang="en-US" dirty="0"/>
              <a:t>DHCP Server (</a:t>
            </a:r>
            <a:r>
              <a:rPr lang="en-US" dirty="0" err="1"/>
              <a:t>isc</a:t>
            </a:r>
            <a:r>
              <a:rPr lang="en-US" dirty="0"/>
              <a:t>-</a:t>
            </a:r>
            <a:r>
              <a:rPr lang="en-US" dirty="0" err="1"/>
              <a:t>dhcp</a:t>
            </a:r>
            <a:r>
              <a:rPr lang="en-US" dirty="0"/>
              <a:t>-server)</a:t>
            </a:r>
          </a:p>
          <a:p>
            <a:pPr algn="just"/>
            <a:r>
              <a:rPr lang="en-US" dirty="0" err="1"/>
              <a:t>isc</a:t>
            </a:r>
            <a:r>
              <a:rPr lang="en-US" dirty="0"/>
              <a:t>-</a:t>
            </a:r>
            <a:r>
              <a:rPr lang="en-US" dirty="0" err="1"/>
              <a:t>dhcp</a:t>
            </a:r>
            <a:r>
              <a:rPr lang="en-US" dirty="0"/>
              <a:t>-server </a:t>
            </a:r>
            <a:r>
              <a:rPr lang="en-US" dirty="0" err="1"/>
              <a:t>merupakan</a:t>
            </a:r>
            <a:r>
              <a:rPr lang="en-US" dirty="0"/>
              <a:t> </a:t>
            </a:r>
            <a:r>
              <a:rPr lang="en-US" dirty="0" err="1"/>
              <a:t>salah</a:t>
            </a:r>
            <a:r>
              <a:rPr lang="en-US" dirty="0"/>
              <a:t> </a:t>
            </a:r>
            <a:r>
              <a:rPr lang="en-US" dirty="0" err="1"/>
              <a:t>satu</a:t>
            </a:r>
            <a:r>
              <a:rPr lang="en-US" dirty="0"/>
              <a:t> </a:t>
            </a:r>
            <a:r>
              <a:rPr lang="en-US" dirty="0" err="1"/>
              <a:t>layanan</a:t>
            </a:r>
            <a:r>
              <a:rPr lang="en-US" dirty="0"/>
              <a:t> service DHCP Server yang </a:t>
            </a:r>
            <a:r>
              <a:rPr lang="en-US" dirty="0" err="1"/>
              <a:t>begitu</a:t>
            </a:r>
            <a:r>
              <a:rPr lang="en-US" dirty="0"/>
              <a:t> </a:t>
            </a:r>
            <a:r>
              <a:rPr lang="en-US" dirty="0" err="1"/>
              <a:t>populer</a:t>
            </a:r>
            <a:r>
              <a:rPr lang="en-US" dirty="0"/>
              <a:t> </a:t>
            </a:r>
            <a:r>
              <a:rPr lang="en-US" dirty="0" err="1"/>
              <a:t>dan</a:t>
            </a:r>
            <a:r>
              <a:rPr lang="en-US" dirty="0"/>
              <a:t> </a:t>
            </a:r>
            <a:r>
              <a:rPr lang="en-US" dirty="0" err="1"/>
              <a:t>banyak</a:t>
            </a:r>
            <a:r>
              <a:rPr lang="en-US" dirty="0"/>
              <a:t> </a:t>
            </a:r>
            <a:r>
              <a:rPr lang="en-US" dirty="0" err="1"/>
              <a:t>digunakan</a:t>
            </a:r>
            <a:r>
              <a:rPr lang="en-US" dirty="0"/>
              <a:t> </a:t>
            </a:r>
            <a:r>
              <a:rPr lang="en-US" dirty="0" err="1"/>
              <a:t>karena</a:t>
            </a:r>
            <a:r>
              <a:rPr lang="en-US" dirty="0"/>
              <a:t> </a:t>
            </a:r>
            <a:r>
              <a:rPr lang="en-US" dirty="0" err="1"/>
              <a:t>kemudahan</a:t>
            </a:r>
            <a:r>
              <a:rPr lang="en-US" dirty="0"/>
              <a:t> </a:t>
            </a:r>
            <a:r>
              <a:rPr lang="en-US" dirty="0" err="1"/>
              <a:t>dalam</a:t>
            </a:r>
            <a:r>
              <a:rPr lang="en-US" dirty="0"/>
              <a:t> </a:t>
            </a:r>
            <a:r>
              <a:rPr lang="en-US" dirty="0" err="1"/>
              <a:t>instalasi</a:t>
            </a:r>
            <a:r>
              <a:rPr lang="en-US" dirty="0"/>
              <a:t> </a:t>
            </a:r>
            <a:r>
              <a:rPr lang="en-US" dirty="0" err="1"/>
              <a:t>maupun</a:t>
            </a:r>
            <a:r>
              <a:rPr lang="en-US" dirty="0"/>
              <a:t> </a:t>
            </a:r>
            <a:r>
              <a:rPr lang="en-US" dirty="0" err="1"/>
              <a:t>konfigurasi</a:t>
            </a:r>
            <a:r>
              <a:rPr lang="en-US" dirty="0"/>
              <a:t>.</a:t>
            </a:r>
          </a:p>
        </p:txBody>
      </p:sp>
      <p:sp>
        <p:nvSpPr>
          <p:cNvPr id="5" name="Rectangle 4"/>
          <p:cNvSpPr/>
          <p:nvPr/>
        </p:nvSpPr>
        <p:spPr>
          <a:xfrm>
            <a:off x="561300" y="1748043"/>
            <a:ext cx="3089179" cy="369332"/>
          </a:xfrm>
          <a:prstGeom prst="rect">
            <a:avLst/>
          </a:prstGeom>
        </p:spPr>
        <p:txBody>
          <a:bodyPr wrap="none">
            <a:spAutoFit/>
          </a:bodyPr>
          <a:lstStyle/>
          <a:p>
            <a:r>
              <a:rPr lang="en-US" dirty="0" err="1"/>
              <a:t>sudo</a:t>
            </a:r>
            <a:r>
              <a:rPr lang="en-US" dirty="0"/>
              <a:t> apt install </a:t>
            </a:r>
            <a:r>
              <a:rPr lang="en-US" dirty="0" err="1"/>
              <a:t>isc</a:t>
            </a:r>
            <a:r>
              <a:rPr lang="en-US" dirty="0"/>
              <a:t>-</a:t>
            </a:r>
            <a:r>
              <a:rPr lang="en-US" dirty="0" err="1"/>
              <a:t>dhcp</a:t>
            </a:r>
            <a:r>
              <a:rPr lang="en-US" dirty="0"/>
              <a:t>-server</a:t>
            </a:r>
          </a:p>
        </p:txBody>
      </p:sp>
      <p:sp>
        <p:nvSpPr>
          <p:cNvPr id="6" name="Rectangle 5"/>
          <p:cNvSpPr/>
          <p:nvPr/>
        </p:nvSpPr>
        <p:spPr>
          <a:xfrm>
            <a:off x="180110" y="2166325"/>
            <a:ext cx="10688518" cy="1477328"/>
          </a:xfrm>
          <a:prstGeom prst="rect">
            <a:avLst/>
          </a:prstGeom>
        </p:spPr>
        <p:txBody>
          <a:bodyPr wrap="square">
            <a:spAutoFit/>
          </a:bodyPr>
          <a:lstStyle/>
          <a:p>
            <a:pPr algn="just"/>
            <a:r>
              <a:rPr lang="en-US" dirty="0" smtClean="0"/>
              <a:t>2. </a:t>
            </a:r>
            <a:r>
              <a:rPr lang="en-US" dirty="0" err="1" smtClean="0"/>
              <a:t>Konfigurasi</a:t>
            </a:r>
            <a:r>
              <a:rPr lang="en-US" dirty="0" smtClean="0"/>
              <a:t> </a:t>
            </a:r>
            <a:r>
              <a:rPr lang="en-US" dirty="0"/>
              <a:t>DHCP Server (</a:t>
            </a:r>
            <a:r>
              <a:rPr lang="en-US" dirty="0" err="1"/>
              <a:t>isc</a:t>
            </a:r>
            <a:r>
              <a:rPr lang="en-US" dirty="0"/>
              <a:t>-</a:t>
            </a:r>
            <a:r>
              <a:rPr lang="en-US" dirty="0" err="1"/>
              <a:t>dhcp</a:t>
            </a:r>
            <a:r>
              <a:rPr lang="en-US" dirty="0"/>
              <a:t>-server)</a:t>
            </a:r>
          </a:p>
          <a:p>
            <a:pPr algn="just"/>
            <a:r>
              <a:rPr lang="en-US" dirty="0" err="1"/>
              <a:t>Setelah</a:t>
            </a:r>
            <a:r>
              <a:rPr lang="en-US" dirty="0"/>
              <a:t> </a:t>
            </a:r>
            <a:r>
              <a:rPr lang="en-US" dirty="0" err="1"/>
              <a:t>selesai</a:t>
            </a:r>
            <a:r>
              <a:rPr lang="en-US" dirty="0"/>
              <a:t> </a:t>
            </a:r>
            <a:r>
              <a:rPr lang="en-US" dirty="0" err="1"/>
              <a:t>dipasang</a:t>
            </a:r>
            <a:r>
              <a:rPr lang="en-US" dirty="0"/>
              <a:t> </a:t>
            </a:r>
            <a:r>
              <a:rPr lang="en-US" dirty="0" err="1"/>
              <a:t>isc</a:t>
            </a:r>
            <a:r>
              <a:rPr lang="en-US" dirty="0"/>
              <a:t>-</a:t>
            </a:r>
            <a:r>
              <a:rPr lang="en-US" dirty="0" err="1"/>
              <a:t>dhcp</a:t>
            </a:r>
            <a:r>
              <a:rPr lang="en-US" dirty="0"/>
              <a:t>-server </a:t>
            </a:r>
            <a:r>
              <a:rPr lang="en-US" dirty="0" err="1"/>
              <a:t>tidak</a:t>
            </a:r>
            <a:r>
              <a:rPr lang="en-US" dirty="0"/>
              <a:t> </a:t>
            </a:r>
            <a:r>
              <a:rPr lang="en-US" dirty="0" err="1"/>
              <a:t>langsung</a:t>
            </a:r>
            <a:r>
              <a:rPr lang="en-US" dirty="0"/>
              <a:t> </a:t>
            </a:r>
            <a:r>
              <a:rPr lang="en-US" dirty="0" err="1"/>
              <a:t>bisa</a:t>
            </a:r>
            <a:r>
              <a:rPr lang="en-US" dirty="0"/>
              <a:t> running, </a:t>
            </a:r>
            <a:r>
              <a:rPr lang="en-US" dirty="0" err="1"/>
              <a:t>dikarenakan</a:t>
            </a:r>
            <a:r>
              <a:rPr lang="en-US" dirty="0"/>
              <a:t> </a:t>
            </a:r>
            <a:r>
              <a:rPr lang="en-US" dirty="0" err="1"/>
              <a:t>kita</a:t>
            </a:r>
            <a:r>
              <a:rPr lang="en-US" dirty="0"/>
              <a:t> </a:t>
            </a:r>
            <a:r>
              <a:rPr lang="en-US" dirty="0" err="1"/>
              <a:t>juga</a:t>
            </a:r>
            <a:r>
              <a:rPr lang="en-US" dirty="0"/>
              <a:t> </a:t>
            </a:r>
            <a:r>
              <a:rPr lang="en-US" dirty="0" err="1"/>
              <a:t>harus</a:t>
            </a:r>
            <a:r>
              <a:rPr lang="en-US" dirty="0"/>
              <a:t> </a:t>
            </a:r>
            <a:r>
              <a:rPr lang="en-US" dirty="0" err="1"/>
              <a:t>melakukan</a:t>
            </a:r>
            <a:r>
              <a:rPr lang="en-US" dirty="0"/>
              <a:t> </a:t>
            </a:r>
            <a:r>
              <a:rPr lang="en-US" dirty="0" err="1"/>
              <a:t>sedikit</a:t>
            </a:r>
            <a:r>
              <a:rPr lang="en-US" dirty="0"/>
              <a:t> </a:t>
            </a:r>
            <a:r>
              <a:rPr lang="en-US" dirty="0" err="1"/>
              <a:t>konfigurasi</a:t>
            </a:r>
            <a:r>
              <a:rPr lang="en-US" dirty="0"/>
              <a:t>. </a:t>
            </a:r>
            <a:r>
              <a:rPr lang="en-US" dirty="0" err="1"/>
              <a:t>hal</a:t>
            </a:r>
            <a:r>
              <a:rPr lang="en-US" dirty="0"/>
              <a:t> </a:t>
            </a:r>
            <a:r>
              <a:rPr lang="en-US" dirty="0" err="1"/>
              <a:t>pertama</a:t>
            </a:r>
            <a:r>
              <a:rPr lang="en-US" dirty="0"/>
              <a:t> yang </a:t>
            </a:r>
            <a:r>
              <a:rPr lang="en-US" dirty="0" err="1"/>
              <a:t>harus</a:t>
            </a:r>
            <a:r>
              <a:rPr lang="en-US" dirty="0"/>
              <a:t> </a:t>
            </a:r>
            <a:r>
              <a:rPr lang="en-US" dirty="0" err="1"/>
              <a:t>diperhatikan</a:t>
            </a:r>
            <a:r>
              <a:rPr lang="en-US" dirty="0"/>
              <a:t> </a:t>
            </a:r>
            <a:r>
              <a:rPr lang="en-US" dirty="0" err="1"/>
              <a:t>adalah</a:t>
            </a:r>
            <a:r>
              <a:rPr lang="en-US" dirty="0"/>
              <a:t> </a:t>
            </a:r>
            <a:r>
              <a:rPr lang="en-US" dirty="0" err="1"/>
              <a:t>tentukan</a:t>
            </a:r>
            <a:r>
              <a:rPr lang="en-US" dirty="0"/>
              <a:t> </a:t>
            </a:r>
            <a:r>
              <a:rPr lang="en-US" dirty="0" err="1"/>
              <a:t>dulu</a:t>
            </a:r>
            <a:r>
              <a:rPr lang="en-US" dirty="0"/>
              <a:t> network interfaces </a:t>
            </a:r>
            <a:r>
              <a:rPr lang="en-US" dirty="0" err="1"/>
              <a:t>dan</a:t>
            </a:r>
            <a:r>
              <a:rPr lang="en-US" dirty="0"/>
              <a:t> network address yang </a:t>
            </a:r>
            <a:r>
              <a:rPr lang="en-US" dirty="0" err="1"/>
              <a:t>nantinya</a:t>
            </a:r>
            <a:r>
              <a:rPr lang="en-US" dirty="0"/>
              <a:t> </a:t>
            </a:r>
            <a:r>
              <a:rPr lang="en-US" dirty="0" err="1"/>
              <a:t>akan</a:t>
            </a:r>
            <a:r>
              <a:rPr lang="en-US" dirty="0"/>
              <a:t> </a:t>
            </a:r>
            <a:r>
              <a:rPr lang="en-US" dirty="0" err="1"/>
              <a:t>dibuatkan</a:t>
            </a:r>
            <a:r>
              <a:rPr lang="en-US" dirty="0"/>
              <a:t> </a:t>
            </a:r>
            <a:r>
              <a:rPr lang="en-US" dirty="0" err="1"/>
              <a:t>dhcp</a:t>
            </a:r>
            <a:r>
              <a:rPr lang="en-US" dirty="0"/>
              <a:t> server. </a:t>
            </a:r>
            <a:r>
              <a:rPr lang="en-US" dirty="0" err="1"/>
              <a:t>Pada</a:t>
            </a:r>
            <a:r>
              <a:rPr lang="en-US" dirty="0"/>
              <a:t> </a:t>
            </a:r>
            <a:r>
              <a:rPr lang="en-US" dirty="0" err="1"/>
              <a:t>contoh</a:t>
            </a:r>
            <a:r>
              <a:rPr lang="en-US" dirty="0"/>
              <a:t> </a:t>
            </a:r>
            <a:r>
              <a:rPr lang="en-US" dirty="0" err="1"/>
              <a:t>ini</a:t>
            </a:r>
            <a:r>
              <a:rPr lang="en-US" dirty="0"/>
              <a:t> </a:t>
            </a:r>
            <a:r>
              <a:rPr lang="en-US" dirty="0" err="1"/>
              <a:t>kita</a:t>
            </a:r>
            <a:r>
              <a:rPr lang="en-US" dirty="0"/>
              <a:t> </a:t>
            </a:r>
            <a:r>
              <a:rPr lang="en-US" dirty="0" err="1"/>
              <a:t>akan</a:t>
            </a:r>
            <a:r>
              <a:rPr lang="en-US" dirty="0"/>
              <a:t> </a:t>
            </a:r>
            <a:r>
              <a:rPr lang="en-US" dirty="0" err="1"/>
              <a:t>memasang</a:t>
            </a:r>
            <a:r>
              <a:rPr lang="en-US" dirty="0"/>
              <a:t> </a:t>
            </a:r>
            <a:r>
              <a:rPr lang="en-US" dirty="0" err="1"/>
              <a:t>dhcp</a:t>
            </a:r>
            <a:r>
              <a:rPr lang="en-US" dirty="0"/>
              <a:t> server </a:t>
            </a:r>
            <a:r>
              <a:rPr lang="en-US" dirty="0" err="1"/>
              <a:t>pada</a:t>
            </a:r>
            <a:r>
              <a:rPr lang="en-US" dirty="0"/>
              <a:t> network interfaces enp0s8.</a:t>
            </a:r>
          </a:p>
        </p:txBody>
      </p:sp>
    </p:spTree>
    <p:extLst>
      <p:ext uri="{BB962C8B-B14F-4D97-AF65-F5344CB8AC3E}">
        <p14:creationId xmlns:p14="http://schemas.microsoft.com/office/powerpoint/2010/main" val="388407795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018309" y="547713"/>
            <a:ext cx="9240982" cy="5755422"/>
          </a:xfrm>
          <a:prstGeom prst="rect">
            <a:avLst/>
          </a:prstGeom>
          <a:ln>
            <a:solidFill>
              <a:schemeClr val="accent1"/>
            </a:solidFill>
          </a:ln>
        </p:spPr>
        <p:txBody>
          <a:bodyPr wrap="square">
            <a:spAutoFit/>
          </a:bodyPr>
          <a:lstStyle/>
          <a:p>
            <a:r>
              <a:rPr lang="en-US" sz="1600" dirty="0" err="1">
                <a:solidFill>
                  <a:srgbClr val="FF0000"/>
                </a:solidFill>
              </a:rPr>
              <a:t>ip</a:t>
            </a:r>
            <a:r>
              <a:rPr lang="en-US" sz="1600" dirty="0">
                <a:solidFill>
                  <a:srgbClr val="FF0000"/>
                </a:solidFill>
              </a:rPr>
              <a:t> address</a:t>
            </a:r>
          </a:p>
          <a:p>
            <a:r>
              <a:rPr lang="en-US" sz="1600" dirty="0">
                <a:solidFill>
                  <a:srgbClr val="FF0000"/>
                </a:solidFill>
              </a:rPr>
              <a:t>1: lo: &lt;LOOPBACK,UP,LOWER_UP&gt; </a:t>
            </a:r>
            <a:r>
              <a:rPr lang="en-US" sz="1600" dirty="0" err="1">
                <a:solidFill>
                  <a:srgbClr val="FF0000"/>
                </a:solidFill>
              </a:rPr>
              <a:t>mtu</a:t>
            </a:r>
            <a:r>
              <a:rPr lang="en-US" sz="1600" dirty="0">
                <a:solidFill>
                  <a:srgbClr val="FF0000"/>
                </a:solidFill>
              </a:rPr>
              <a:t> 65536 </a:t>
            </a:r>
            <a:r>
              <a:rPr lang="en-US" sz="1600" dirty="0" err="1">
                <a:solidFill>
                  <a:srgbClr val="FF0000"/>
                </a:solidFill>
              </a:rPr>
              <a:t>qdisc</a:t>
            </a:r>
            <a:r>
              <a:rPr lang="en-US" sz="1600" dirty="0">
                <a:solidFill>
                  <a:srgbClr val="FF0000"/>
                </a:solidFill>
              </a:rPr>
              <a:t> </a:t>
            </a:r>
            <a:r>
              <a:rPr lang="en-US" sz="1600" dirty="0" err="1">
                <a:solidFill>
                  <a:srgbClr val="FF0000"/>
                </a:solidFill>
              </a:rPr>
              <a:t>noqueue</a:t>
            </a:r>
            <a:r>
              <a:rPr lang="en-US" sz="1600" dirty="0">
                <a:solidFill>
                  <a:srgbClr val="FF0000"/>
                </a:solidFill>
              </a:rPr>
              <a:t> state UNKNOWN group default </a:t>
            </a:r>
            <a:r>
              <a:rPr lang="en-US" sz="1600" dirty="0" err="1">
                <a:solidFill>
                  <a:srgbClr val="FF0000"/>
                </a:solidFill>
              </a:rPr>
              <a:t>qlen</a:t>
            </a:r>
            <a:r>
              <a:rPr lang="en-US" sz="1600" dirty="0">
                <a:solidFill>
                  <a:srgbClr val="FF0000"/>
                </a:solidFill>
              </a:rPr>
              <a:t> 1000</a:t>
            </a:r>
          </a:p>
          <a:p>
            <a:r>
              <a:rPr lang="en-US" sz="1600" dirty="0">
                <a:solidFill>
                  <a:srgbClr val="FF0000"/>
                </a:solidFill>
              </a:rPr>
              <a:t>    link/loopback 00:00:00:00:00:00 </a:t>
            </a:r>
            <a:r>
              <a:rPr lang="en-US" sz="1600" dirty="0" err="1">
                <a:solidFill>
                  <a:srgbClr val="FF0000"/>
                </a:solidFill>
              </a:rPr>
              <a:t>brd</a:t>
            </a:r>
            <a:r>
              <a:rPr lang="en-US" sz="1600" dirty="0">
                <a:solidFill>
                  <a:srgbClr val="FF0000"/>
                </a:solidFill>
              </a:rPr>
              <a:t> 00:00:00:00:00:00</a:t>
            </a:r>
          </a:p>
          <a:p>
            <a:r>
              <a:rPr lang="en-US" sz="1600" dirty="0">
                <a:solidFill>
                  <a:srgbClr val="FF0000"/>
                </a:solidFill>
              </a:rPr>
              <a:t>    </a:t>
            </a:r>
            <a:r>
              <a:rPr lang="en-US" sz="1600" dirty="0" err="1">
                <a:solidFill>
                  <a:srgbClr val="FF0000"/>
                </a:solidFill>
              </a:rPr>
              <a:t>inet</a:t>
            </a:r>
            <a:r>
              <a:rPr lang="en-US" sz="1600" dirty="0">
                <a:solidFill>
                  <a:srgbClr val="FF0000"/>
                </a:solidFill>
              </a:rPr>
              <a:t> 127.0.0.1/8 scope host lo</a:t>
            </a:r>
          </a:p>
          <a:p>
            <a:r>
              <a:rPr lang="en-US" sz="1600" dirty="0">
                <a:solidFill>
                  <a:srgbClr val="FF0000"/>
                </a:solidFill>
              </a:rPr>
              <a:t>       </a:t>
            </a:r>
            <a:r>
              <a:rPr lang="en-US" sz="1600" dirty="0" err="1">
                <a:solidFill>
                  <a:srgbClr val="FF0000"/>
                </a:solidFill>
              </a:rPr>
              <a:t>valid_lft</a:t>
            </a:r>
            <a:r>
              <a:rPr lang="en-US" sz="1600" dirty="0">
                <a:solidFill>
                  <a:srgbClr val="FF0000"/>
                </a:solidFill>
              </a:rPr>
              <a:t> forever </a:t>
            </a:r>
            <a:r>
              <a:rPr lang="en-US" sz="1600" dirty="0" err="1">
                <a:solidFill>
                  <a:srgbClr val="FF0000"/>
                </a:solidFill>
              </a:rPr>
              <a:t>preferred_lft</a:t>
            </a:r>
            <a:r>
              <a:rPr lang="en-US" sz="1600" dirty="0">
                <a:solidFill>
                  <a:srgbClr val="FF0000"/>
                </a:solidFill>
              </a:rPr>
              <a:t> forever</a:t>
            </a:r>
          </a:p>
          <a:p>
            <a:r>
              <a:rPr lang="en-US" sz="1600" dirty="0">
                <a:solidFill>
                  <a:srgbClr val="FF0000"/>
                </a:solidFill>
              </a:rPr>
              <a:t>    inet6 ::1/128 scope host</a:t>
            </a:r>
          </a:p>
          <a:p>
            <a:r>
              <a:rPr lang="en-US" sz="1600" dirty="0">
                <a:solidFill>
                  <a:srgbClr val="FF0000"/>
                </a:solidFill>
              </a:rPr>
              <a:t>       </a:t>
            </a:r>
            <a:r>
              <a:rPr lang="en-US" sz="1600" dirty="0" err="1">
                <a:solidFill>
                  <a:srgbClr val="FF0000"/>
                </a:solidFill>
              </a:rPr>
              <a:t>valid_lft</a:t>
            </a:r>
            <a:r>
              <a:rPr lang="en-US" sz="1600" dirty="0">
                <a:solidFill>
                  <a:srgbClr val="FF0000"/>
                </a:solidFill>
              </a:rPr>
              <a:t> forever </a:t>
            </a:r>
            <a:r>
              <a:rPr lang="en-US" sz="1600" dirty="0" err="1">
                <a:solidFill>
                  <a:srgbClr val="FF0000"/>
                </a:solidFill>
              </a:rPr>
              <a:t>preferred_lft</a:t>
            </a:r>
            <a:r>
              <a:rPr lang="en-US" sz="1600" dirty="0">
                <a:solidFill>
                  <a:srgbClr val="FF0000"/>
                </a:solidFill>
              </a:rPr>
              <a:t> forever</a:t>
            </a:r>
          </a:p>
          <a:p>
            <a:r>
              <a:rPr lang="en-US" sz="1600" dirty="0">
                <a:solidFill>
                  <a:srgbClr val="FF0000"/>
                </a:solidFill>
              </a:rPr>
              <a:t>2: enp0s3: &lt;BROADCAST,MULTICAST,UP,LOWER_UP&gt; </a:t>
            </a:r>
            <a:r>
              <a:rPr lang="en-US" sz="1600" dirty="0" err="1">
                <a:solidFill>
                  <a:srgbClr val="FF0000"/>
                </a:solidFill>
              </a:rPr>
              <a:t>mtu</a:t>
            </a:r>
            <a:r>
              <a:rPr lang="en-US" sz="1600" dirty="0">
                <a:solidFill>
                  <a:srgbClr val="FF0000"/>
                </a:solidFill>
              </a:rPr>
              <a:t> 1500 </a:t>
            </a:r>
            <a:r>
              <a:rPr lang="en-US" sz="1600" dirty="0" err="1">
                <a:solidFill>
                  <a:srgbClr val="FF0000"/>
                </a:solidFill>
              </a:rPr>
              <a:t>qdisc</a:t>
            </a:r>
            <a:r>
              <a:rPr lang="en-US" sz="1600" dirty="0">
                <a:solidFill>
                  <a:srgbClr val="FF0000"/>
                </a:solidFill>
              </a:rPr>
              <a:t> </a:t>
            </a:r>
            <a:r>
              <a:rPr lang="en-US" sz="1600" dirty="0" err="1">
                <a:solidFill>
                  <a:srgbClr val="FF0000"/>
                </a:solidFill>
              </a:rPr>
              <a:t>fq_codel</a:t>
            </a:r>
            <a:r>
              <a:rPr lang="en-US" sz="1600" dirty="0">
                <a:solidFill>
                  <a:srgbClr val="FF0000"/>
                </a:solidFill>
              </a:rPr>
              <a:t> state UP group default </a:t>
            </a:r>
            <a:r>
              <a:rPr lang="en-US" sz="1600" dirty="0" err="1">
                <a:solidFill>
                  <a:srgbClr val="FF0000"/>
                </a:solidFill>
              </a:rPr>
              <a:t>qlen</a:t>
            </a:r>
            <a:r>
              <a:rPr lang="en-US" sz="1600" dirty="0">
                <a:solidFill>
                  <a:srgbClr val="FF0000"/>
                </a:solidFill>
              </a:rPr>
              <a:t> 1000</a:t>
            </a:r>
          </a:p>
          <a:p>
            <a:r>
              <a:rPr lang="en-US" sz="1600" dirty="0">
                <a:solidFill>
                  <a:srgbClr val="FF0000"/>
                </a:solidFill>
              </a:rPr>
              <a:t>    link/ether 08:00:27:ae:02:5c </a:t>
            </a:r>
            <a:r>
              <a:rPr lang="en-US" sz="1600" dirty="0" err="1">
                <a:solidFill>
                  <a:srgbClr val="FF0000"/>
                </a:solidFill>
              </a:rPr>
              <a:t>brd</a:t>
            </a:r>
            <a:r>
              <a:rPr lang="en-US" sz="1600" dirty="0">
                <a:solidFill>
                  <a:srgbClr val="FF0000"/>
                </a:solidFill>
              </a:rPr>
              <a:t> </a:t>
            </a:r>
            <a:r>
              <a:rPr lang="en-US" sz="1600" dirty="0" err="1">
                <a:solidFill>
                  <a:srgbClr val="FF0000"/>
                </a:solidFill>
              </a:rPr>
              <a:t>ff:ff:ff:ff:ff:ff</a:t>
            </a:r>
            <a:endParaRPr lang="en-US" sz="1600" dirty="0">
              <a:solidFill>
                <a:srgbClr val="FF0000"/>
              </a:solidFill>
            </a:endParaRPr>
          </a:p>
          <a:p>
            <a:r>
              <a:rPr lang="en-US" sz="1600" dirty="0">
                <a:solidFill>
                  <a:srgbClr val="FF0000"/>
                </a:solidFill>
              </a:rPr>
              <a:t>    </a:t>
            </a:r>
            <a:r>
              <a:rPr lang="en-US" sz="1600" dirty="0" err="1">
                <a:solidFill>
                  <a:srgbClr val="FF0000"/>
                </a:solidFill>
              </a:rPr>
              <a:t>inet</a:t>
            </a:r>
            <a:r>
              <a:rPr lang="en-US" sz="1600" dirty="0">
                <a:solidFill>
                  <a:srgbClr val="FF0000"/>
                </a:solidFill>
              </a:rPr>
              <a:t> 10.1.1.29/24 </a:t>
            </a:r>
            <a:r>
              <a:rPr lang="en-US" sz="1600" dirty="0" err="1">
                <a:solidFill>
                  <a:srgbClr val="FF0000"/>
                </a:solidFill>
              </a:rPr>
              <a:t>brd</a:t>
            </a:r>
            <a:r>
              <a:rPr lang="en-US" sz="1600" dirty="0">
                <a:solidFill>
                  <a:srgbClr val="FF0000"/>
                </a:solidFill>
              </a:rPr>
              <a:t> 10.1.1.255 scope global dynamic enp0s3</a:t>
            </a:r>
          </a:p>
          <a:p>
            <a:r>
              <a:rPr lang="en-US" sz="1600" dirty="0">
                <a:solidFill>
                  <a:srgbClr val="FF0000"/>
                </a:solidFill>
              </a:rPr>
              <a:t>       </a:t>
            </a:r>
            <a:r>
              <a:rPr lang="en-US" sz="1600" dirty="0" err="1">
                <a:solidFill>
                  <a:srgbClr val="FF0000"/>
                </a:solidFill>
              </a:rPr>
              <a:t>valid_lft</a:t>
            </a:r>
            <a:r>
              <a:rPr lang="en-US" sz="1600" dirty="0">
                <a:solidFill>
                  <a:srgbClr val="FF0000"/>
                </a:solidFill>
              </a:rPr>
              <a:t> 395sec </a:t>
            </a:r>
            <a:r>
              <a:rPr lang="en-US" sz="1600" dirty="0" err="1">
                <a:solidFill>
                  <a:srgbClr val="FF0000"/>
                </a:solidFill>
              </a:rPr>
              <a:t>preferred_lft</a:t>
            </a:r>
            <a:r>
              <a:rPr lang="en-US" sz="1600" dirty="0">
                <a:solidFill>
                  <a:srgbClr val="FF0000"/>
                </a:solidFill>
              </a:rPr>
              <a:t> 395sec</a:t>
            </a:r>
          </a:p>
          <a:p>
            <a:r>
              <a:rPr lang="en-US" sz="1600" dirty="0">
                <a:solidFill>
                  <a:srgbClr val="FF0000"/>
                </a:solidFill>
              </a:rPr>
              <a:t>    inet6 fd8b:60e0:735:0:a00:27ff:feae:25c/64 scope global dynamic </a:t>
            </a:r>
            <a:r>
              <a:rPr lang="en-US" sz="1600" dirty="0" err="1">
                <a:solidFill>
                  <a:srgbClr val="FF0000"/>
                </a:solidFill>
              </a:rPr>
              <a:t>mngtmpaddr</a:t>
            </a:r>
            <a:endParaRPr lang="en-US" sz="1600" dirty="0">
              <a:solidFill>
                <a:srgbClr val="FF0000"/>
              </a:solidFill>
            </a:endParaRPr>
          </a:p>
          <a:p>
            <a:r>
              <a:rPr lang="en-US" sz="1600" dirty="0">
                <a:solidFill>
                  <a:srgbClr val="FF0000"/>
                </a:solidFill>
              </a:rPr>
              <a:t>       </a:t>
            </a:r>
            <a:r>
              <a:rPr lang="en-US" sz="1600" dirty="0" err="1">
                <a:solidFill>
                  <a:srgbClr val="FF0000"/>
                </a:solidFill>
              </a:rPr>
              <a:t>valid_lft</a:t>
            </a:r>
            <a:r>
              <a:rPr lang="en-US" sz="1600" dirty="0">
                <a:solidFill>
                  <a:srgbClr val="FF0000"/>
                </a:solidFill>
              </a:rPr>
              <a:t> forever </a:t>
            </a:r>
            <a:r>
              <a:rPr lang="en-US" sz="1600" dirty="0" err="1">
                <a:solidFill>
                  <a:srgbClr val="FF0000"/>
                </a:solidFill>
              </a:rPr>
              <a:t>preferred_lft</a:t>
            </a:r>
            <a:r>
              <a:rPr lang="en-US" sz="1600" dirty="0">
                <a:solidFill>
                  <a:srgbClr val="FF0000"/>
                </a:solidFill>
              </a:rPr>
              <a:t> forever</a:t>
            </a:r>
          </a:p>
          <a:p>
            <a:r>
              <a:rPr lang="en-US" sz="1600" dirty="0">
                <a:solidFill>
                  <a:srgbClr val="FF0000"/>
                </a:solidFill>
              </a:rPr>
              <a:t>    inet6 fe80::a00:27ff:feae:25c/64 scope link</a:t>
            </a:r>
          </a:p>
          <a:p>
            <a:r>
              <a:rPr lang="en-US" sz="1600" dirty="0">
                <a:solidFill>
                  <a:srgbClr val="FF0000"/>
                </a:solidFill>
              </a:rPr>
              <a:t>       </a:t>
            </a:r>
            <a:r>
              <a:rPr lang="en-US" sz="1600" dirty="0" err="1">
                <a:solidFill>
                  <a:srgbClr val="FF0000"/>
                </a:solidFill>
              </a:rPr>
              <a:t>valid_lft</a:t>
            </a:r>
            <a:r>
              <a:rPr lang="en-US" sz="1600" dirty="0">
                <a:solidFill>
                  <a:srgbClr val="FF0000"/>
                </a:solidFill>
              </a:rPr>
              <a:t> forever </a:t>
            </a:r>
            <a:r>
              <a:rPr lang="en-US" sz="1600" dirty="0" err="1">
                <a:solidFill>
                  <a:srgbClr val="FF0000"/>
                </a:solidFill>
              </a:rPr>
              <a:t>preferred_lft</a:t>
            </a:r>
            <a:r>
              <a:rPr lang="en-US" sz="1600" dirty="0">
                <a:solidFill>
                  <a:srgbClr val="FF0000"/>
                </a:solidFill>
              </a:rPr>
              <a:t> forever</a:t>
            </a:r>
          </a:p>
          <a:p>
            <a:r>
              <a:rPr lang="en-US" sz="1600" dirty="0">
                <a:solidFill>
                  <a:srgbClr val="FF0000"/>
                </a:solidFill>
              </a:rPr>
              <a:t>3: enp0s8: &lt;BROADCAST,MULTICAST,UP,LOWER_UP&gt; </a:t>
            </a:r>
            <a:r>
              <a:rPr lang="en-US" sz="1600" dirty="0" err="1">
                <a:solidFill>
                  <a:srgbClr val="FF0000"/>
                </a:solidFill>
              </a:rPr>
              <a:t>mtu</a:t>
            </a:r>
            <a:r>
              <a:rPr lang="en-US" sz="1600" dirty="0">
                <a:solidFill>
                  <a:srgbClr val="FF0000"/>
                </a:solidFill>
              </a:rPr>
              <a:t> 1500 </a:t>
            </a:r>
            <a:r>
              <a:rPr lang="en-US" sz="1600" dirty="0" err="1">
                <a:solidFill>
                  <a:srgbClr val="FF0000"/>
                </a:solidFill>
              </a:rPr>
              <a:t>qdisc</a:t>
            </a:r>
            <a:r>
              <a:rPr lang="en-US" sz="1600" dirty="0">
                <a:solidFill>
                  <a:srgbClr val="FF0000"/>
                </a:solidFill>
              </a:rPr>
              <a:t> </a:t>
            </a:r>
            <a:r>
              <a:rPr lang="en-US" sz="1600" dirty="0" err="1">
                <a:solidFill>
                  <a:srgbClr val="FF0000"/>
                </a:solidFill>
              </a:rPr>
              <a:t>fq_codel</a:t>
            </a:r>
            <a:r>
              <a:rPr lang="en-US" sz="1600" dirty="0">
                <a:solidFill>
                  <a:srgbClr val="FF0000"/>
                </a:solidFill>
              </a:rPr>
              <a:t> state UP group default </a:t>
            </a:r>
            <a:r>
              <a:rPr lang="en-US" sz="1600" dirty="0" err="1">
                <a:solidFill>
                  <a:srgbClr val="FF0000"/>
                </a:solidFill>
              </a:rPr>
              <a:t>qlen</a:t>
            </a:r>
            <a:r>
              <a:rPr lang="en-US" sz="1600" dirty="0">
                <a:solidFill>
                  <a:srgbClr val="FF0000"/>
                </a:solidFill>
              </a:rPr>
              <a:t> 1000</a:t>
            </a:r>
          </a:p>
          <a:p>
            <a:r>
              <a:rPr lang="en-US" sz="1600" dirty="0">
                <a:solidFill>
                  <a:srgbClr val="FF0000"/>
                </a:solidFill>
              </a:rPr>
              <a:t>    link/ether 08:00:27:3f:5a:02 </a:t>
            </a:r>
            <a:r>
              <a:rPr lang="en-US" sz="1600" dirty="0" err="1">
                <a:solidFill>
                  <a:srgbClr val="FF0000"/>
                </a:solidFill>
              </a:rPr>
              <a:t>brd</a:t>
            </a:r>
            <a:r>
              <a:rPr lang="en-US" sz="1600" dirty="0">
                <a:solidFill>
                  <a:srgbClr val="FF0000"/>
                </a:solidFill>
              </a:rPr>
              <a:t> </a:t>
            </a:r>
            <a:r>
              <a:rPr lang="en-US" sz="1600" dirty="0" err="1">
                <a:solidFill>
                  <a:srgbClr val="FF0000"/>
                </a:solidFill>
              </a:rPr>
              <a:t>ff:ff:ff:ff:ff:ff</a:t>
            </a:r>
            <a:endParaRPr lang="en-US" sz="1600" dirty="0">
              <a:solidFill>
                <a:srgbClr val="FF0000"/>
              </a:solidFill>
            </a:endParaRPr>
          </a:p>
          <a:p>
            <a:r>
              <a:rPr lang="en-US" sz="1600" dirty="0">
                <a:solidFill>
                  <a:srgbClr val="FF0000"/>
                </a:solidFill>
              </a:rPr>
              <a:t>    </a:t>
            </a:r>
            <a:r>
              <a:rPr lang="en-US" sz="1600" dirty="0" err="1">
                <a:solidFill>
                  <a:srgbClr val="FF0000"/>
                </a:solidFill>
              </a:rPr>
              <a:t>inet</a:t>
            </a:r>
            <a:r>
              <a:rPr lang="en-US" sz="1600" dirty="0">
                <a:solidFill>
                  <a:srgbClr val="FF0000"/>
                </a:solidFill>
              </a:rPr>
              <a:t> 192.168.10.1/24 </a:t>
            </a:r>
            <a:r>
              <a:rPr lang="en-US" sz="1600" dirty="0" err="1">
                <a:solidFill>
                  <a:srgbClr val="FF0000"/>
                </a:solidFill>
              </a:rPr>
              <a:t>brd</a:t>
            </a:r>
            <a:r>
              <a:rPr lang="en-US" sz="1600" dirty="0">
                <a:solidFill>
                  <a:srgbClr val="FF0000"/>
                </a:solidFill>
              </a:rPr>
              <a:t> 192.168.10.255 scope global enp0s8</a:t>
            </a:r>
          </a:p>
          <a:p>
            <a:r>
              <a:rPr lang="en-US" sz="1600" dirty="0">
                <a:solidFill>
                  <a:srgbClr val="FF0000"/>
                </a:solidFill>
              </a:rPr>
              <a:t>       </a:t>
            </a:r>
            <a:r>
              <a:rPr lang="en-US" sz="1600" dirty="0" err="1">
                <a:solidFill>
                  <a:srgbClr val="FF0000"/>
                </a:solidFill>
              </a:rPr>
              <a:t>valid_lft</a:t>
            </a:r>
            <a:r>
              <a:rPr lang="en-US" sz="1600" dirty="0">
                <a:solidFill>
                  <a:srgbClr val="FF0000"/>
                </a:solidFill>
              </a:rPr>
              <a:t> forever </a:t>
            </a:r>
            <a:r>
              <a:rPr lang="en-US" sz="1600" dirty="0" err="1">
                <a:solidFill>
                  <a:srgbClr val="FF0000"/>
                </a:solidFill>
              </a:rPr>
              <a:t>preferred_lft</a:t>
            </a:r>
            <a:r>
              <a:rPr lang="en-US" sz="1600" dirty="0">
                <a:solidFill>
                  <a:srgbClr val="FF0000"/>
                </a:solidFill>
              </a:rPr>
              <a:t> forever</a:t>
            </a:r>
          </a:p>
          <a:p>
            <a:r>
              <a:rPr lang="en-US" sz="1600" dirty="0">
                <a:solidFill>
                  <a:srgbClr val="FF0000"/>
                </a:solidFill>
              </a:rPr>
              <a:t>    inet6 fe80::a00:27ff:fe3f:5a02/64 scope link</a:t>
            </a:r>
          </a:p>
          <a:p>
            <a:r>
              <a:rPr lang="en-US" sz="1600" dirty="0">
                <a:solidFill>
                  <a:srgbClr val="FF0000"/>
                </a:solidFill>
              </a:rPr>
              <a:t>       </a:t>
            </a:r>
            <a:r>
              <a:rPr lang="en-US" sz="1600" dirty="0" err="1">
                <a:solidFill>
                  <a:srgbClr val="FF0000"/>
                </a:solidFill>
              </a:rPr>
              <a:t>valid_lft</a:t>
            </a:r>
            <a:r>
              <a:rPr lang="en-US" sz="1600" dirty="0">
                <a:solidFill>
                  <a:srgbClr val="FF0000"/>
                </a:solidFill>
              </a:rPr>
              <a:t> forever </a:t>
            </a:r>
            <a:r>
              <a:rPr lang="en-US" sz="1600" dirty="0" err="1">
                <a:solidFill>
                  <a:srgbClr val="FF0000"/>
                </a:solidFill>
              </a:rPr>
              <a:t>preferred_lft</a:t>
            </a:r>
            <a:r>
              <a:rPr lang="en-US" sz="1600" dirty="0">
                <a:solidFill>
                  <a:srgbClr val="FF0000"/>
                </a:solidFill>
              </a:rPr>
              <a:t> forever</a:t>
            </a:r>
          </a:p>
        </p:txBody>
      </p:sp>
    </p:spTree>
    <p:extLst>
      <p:ext uri="{BB962C8B-B14F-4D97-AF65-F5344CB8AC3E}">
        <p14:creationId xmlns:p14="http://schemas.microsoft.com/office/powerpoint/2010/main" val="11935847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67146" y="300290"/>
            <a:ext cx="6096000" cy="923330"/>
          </a:xfrm>
          <a:prstGeom prst="rect">
            <a:avLst/>
          </a:prstGeom>
        </p:spPr>
        <p:txBody>
          <a:bodyPr>
            <a:spAutoFit/>
          </a:bodyPr>
          <a:lstStyle/>
          <a:p>
            <a:pPr algn="just"/>
            <a:r>
              <a:rPr lang="en-US" dirty="0" smtClean="0"/>
              <a:t>3. Edit </a:t>
            </a:r>
            <a:r>
              <a:rPr lang="en-US" dirty="0"/>
              <a:t>file </a:t>
            </a:r>
            <a:r>
              <a:rPr lang="en-US" dirty="0" err="1"/>
              <a:t>isc</a:t>
            </a:r>
            <a:r>
              <a:rPr lang="en-US" dirty="0"/>
              <a:t>-</a:t>
            </a:r>
            <a:r>
              <a:rPr lang="en-US" dirty="0" err="1"/>
              <a:t>dhcp</a:t>
            </a:r>
            <a:r>
              <a:rPr lang="en-US" dirty="0"/>
              <a:t>-server </a:t>
            </a:r>
            <a:r>
              <a:rPr lang="en-US" dirty="0" err="1"/>
              <a:t>dan</a:t>
            </a:r>
            <a:r>
              <a:rPr lang="en-US" dirty="0"/>
              <a:t> </a:t>
            </a:r>
            <a:r>
              <a:rPr lang="en-US" dirty="0" err="1"/>
              <a:t>tuliskan</a:t>
            </a:r>
            <a:r>
              <a:rPr lang="en-US" dirty="0"/>
              <a:t> </a:t>
            </a:r>
            <a:r>
              <a:rPr lang="en-US" dirty="0" err="1"/>
              <a:t>nama</a:t>
            </a:r>
            <a:r>
              <a:rPr lang="en-US" dirty="0"/>
              <a:t> network interfaces yang </a:t>
            </a:r>
            <a:r>
              <a:rPr lang="en-US" dirty="0" err="1"/>
              <a:t>ingin</a:t>
            </a:r>
            <a:r>
              <a:rPr lang="en-US" dirty="0"/>
              <a:t> </a:t>
            </a:r>
            <a:r>
              <a:rPr lang="en-US" dirty="0" err="1"/>
              <a:t>kita</a:t>
            </a:r>
            <a:r>
              <a:rPr lang="en-US" dirty="0"/>
              <a:t> </a:t>
            </a:r>
            <a:r>
              <a:rPr lang="en-US" dirty="0" err="1"/>
              <a:t>buatkan</a:t>
            </a:r>
            <a:r>
              <a:rPr lang="en-US" dirty="0"/>
              <a:t> DHCP Server. </a:t>
            </a:r>
            <a:r>
              <a:rPr lang="en-US" dirty="0" err="1"/>
              <a:t>Jika</a:t>
            </a:r>
            <a:r>
              <a:rPr lang="en-US" dirty="0"/>
              <a:t> </a:t>
            </a:r>
            <a:r>
              <a:rPr lang="en-US" dirty="0" err="1"/>
              <a:t>sudah</a:t>
            </a:r>
            <a:r>
              <a:rPr lang="en-US" dirty="0"/>
              <a:t> exit </a:t>
            </a:r>
            <a:r>
              <a:rPr lang="en-US" dirty="0" err="1"/>
              <a:t>dan</a:t>
            </a:r>
            <a:r>
              <a:rPr lang="en-US" dirty="0"/>
              <a:t> save.</a:t>
            </a:r>
          </a:p>
        </p:txBody>
      </p:sp>
      <p:sp>
        <p:nvSpPr>
          <p:cNvPr id="5" name="Rectangle 4"/>
          <p:cNvSpPr/>
          <p:nvPr/>
        </p:nvSpPr>
        <p:spPr>
          <a:xfrm>
            <a:off x="713060" y="1223620"/>
            <a:ext cx="3866315" cy="369332"/>
          </a:xfrm>
          <a:prstGeom prst="rect">
            <a:avLst/>
          </a:prstGeom>
        </p:spPr>
        <p:txBody>
          <a:bodyPr wrap="none">
            <a:spAutoFit/>
          </a:bodyPr>
          <a:lstStyle/>
          <a:p>
            <a:r>
              <a:rPr lang="en-US" dirty="0" err="1"/>
              <a:t>sudo</a:t>
            </a:r>
            <a:r>
              <a:rPr lang="en-US" dirty="0"/>
              <a:t> </a:t>
            </a:r>
            <a:r>
              <a:rPr lang="en-US" dirty="0" err="1"/>
              <a:t>nano</a:t>
            </a:r>
            <a:r>
              <a:rPr lang="en-US" dirty="0"/>
              <a:t> /</a:t>
            </a:r>
            <a:r>
              <a:rPr lang="en-US" dirty="0" err="1"/>
              <a:t>etc</a:t>
            </a:r>
            <a:r>
              <a:rPr lang="en-US" dirty="0"/>
              <a:t>/default/</a:t>
            </a:r>
            <a:r>
              <a:rPr lang="en-US" dirty="0" err="1"/>
              <a:t>isc</a:t>
            </a:r>
            <a:r>
              <a:rPr lang="en-US" dirty="0"/>
              <a:t>-</a:t>
            </a:r>
            <a:r>
              <a:rPr lang="en-US" dirty="0" err="1"/>
              <a:t>dhcp</a:t>
            </a:r>
            <a:r>
              <a:rPr lang="en-US" dirty="0"/>
              <a:t>-server</a:t>
            </a:r>
          </a:p>
        </p:txBody>
      </p:sp>
      <p:sp>
        <p:nvSpPr>
          <p:cNvPr id="6" name="Rectangle 5"/>
          <p:cNvSpPr/>
          <p:nvPr/>
        </p:nvSpPr>
        <p:spPr>
          <a:xfrm>
            <a:off x="1531375" y="1592952"/>
            <a:ext cx="9586898" cy="5078313"/>
          </a:xfrm>
          <a:prstGeom prst="rect">
            <a:avLst/>
          </a:prstGeom>
          <a:ln>
            <a:solidFill>
              <a:schemeClr val="accent1"/>
            </a:solidFill>
          </a:ln>
        </p:spPr>
        <p:txBody>
          <a:bodyPr wrap="square">
            <a:spAutoFit/>
          </a:bodyPr>
          <a:lstStyle/>
          <a:p>
            <a:r>
              <a:rPr lang="en-US" dirty="0"/>
              <a:t># Defaults for </a:t>
            </a:r>
            <a:r>
              <a:rPr lang="en-US" dirty="0" err="1"/>
              <a:t>isc</a:t>
            </a:r>
            <a:r>
              <a:rPr lang="en-US" dirty="0"/>
              <a:t>-</a:t>
            </a:r>
            <a:r>
              <a:rPr lang="en-US" dirty="0" err="1"/>
              <a:t>dhcp</a:t>
            </a:r>
            <a:r>
              <a:rPr lang="en-US" dirty="0"/>
              <a:t>-server (sourced by /</a:t>
            </a:r>
            <a:r>
              <a:rPr lang="en-US" dirty="0" err="1"/>
              <a:t>etc</a:t>
            </a:r>
            <a:r>
              <a:rPr lang="en-US" dirty="0"/>
              <a:t>/</a:t>
            </a:r>
            <a:r>
              <a:rPr lang="en-US" dirty="0" err="1"/>
              <a:t>init.d</a:t>
            </a:r>
            <a:r>
              <a:rPr lang="en-US" dirty="0"/>
              <a:t>/</a:t>
            </a:r>
            <a:r>
              <a:rPr lang="en-US" dirty="0" err="1"/>
              <a:t>isc</a:t>
            </a:r>
            <a:r>
              <a:rPr lang="en-US" dirty="0"/>
              <a:t>-</a:t>
            </a:r>
            <a:r>
              <a:rPr lang="en-US" dirty="0" err="1"/>
              <a:t>dhcp</a:t>
            </a:r>
            <a:r>
              <a:rPr lang="en-US" dirty="0"/>
              <a:t>-server)</a:t>
            </a:r>
          </a:p>
          <a:p>
            <a:endParaRPr lang="en-US" dirty="0"/>
          </a:p>
          <a:p>
            <a:r>
              <a:rPr lang="en-US" dirty="0"/>
              <a:t># Path to </a:t>
            </a:r>
            <a:r>
              <a:rPr lang="en-US" dirty="0" err="1"/>
              <a:t>dhcpd's</a:t>
            </a:r>
            <a:r>
              <a:rPr lang="en-US" dirty="0"/>
              <a:t> </a:t>
            </a:r>
            <a:r>
              <a:rPr lang="en-US" dirty="0" err="1"/>
              <a:t>config</a:t>
            </a:r>
            <a:r>
              <a:rPr lang="en-US" dirty="0"/>
              <a:t> file (default: /</a:t>
            </a:r>
            <a:r>
              <a:rPr lang="en-US" dirty="0" err="1"/>
              <a:t>etc</a:t>
            </a:r>
            <a:r>
              <a:rPr lang="en-US" dirty="0"/>
              <a:t>/</a:t>
            </a:r>
            <a:r>
              <a:rPr lang="en-US" dirty="0" err="1"/>
              <a:t>dhcp</a:t>
            </a:r>
            <a:r>
              <a:rPr lang="en-US" dirty="0"/>
              <a:t>/</a:t>
            </a:r>
            <a:r>
              <a:rPr lang="en-US" dirty="0" err="1"/>
              <a:t>dhcpd.conf</a:t>
            </a:r>
            <a:r>
              <a:rPr lang="en-US" dirty="0"/>
              <a:t>).</a:t>
            </a:r>
          </a:p>
          <a:p>
            <a:r>
              <a:rPr lang="en-US" dirty="0"/>
              <a:t>#DHCPDv4_CONF=/</a:t>
            </a:r>
            <a:r>
              <a:rPr lang="en-US" dirty="0" err="1"/>
              <a:t>etc</a:t>
            </a:r>
            <a:r>
              <a:rPr lang="en-US" dirty="0"/>
              <a:t>/</a:t>
            </a:r>
            <a:r>
              <a:rPr lang="en-US" dirty="0" err="1"/>
              <a:t>dhcp</a:t>
            </a:r>
            <a:r>
              <a:rPr lang="en-US" dirty="0"/>
              <a:t>/</a:t>
            </a:r>
            <a:r>
              <a:rPr lang="en-US" dirty="0" err="1"/>
              <a:t>dhcpd.conf</a:t>
            </a:r>
            <a:endParaRPr lang="en-US" dirty="0"/>
          </a:p>
          <a:p>
            <a:r>
              <a:rPr lang="en-US" dirty="0"/>
              <a:t>#DHCPDv6_CONF=/</a:t>
            </a:r>
            <a:r>
              <a:rPr lang="en-US" dirty="0" err="1"/>
              <a:t>etc</a:t>
            </a:r>
            <a:r>
              <a:rPr lang="en-US" dirty="0"/>
              <a:t>/</a:t>
            </a:r>
            <a:r>
              <a:rPr lang="en-US" dirty="0" err="1"/>
              <a:t>dhcp</a:t>
            </a:r>
            <a:r>
              <a:rPr lang="en-US" dirty="0"/>
              <a:t>/dhcpd6.conf</a:t>
            </a:r>
          </a:p>
          <a:p>
            <a:endParaRPr lang="en-US" dirty="0"/>
          </a:p>
          <a:p>
            <a:r>
              <a:rPr lang="en-US" dirty="0"/>
              <a:t># Path to </a:t>
            </a:r>
            <a:r>
              <a:rPr lang="en-US" dirty="0" err="1"/>
              <a:t>dhcpd's</a:t>
            </a:r>
            <a:r>
              <a:rPr lang="en-US" dirty="0"/>
              <a:t> PID file (default: /</a:t>
            </a:r>
            <a:r>
              <a:rPr lang="en-US" dirty="0" err="1"/>
              <a:t>var</a:t>
            </a:r>
            <a:r>
              <a:rPr lang="en-US" dirty="0"/>
              <a:t>/run/</a:t>
            </a:r>
            <a:r>
              <a:rPr lang="en-US" dirty="0" err="1"/>
              <a:t>dhcpd.pid</a:t>
            </a:r>
            <a:r>
              <a:rPr lang="en-US" dirty="0"/>
              <a:t>).</a:t>
            </a:r>
          </a:p>
          <a:p>
            <a:r>
              <a:rPr lang="en-US" dirty="0"/>
              <a:t>#DHCPDv4_PID=/</a:t>
            </a:r>
            <a:r>
              <a:rPr lang="en-US" dirty="0" err="1"/>
              <a:t>var</a:t>
            </a:r>
            <a:r>
              <a:rPr lang="en-US" dirty="0"/>
              <a:t>/run/</a:t>
            </a:r>
            <a:r>
              <a:rPr lang="en-US" dirty="0" err="1"/>
              <a:t>dhcpd.pid</a:t>
            </a:r>
            <a:endParaRPr lang="en-US" dirty="0"/>
          </a:p>
          <a:p>
            <a:r>
              <a:rPr lang="en-US" dirty="0"/>
              <a:t>#DHCPDv6_PID=/</a:t>
            </a:r>
            <a:r>
              <a:rPr lang="en-US" dirty="0" err="1"/>
              <a:t>var</a:t>
            </a:r>
            <a:r>
              <a:rPr lang="en-US" dirty="0"/>
              <a:t>/run/dhcpd6.pid</a:t>
            </a:r>
          </a:p>
          <a:p>
            <a:endParaRPr lang="en-US" dirty="0"/>
          </a:p>
          <a:p>
            <a:r>
              <a:rPr lang="en-US" dirty="0"/>
              <a:t># Additional options to start </a:t>
            </a:r>
            <a:r>
              <a:rPr lang="en-US" dirty="0" err="1"/>
              <a:t>dhcpd</a:t>
            </a:r>
            <a:r>
              <a:rPr lang="en-US" dirty="0"/>
              <a:t> with.</a:t>
            </a:r>
          </a:p>
          <a:p>
            <a:r>
              <a:rPr lang="en-US" dirty="0"/>
              <a:t>#       Don't use options -</a:t>
            </a:r>
            <a:r>
              <a:rPr lang="en-US" dirty="0" err="1"/>
              <a:t>cf</a:t>
            </a:r>
            <a:r>
              <a:rPr lang="en-US" dirty="0"/>
              <a:t> or -pf here; use DHCPD_CONF/ DHCPD_PID instead</a:t>
            </a:r>
          </a:p>
          <a:p>
            <a:r>
              <a:rPr lang="en-US" dirty="0"/>
              <a:t>#OPTIONS=""</a:t>
            </a:r>
          </a:p>
          <a:p>
            <a:endParaRPr lang="en-US" dirty="0"/>
          </a:p>
          <a:p>
            <a:r>
              <a:rPr lang="en-US" dirty="0"/>
              <a:t># On what interfaces should the DHCP server (</a:t>
            </a:r>
            <a:r>
              <a:rPr lang="en-US" dirty="0" err="1"/>
              <a:t>dhcpd</a:t>
            </a:r>
            <a:r>
              <a:rPr lang="en-US" dirty="0"/>
              <a:t>) serve DHCP requests?</a:t>
            </a:r>
          </a:p>
          <a:p>
            <a:r>
              <a:rPr lang="en-US" dirty="0"/>
              <a:t>#       Separate multiple interfaces with spaces, e.g. "eth0 eth1".</a:t>
            </a:r>
          </a:p>
          <a:p>
            <a:r>
              <a:rPr lang="en-US" dirty="0">
                <a:solidFill>
                  <a:srgbClr val="FF0000"/>
                </a:solidFill>
              </a:rPr>
              <a:t>INTERFACESv4="enp0s8"</a:t>
            </a:r>
          </a:p>
          <a:p>
            <a:r>
              <a:rPr lang="en-US" dirty="0">
                <a:solidFill>
                  <a:srgbClr val="FF0000"/>
                </a:solidFill>
              </a:rPr>
              <a:t>INTERFACESv6=""</a:t>
            </a:r>
          </a:p>
        </p:txBody>
      </p:sp>
    </p:spTree>
    <p:extLst>
      <p:ext uri="{BB962C8B-B14F-4D97-AF65-F5344CB8AC3E}">
        <p14:creationId xmlns:p14="http://schemas.microsoft.com/office/powerpoint/2010/main" val="200712682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9453" y="189407"/>
            <a:ext cx="4579267" cy="369332"/>
          </a:xfrm>
          <a:prstGeom prst="rect">
            <a:avLst/>
          </a:prstGeom>
        </p:spPr>
        <p:txBody>
          <a:bodyPr wrap="none">
            <a:spAutoFit/>
          </a:bodyPr>
          <a:lstStyle/>
          <a:p>
            <a:r>
              <a:rPr lang="en-US" dirty="0" smtClean="0"/>
              <a:t>4. </a:t>
            </a:r>
            <a:r>
              <a:rPr lang="en-US" dirty="0" err="1" smtClean="0"/>
              <a:t>Selanjutnya</a:t>
            </a:r>
            <a:r>
              <a:rPr lang="en-US" dirty="0" smtClean="0"/>
              <a:t> </a:t>
            </a:r>
            <a:r>
              <a:rPr lang="en-US" dirty="0" err="1"/>
              <a:t>kita</a:t>
            </a:r>
            <a:r>
              <a:rPr lang="en-US" dirty="0"/>
              <a:t> </a:t>
            </a:r>
            <a:r>
              <a:rPr lang="en-US" dirty="0" err="1"/>
              <a:t>lakukan</a:t>
            </a:r>
            <a:r>
              <a:rPr lang="en-US" dirty="0"/>
              <a:t> edit file </a:t>
            </a:r>
            <a:r>
              <a:rPr lang="en-US" dirty="0" err="1"/>
              <a:t>dhcpd.conf</a:t>
            </a:r>
            <a:r>
              <a:rPr lang="en-US" dirty="0"/>
              <a:t>.</a:t>
            </a:r>
          </a:p>
        </p:txBody>
      </p:sp>
      <p:sp>
        <p:nvSpPr>
          <p:cNvPr id="5" name="Rectangle 4"/>
          <p:cNvSpPr/>
          <p:nvPr/>
        </p:nvSpPr>
        <p:spPr>
          <a:xfrm>
            <a:off x="649015" y="729734"/>
            <a:ext cx="3287823" cy="369332"/>
          </a:xfrm>
          <a:prstGeom prst="rect">
            <a:avLst/>
          </a:prstGeom>
        </p:spPr>
        <p:txBody>
          <a:bodyPr wrap="none">
            <a:spAutoFit/>
          </a:bodyPr>
          <a:lstStyle/>
          <a:p>
            <a:r>
              <a:rPr lang="en-US" dirty="0" err="1"/>
              <a:t>sudo</a:t>
            </a:r>
            <a:r>
              <a:rPr lang="en-US" dirty="0"/>
              <a:t> </a:t>
            </a:r>
            <a:r>
              <a:rPr lang="en-US" dirty="0" err="1"/>
              <a:t>nano</a:t>
            </a:r>
            <a:r>
              <a:rPr lang="en-US" dirty="0"/>
              <a:t> /</a:t>
            </a:r>
            <a:r>
              <a:rPr lang="en-US" dirty="0" err="1"/>
              <a:t>etc</a:t>
            </a:r>
            <a:r>
              <a:rPr lang="en-US" dirty="0"/>
              <a:t>/</a:t>
            </a:r>
            <a:r>
              <a:rPr lang="en-US" dirty="0" err="1"/>
              <a:t>dhcp</a:t>
            </a:r>
            <a:r>
              <a:rPr lang="en-US" dirty="0"/>
              <a:t>/</a:t>
            </a:r>
            <a:r>
              <a:rPr lang="en-US" dirty="0" err="1"/>
              <a:t>dhcpd.conf</a:t>
            </a:r>
            <a:endParaRPr lang="en-US" dirty="0"/>
          </a:p>
        </p:txBody>
      </p:sp>
      <p:sp>
        <p:nvSpPr>
          <p:cNvPr id="6" name="Rectangle 5"/>
          <p:cNvSpPr/>
          <p:nvPr/>
        </p:nvSpPr>
        <p:spPr>
          <a:xfrm>
            <a:off x="471055" y="1270061"/>
            <a:ext cx="5763490" cy="1477328"/>
          </a:xfrm>
          <a:prstGeom prst="rect">
            <a:avLst/>
          </a:prstGeom>
        </p:spPr>
        <p:txBody>
          <a:bodyPr wrap="square">
            <a:spAutoFit/>
          </a:bodyPr>
          <a:lstStyle/>
          <a:p>
            <a:pPr algn="just"/>
            <a:r>
              <a:rPr lang="en-US" dirty="0" err="1"/>
              <a:t>Lalu</a:t>
            </a:r>
            <a:r>
              <a:rPr lang="en-US" dirty="0"/>
              <a:t> </a:t>
            </a:r>
            <a:r>
              <a:rPr lang="en-US" dirty="0" err="1"/>
              <a:t>kita</a:t>
            </a:r>
            <a:r>
              <a:rPr lang="en-US" dirty="0"/>
              <a:t> </a:t>
            </a:r>
            <a:r>
              <a:rPr lang="en-US" dirty="0" err="1"/>
              <a:t>cari</a:t>
            </a:r>
            <a:r>
              <a:rPr lang="en-US" dirty="0"/>
              <a:t> line </a:t>
            </a:r>
            <a:r>
              <a:rPr lang="en-US" dirty="0" err="1"/>
              <a:t>berikut</a:t>
            </a:r>
            <a:r>
              <a:rPr lang="en-US" dirty="0"/>
              <a:t> </a:t>
            </a:r>
            <a:r>
              <a:rPr lang="en-US" dirty="0" err="1"/>
              <a:t>ini</a:t>
            </a:r>
            <a:r>
              <a:rPr lang="en-US" dirty="0"/>
              <a:t> </a:t>
            </a:r>
            <a:r>
              <a:rPr lang="en-US" dirty="0" err="1"/>
              <a:t>jangan</a:t>
            </a:r>
            <a:r>
              <a:rPr lang="en-US" dirty="0"/>
              <a:t> </a:t>
            </a:r>
            <a:r>
              <a:rPr lang="en-US" dirty="0" err="1"/>
              <a:t>lupa</a:t>
            </a:r>
            <a:r>
              <a:rPr lang="en-US" dirty="0"/>
              <a:t> </a:t>
            </a:r>
            <a:r>
              <a:rPr lang="en-US" dirty="0" err="1"/>
              <a:t>untuk</a:t>
            </a:r>
            <a:r>
              <a:rPr lang="en-US" dirty="0"/>
              <a:t> </a:t>
            </a:r>
            <a:r>
              <a:rPr lang="en-US" dirty="0" err="1"/>
              <a:t>menghilangkan</a:t>
            </a:r>
            <a:r>
              <a:rPr lang="en-US" dirty="0"/>
              <a:t> </a:t>
            </a:r>
            <a:r>
              <a:rPr lang="en-US" dirty="0" err="1"/>
              <a:t>tanda</a:t>
            </a:r>
            <a:r>
              <a:rPr lang="en-US" dirty="0"/>
              <a:t> # </a:t>
            </a:r>
            <a:r>
              <a:rPr lang="en-US" dirty="0" err="1"/>
              <a:t>lalu</a:t>
            </a:r>
            <a:r>
              <a:rPr lang="en-US" dirty="0"/>
              <a:t> </a:t>
            </a:r>
            <a:r>
              <a:rPr lang="en-US" dirty="0" err="1"/>
              <a:t>ubah</a:t>
            </a:r>
            <a:r>
              <a:rPr lang="en-US" dirty="0"/>
              <a:t> </a:t>
            </a:r>
            <a:r>
              <a:rPr lang="en-US" dirty="0" err="1"/>
              <a:t>konfigurasi</a:t>
            </a:r>
            <a:r>
              <a:rPr lang="en-US" dirty="0"/>
              <a:t> file </a:t>
            </a:r>
            <a:r>
              <a:rPr lang="en-US" dirty="0" err="1"/>
              <a:t>sesuai</a:t>
            </a:r>
            <a:r>
              <a:rPr lang="en-US" dirty="0"/>
              <a:t> </a:t>
            </a:r>
            <a:r>
              <a:rPr lang="en-US" dirty="0" err="1"/>
              <a:t>dengan</a:t>
            </a:r>
            <a:r>
              <a:rPr lang="en-US" dirty="0"/>
              <a:t> network address yang kalian </a:t>
            </a:r>
            <a:r>
              <a:rPr lang="en-US" dirty="0" err="1"/>
              <a:t>inginkan</a:t>
            </a:r>
            <a:r>
              <a:rPr lang="en-US" dirty="0"/>
              <a:t>. </a:t>
            </a:r>
            <a:r>
              <a:rPr lang="en-US" dirty="0" err="1"/>
              <a:t>Pastikan</a:t>
            </a:r>
            <a:r>
              <a:rPr lang="en-US" dirty="0"/>
              <a:t> </a:t>
            </a:r>
            <a:r>
              <a:rPr lang="en-US" dirty="0" err="1"/>
              <a:t>semua</a:t>
            </a:r>
            <a:r>
              <a:rPr lang="en-US" dirty="0"/>
              <a:t> </a:t>
            </a:r>
            <a:r>
              <a:rPr lang="en-US" dirty="0" err="1"/>
              <a:t>konfigurasi</a:t>
            </a:r>
            <a:r>
              <a:rPr lang="en-US" dirty="0"/>
              <a:t> </a:t>
            </a:r>
            <a:r>
              <a:rPr lang="en-US" dirty="0" err="1"/>
              <a:t>telah</a:t>
            </a:r>
            <a:r>
              <a:rPr lang="en-US" dirty="0"/>
              <a:t> </a:t>
            </a:r>
            <a:r>
              <a:rPr lang="en-US" dirty="0" err="1"/>
              <a:t>tulis</a:t>
            </a:r>
            <a:r>
              <a:rPr lang="en-US" dirty="0"/>
              <a:t> </a:t>
            </a:r>
            <a:r>
              <a:rPr lang="en-US" dirty="0" err="1"/>
              <a:t>dengan</a:t>
            </a:r>
            <a:r>
              <a:rPr lang="en-US" dirty="0"/>
              <a:t> </a:t>
            </a:r>
            <a:r>
              <a:rPr lang="en-US" dirty="0" err="1"/>
              <a:t>benar</a:t>
            </a:r>
            <a:r>
              <a:rPr lang="en-US" dirty="0"/>
              <a:t> </a:t>
            </a:r>
            <a:r>
              <a:rPr lang="en-US" dirty="0" err="1"/>
              <a:t>jika</a:t>
            </a:r>
            <a:r>
              <a:rPr lang="en-US" dirty="0"/>
              <a:t> </a:t>
            </a:r>
            <a:r>
              <a:rPr lang="en-US" dirty="0" err="1"/>
              <a:t>sudah</a:t>
            </a:r>
            <a:r>
              <a:rPr lang="en-US" dirty="0"/>
              <a:t> save </a:t>
            </a:r>
            <a:r>
              <a:rPr lang="en-US" dirty="0" err="1"/>
              <a:t>dan</a:t>
            </a:r>
            <a:r>
              <a:rPr lang="en-US" dirty="0"/>
              <a:t> exit.</a:t>
            </a:r>
          </a:p>
        </p:txBody>
      </p:sp>
      <p:sp>
        <p:nvSpPr>
          <p:cNvPr id="7" name="Rectangle 6"/>
          <p:cNvSpPr/>
          <p:nvPr/>
        </p:nvSpPr>
        <p:spPr>
          <a:xfrm>
            <a:off x="2801594" y="2747389"/>
            <a:ext cx="8607623" cy="3139321"/>
          </a:xfrm>
          <a:prstGeom prst="rect">
            <a:avLst/>
          </a:prstGeom>
          <a:ln>
            <a:solidFill>
              <a:schemeClr val="accent1"/>
            </a:solidFill>
          </a:ln>
        </p:spPr>
        <p:txBody>
          <a:bodyPr wrap="square">
            <a:spAutoFit/>
          </a:bodyPr>
          <a:lstStyle/>
          <a:p>
            <a:r>
              <a:rPr lang="en-US" dirty="0"/>
              <a:t># A slightly different configuration for an internal subnet.</a:t>
            </a:r>
          </a:p>
          <a:p>
            <a:r>
              <a:rPr lang="en-US" dirty="0"/>
              <a:t>subnet 192.168.10.0 </a:t>
            </a:r>
            <a:r>
              <a:rPr lang="en-US" dirty="0" err="1"/>
              <a:t>netmask</a:t>
            </a:r>
            <a:r>
              <a:rPr lang="en-US" dirty="0"/>
              <a:t> 255.255.255.0 {     # Network </a:t>
            </a:r>
            <a:r>
              <a:rPr lang="en-US" dirty="0" err="1"/>
              <a:t>dan</a:t>
            </a:r>
            <a:r>
              <a:rPr lang="en-US" dirty="0"/>
              <a:t> </a:t>
            </a:r>
            <a:r>
              <a:rPr lang="en-US" dirty="0" err="1"/>
              <a:t>Netmask</a:t>
            </a:r>
            <a:endParaRPr lang="en-US" dirty="0"/>
          </a:p>
          <a:p>
            <a:r>
              <a:rPr lang="en-US" dirty="0"/>
              <a:t>  range 192.168.10.10 192.168.10.100;           # Range IP Address yang </a:t>
            </a:r>
            <a:r>
              <a:rPr lang="en-US" dirty="0" err="1"/>
              <a:t>akan</a:t>
            </a:r>
            <a:r>
              <a:rPr lang="en-US" dirty="0"/>
              <a:t> </a:t>
            </a:r>
            <a:r>
              <a:rPr lang="en-US" dirty="0" err="1"/>
              <a:t>didistribusikan</a:t>
            </a:r>
            <a:endParaRPr lang="en-US" dirty="0"/>
          </a:p>
          <a:p>
            <a:r>
              <a:rPr lang="en-US" dirty="0"/>
              <a:t>  option domain-name-servers 8.8.8.8;           # DNS Address</a:t>
            </a:r>
          </a:p>
          <a:p>
            <a:r>
              <a:rPr lang="en-US" dirty="0"/>
              <a:t>  option domain-name "</a:t>
            </a:r>
            <a:r>
              <a:rPr lang="en-US" dirty="0" err="1"/>
              <a:t>zonabiner.dev</a:t>
            </a:r>
            <a:r>
              <a:rPr lang="en-US" dirty="0"/>
              <a:t>";           # Domain Name Local (Optional)</a:t>
            </a:r>
          </a:p>
          <a:p>
            <a:r>
              <a:rPr lang="en-US" dirty="0"/>
              <a:t>  option subnet-mask 255.255.255.0;             # Subnet Mask</a:t>
            </a:r>
          </a:p>
          <a:p>
            <a:r>
              <a:rPr lang="en-US" dirty="0"/>
              <a:t>  option routers 192.168.10.1;                  # IP </a:t>
            </a:r>
            <a:r>
              <a:rPr lang="en-US" dirty="0" err="1"/>
              <a:t>Gatewat</a:t>
            </a:r>
            <a:endParaRPr lang="en-US" dirty="0"/>
          </a:p>
          <a:p>
            <a:r>
              <a:rPr lang="en-US" dirty="0"/>
              <a:t>  option broadcast-address 192.168.10.255;      # Broadcast</a:t>
            </a:r>
          </a:p>
          <a:p>
            <a:r>
              <a:rPr lang="en-US" dirty="0"/>
              <a:t>  default-lease-time 600;</a:t>
            </a:r>
          </a:p>
          <a:p>
            <a:r>
              <a:rPr lang="en-US" dirty="0"/>
              <a:t>  max-lease-time 7200;</a:t>
            </a:r>
          </a:p>
          <a:p>
            <a:r>
              <a:rPr lang="en-US" dirty="0"/>
              <a:t>}</a:t>
            </a:r>
          </a:p>
        </p:txBody>
      </p:sp>
    </p:spTree>
    <p:extLst>
      <p:ext uri="{BB962C8B-B14F-4D97-AF65-F5344CB8AC3E}">
        <p14:creationId xmlns:p14="http://schemas.microsoft.com/office/powerpoint/2010/main" val="363930811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1672" y="166254"/>
            <a:ext cx="6096000" cy="1754326"/>
          </a:xfrm>
          <a:prstGeom prst="rect">
            <a:avLst/>
          </a:prstGeom>
        </p:spPr>
        <p:txBody>
          <a:bodyPr>
            <a:spAutoFit/>
          </a:bodyPr>
          <a:lstStyle/>
          <a:p>
            <a:pPr algn="just"/>
            <a:r>
              <a:rPr lang="en-US" dirty="0" smtClean="0"/>
              <a:t>5. </a:t>
            </a:r>
            <a:r>
              <a:rPr lang="en-US" dirty="0" err="1" smtClean="0"/>
              <a:t>Selanjutnya</a:t>
            </a:r>
            <a:r>
              <a:rPr lang="en-US" dirty="0" smtClean="0"/>
              <a:t> </a:t>
            </a:r>
            <a:r>
              <a:rPr lang="en-US" dirty="0" err="1"/>
              <a:t>kita</a:t>
            </a:r>
            <a:r>
              <a:rPr lang="en-US" dirty="0"/>
              <a:t> </a:t>
            </a:r>
            <a:r>
              <a:rPr lang="en-US" dirty="0" err="1"/>
              <a:t>lakukan</a:t>
            </a:r>
            <a:r>
              <a:rPr lang="en-US" dirty="0"/>
              <a:t> restart service </a:t>
            </a:r>
            <a:r>
              <a:rPr lang="en-US" dirty="0" err="1"/>
              <a:t>isc</a:t>
            </a:r>
            <a:r>
              <a:rPr lang="en-US" dirty="0"/>
              <a:t>-</a:t>
            </a:r>
            <a:r>
              <a:rPr lang="en-US" dirty="0" err="1"/>
              <a:t>dhcp</a:t>
            </a:r>
            <a:r>
              <a:rPr lang="en-US" dirty="0"/>
              <a:t>-server </a:t>
            </a:r>
            <a:r>
              <a:rPr lang="en-US" dirty="0" err="1"/>
              <a:t>supaya</a:t>
            </a:r>
            <a:r>
              <a:rPr lang="en-US" dirty="0"/>
              <a:t> </a:t>
            </a:r>
            <a:r>
              <a:rPr lang="en-US" dirty="0" err="1"/>
              <a:t>bisa</a:t>
            </a:r>
            <a:r>
              <a:rPr lang="en-US" dirty="0"/>
              <a:t> </a:t>
            </a:r>
            <a:r>
              <a:rPr lang="en-US" dirty="0" err="1"/>
              <a:t>membaca</a:t>
            </a:r>
            <a:r>
              <a:rPr lang="en-US" dirty="0"/>
              <a:t> </a:t>
            </a:r>
            <a:r>
              <a:rPr lang="en-US" dirty="0" err="1"/>
              <a:t>konfigurasi</a:t>
            </a:r>
            <a:r>
              <a:rPr lang="en-US" dirty="0"/>
              <a:t> </a:t>
            </a:r>
            <a:r>
              <a:rPr lang="en-US" dirty="0" err="1"/>
              <a:t>baru</a:t>
            </a:r>
            <a:r>
              <a:rPr lang="en-US" dirty="0"/>
              <a:t> yang </a:t>
            </a:r>
            <a:r>
              <a:rPr lang="en-US" dirty="0" err="1"/>
              <a:t>telah</a:t>
            </a:r>
            <a:r>
              <a:rPr lang="en-US" dirty="0"/>
              <a:t> </a:t>
            </a:r>
            <a:r>
              <a:rPr lang="en-US" dirty="0" err="1"/>
              <a:t>kita</a:t>
            </a:r>
            <a:r>
              <a:rPr lang="en-US" dirty="0"/>
              <a:t> </a:t>
            </a:r>
            <a:r>
              <a:rPr lang="en-US" dirty="0" err="1"/>
              <a:t>ubah</a:t>
            </a:r>
            <a:r>
              <a:rPr lang="en-US" dirty="0"/>
              <a:t>. </a:t>
            </a:r>
            <a:r>
              <a:rPr lang="en-US" dirty="0" err="1"/>
              <a:t>Pastikan</a:t>
            </a:r>
            <a:r>
              <a:rPr lang="en-US" dirty="0"/>
              <a:t> </a:t>
            </a:r>
            <a:r>
              <a:rPr lang="en-US" dirty="0" err="1"/>
              <a:t>isc</a:t>
            </a:r>
            <a:r>
              <a:rPr lang="en-US" dirty="0"/>
              <a:t>-</a:t>
            </a:r>
            <a:r>
              <a:rPr lang="en-US" dirty="0" err="1"/>
              <a:t>dhcp</a:t>
            </a:r>
            <a:r>
              <a:rPr lang="en-US" dirty="0"/>
              <a:t>-server </a:t>
            </a:r>
            <a:r>
              <a:rPr lang="en-US" dirty="0" err="1"/>
              <a:t>telah</a:t>
            </a:r>
            <a:r>
              <a:rPr lang="en-US" dirty="0"/>
              <a:t> running </a:t>
            </a:r>
            <a:r>
              <a:rPr lang="en-US" dirty="0" err="1"/>
              <a:t>dan</a:t>
            </a:r>
            <a:r>
              <a:rPr lang="en-US" dirty="0"/>
              <a:t> </a:t>
            </a:r>
            <a:r>
              <a:rPr lang="en-US" dirty="0" err="1"/>
              <a:t>tidak</a:t>
            </a:r>
            <a:r>
              <a:rPr lang="en-US" dirty="0"/>
              <a:t> </a:t>
            </a:r>
            <a:r>
              <a:rPr lang="en-US" dirty="0" err="1"/>
              <a:t>ditemukan</a:t>
            </a:r>
            <a:r>
              <a:rPr lang="en-US" dirty="0"/>
              <a:t> error. </a:t>
            </a:r>
            <a:r>
              <a:rPr lang="en-US" dirty="0" err="1"/>
              <a:t>Jika</a:t>
            </a:r>
            <a:r>
              <a:rPr lang="en-US" dirty="0"/>
              <a:t> </a:t>
            </a:r>
            <a:r>
              <a:rPr lang="en-US" dirty="0" err="1"/>
              <a:t>ditemukan</a:t>
            </a:r>
            <a:r>
              <a:rPr lang="en-US" dirty="0"/>
              <a:t> </a:t>
            </a:r>
            <a:r>
              <a:rPr lang="en-US" dirty="0" err="1"/>
              <a:t>adanya</a:t>
            </a:r>
            <a:r>
              <a:rPr lang="en-US" dirty="0"/>
              <a:t> error / service </a:t>
            </a:r>
            <a:r>
              <a:rPr lang="en-US" dirty="0" err="1"/>
              <a:t>isc</a:t>
            </a:r>
            <a:r>
              <a:rPr lang="en-US" dirty="0"/>
              <a:t>-</a:t>
            </a:r>
            <a:r>
              <a:rPr lang="en-US" dirty="0" err="1"/>
              <a:t>dhcp</a:t>
            </a:r>
            <a:r>
              <a:rPr lang="en-US" dirty="0"/>
              <a:t>-server </a:t>
            </a:r>
            <a:r>
              <a:rPr lang="en-US" dirty="0" err="1"/>
              <a:t>tidak</a:t>
            </a:r>
            <a:r>
              <a:rPr lang="en-US" dirty="0"/>
              <a:t> running </a:t>
            </a:r>
            <a:r>
              <a:rPr lang="en-US" dirty="0" err="1"/>
              <a:t>maka</a:t>
            </a:r>
            <a:r>
              <a:rPr lang="en-US" dirty="0"/>
              <a:t> </a:t>
            </a:r>
            <a:r>
              <a:rPr lang="en-US" dirty="0" err="1"/>
              <a:t>dapat</a:t>
            </a:r>
            <a:r>
              <a:rPr lang="en-US" dirty="0"/>
              <a:t> </a:t>
            </a:r>
            <a:r>
              <a:rPr lang="en-US" dirty="0" err="1"/>
              <a:t>dipastikan</a:t>
            </a:r>
            <a:r>
              <a:rPr lang="en-US" dirty="0"/>
              <a:t> </a:t>
            </a:r>
            <a:r>
              <a:rPr lang="en-US" dirty="0" err="1"/>
              <a:t>ada</a:t>
            </a:r>
            <a:r>
              <a:rPr lang="en-US" dirty="0"/>
              <a:t> </a:t>
            </a:r>
            <a:r>
              <a:rPr lang="en-US" dirty="0" err="1"/>
              <a:t>kekeliruan</a:t>
            </a:r>
            <a:r>
              <a:rPr lang="en-US" dirty="0"/>
              <a:t> </a:t>
            </a:r>
            <a:r>
              <a:rPr lang="en-US" dirty="0" err="1"/>
              <a:t>dalam</a:t>
            </a:r>
            <a:r>
              <a:rPr lang="en-US" dirty="0"/>
              <a:t> </a:t>
            </a:r>
            <a:r>
              <a:rPr lang="en-US" dirty="0" err="1"/>
              <a:t>konfigurasi</a:t>
            </a:r>
            <a:r>
              <a:rPr lang="en-US" dirty="0"/>
              <a:t>, </a:t>
            </a:r>
            <a:r>
              <a:rPr lang="en-US" dirty="0" err="1"/>
              <a:t>cek</a:t>
            </a:r>
            <a:r>
              <a:rPr lang="en-US" dirty="0"/>
              <a:t> </a:t>
            </a:r>
            <a:r>
              <a:rPr lang="en-US" dirty="0" err="1"/>
              <a:t>dan</a:t>
            </a:r>
            <a:r>
              <a:rPr lang="en-US" dirty="0"/>
              <a:t> </a:t>
            </a:r>
            <a:r>
              <a:rPr lang="en-US" dirty="0" err="1"/>
              <a:t>teliti</a:t>
            </a:r>
            <a:r>
              <a:rPr lang="en-US" dirty="0"/>
              <a:t> </a:t>
            </a:r>
            <a:r>
              <a:rPr lang="en-US" dirty="0" err="1"/>
              <a:t>kembali</a:t>
            </a:r>
            <a:r>
              <a:rPr lang="en-US" dirty="0"/>
              <a:t>.</a:t>
            </a:r>
          </a:p>
        </p:txBody>
      </p:sp>
      <p:sp>
        <p:nvSpPr>
          <p:cNvPr id="3" name="Rectangle 2"/>
          <p:cNvSpPr/>
          <p:nvPr/>
        </p:nvSpPr>
        <p:spPr>
          <a:xfrm>
            <a:off x="720542" y="2101334"/>
            <a:ext cx="3726661" cy="369332"/>
          </a:xfrm>
          <a:prstGeom prst="rect">
            <a:avLst/>
          </a:prstGeom>
        </p:spPr>
        <p:txBody>
          <a:bodyPr wrap="none">
            <a:spAutoFit/>
          </a:bodyPr>
          <a:lstStyle/>
          <a:p>
            <a:r>
              <a:rPr lang="en-US" dirty="0" err="1"/>
              <a:t>sudo</a:t>
            </a:r>
            <a:r>
              <a:rPr lang="en-US" dirty="0"/>
              <a:t> </a:t>
            </a:r>
            <a:r>
              <a:rPr lang="en-US" dirty="0" err="1"/>
              <a:t>systemctl</a:t>
            </a:r>
            <a:r>
              <a:rPr lang="en-US" dirty="0"/>
              <a:t> restart </a:t>
            </a:r>
            <a:r>
              <a:rPr lang="en-US" dirty="0" err="1"/>
              <a:t>isc</a:t>
            </a:r>
            <a:r>
              <a:rPr lang="en-US" dirty="0"/>
              <a:t>-</a:t>
            </a:r>
            <a:r>
              <a:rPr lang="en-US" dirty="0" err="1"/>
              <a:t>dhcp</a:t>
            </a:r>
            <a:r>
              <a:rPr lang="en-US" dirty="0"/>
              <a:t>-server</a:t>
            </a:r>
          </a:p>
        </p:txBody>
      </p:sp>
      <p:sp>
        <p:nvSpPr>
          <p:cNvPr id="6" name="Rectangle 5"/>
          <p:cNvSpPr/>
          <p:nvPr/>
        </p:nvSpPr>
        <p:spPr>
          <a:xfrm>
            <a:off x="1198418" y="2651420"/>
            <a:ext cx="8589819" cy="3647152"/>
          </a:xfrm>
          <a:prstGeom prst="rect">
            <a:avLst/>
          </a:prstGeom>
          <a:ln>
            <a:solidFill>
              <a:schemeClr val="accent1"/>
            </a:solidFill>
          </a:ln>
        </p:spPr>
        <p:txBody>
          <a:bodyPr wrap="square">
            <a:spAutoFit/>
          </a:bodyPr>
          <a:lstStyle/>
          <a:p>
            <a:r>
              <a:rPr lang="en-US" sz="1100" dirty="0" smtClean="0"/>
              <a:t>$ </a:t>
            </a:r>
            <a:r>
              <a:rPr lang="en-US" sz="1100" dirty="0" err="1" smtClean="0"/>
              <a:t>sudo</a:t>
            </a:r>
            <a:r>
              <a:rPr lang="en-US" sz="1100" dirty="0" smtClean="0"/>
              <a:t> </a:t>
            </a:r>
            <a:r>
              <a:rPr lang="en-US" sz="1100" dirty="0" err="1"/>
              <a:t>systemctl</a:t>
            </a:r>
            <a:r>
              <a:rPr lang="en-US" sz="1100" dirty="0"/>
              <a:t> status </a:t>
            </a:r>
            <a:r>
              <a:rPr lang="en-US" sz="1100" dirty="0" err="1"/>
              <a:t>isc</a:t>
            </a:r>
            <a:r>
              <a:rPr lang="en-US" sz="1100" dirty="0"/>
              <a:t>-</a:t>
            </a:r>
            <a:r>
              <a:rPr lang="en-US" sz="1100" dirty="0" err="1"/>
              <a:t>dhcp</a:t>
            </a:r>
            <a:r>
              <a:rPr lang="en-US" sz="1100" dirty="0"/>
              <a:t>-server</a:t>
            </a:r>
          </a:p>
          <a:p>
            <a:r>
              <a:rPr lang="en-US" sz="1100" dirty="0"/>
              <a:t>● </a:t>
            </a:r>
            <a:r>
              <a:rPr lang="en-US" sz="1100" dirty="0" err="1"/>
              <a:t>isc-dhcp-server.service</a:t>
            </a:r>
            <a:r>
              <a:rPr lang="en-US" sz="1100" dirty="0"/>
              <a:t> - ISC DHCP IPv4 server</a:t>
            </a:r>
          </a:p>
          <a:p>
            <a:r>
              <a:rPr lang="en-US" sz="1100" dirty="0"/>
              <a:t>     Loaded: loaded (/lib/</a:t>
            </a:r>
            <a:r>
              <a:rPr lang="en-US" sz="1100" dirty="0" err="1"/>
              <a:t>systemd</a:t>
            </a:r>
            <a:r>
              <a:rPr lang="en-US" sz="1100" dirty="0"/>
              <a:t>/system/</a:t>
            </a:r>
            <a:r>
              <a:rPr lang="en-US" sz="1100" dirty="0" err="1"/>
              <a:t>isc-dhcp-server.service</a:t>
            </a:r>
            <a:r>
              <a:rPr lang="en-US" sz="1100" dirty="0"/>
              <a:t>; enabled; vendor preset: enabled)</a:t>
            </a:r>
          </a:p>
          <a:p>
            <a:r>
              <a:rPr lang="en-US" sz="1100" dirty="0"/>
              <a:t>     Active: active (running) since Mon 2021-04-05 09:37:03 UTC; 1s ago</a:t>
            </a:r>
          </a:p>
          <a:p>
            <a:r>
              <a:rPr lang="en-US" sz="1100" dirty="0"/>
              <a:t>       Docs: </a:t>
            </a:r>
            <a:r>
              <a:rPr lang="en-US" sz="1100" dirty="0" err="1"/>
              <a:t>man:dhcpd</a:t>
            </a:r>
            <a:r>
              <a:rPr lang="en-US" sz="1100" dirty="0"/>
              <a:t>(8)</a:t>
            </a:r>
          </a:p>
          <a:p>
            <a:r>
              <a:rPr lang="en-US" sz="1100" dirty="0"/>
              <a:t>   Main PID: 2156 (</a:t>
            </a:r>
            <a:r>
              <a:rPr lang="en-US" sz="1100" dirty="0" err="1"/>
              <a:t>dhcpd</a:t>
            </a:r>
            <a:r>
              <a:rPr lang="en-US" sz="1100" dirty="0"/>
              <a:t>)</a:t>
            </a:r>
          </a:p>
          <a:p>
            <a:r>
              <a:rPr lang="en-US" sz="1100" dirty="0"/>
              <a:t>      Tasks: 4 (limit: 1073)</a:t>
            </a:r>
          </a:p>
          <a:p>
            <a:r>
              <a:rPr lang="en-US" sz="1100" dirty="0"/>
              <a:t>     Memory: 4.7M</a:t>
            </a:r>
          </a:p>
          <a:p>
            <a:r>
              <a:rPr lang="en-US" sz="1100" dirty="0"/>
              <a:t>     </a:t>
            </a:r>
            <a:r>
              <a:rPr lang="en-US" sz="1100" dirty="0" err="1"/>
              <a:t>CGroup</a:t>
            </a:r>
            <a:r>
              <a:rPr lang="en-US" sz="1100" dirty="0"/>
              <a:t>: /</a:t>
            </a:r>
            <a:r>
              <a:rPr lang="en-US" sz="1100" dirty="0" err="1"/>
              <a:t>system.slice</a:t>
            </a:r>
            <a:r>
              <a:rPr lang="en-US" sz="1100" dirty="0"/>
              <a:t>/</a:t>
            </a:r>
            <a:r>
              <a:rPr lang="en-US" sz="1100" dirty="0" err="1"/>
              <a:t>isc-dhcp-server.service</a:t>
            </a:r>
            <a:endParaRPr lang="en-US" sz="1100" dirty="0"/>
          </a:p>
          <a:p>
            <a:r>
              <a:rPr lang="en-US" sz="1100" dirty="0"/>
              <a:t>             └─2156 </a:t>
            </a:r>
            <a:r>
              <a:rPr lang="en-US" sz="1100" dirty="0" err="1"/>
              <a:t>dhcpd</a:t>
            </a:r>
            <a:r>
              <a:rPr lang="en-US" sz="1100" dirty="0"/>
              <a:t> -user </a:t>
            </a:r>
            <a:r>
              <a:rPr lang="en-US" sz="1100" dirty="0" err="1"/>
              <a:t>dhcpd</a:t>
            </a:r>
            <a:r>
              <a:rPr lang="en-US" sz="1100" dirty="0"/>
              <a:t> -group </a:t>
            </a:r>
            <a:r>
              <a:rPr lang="en-US" sz="1100" dirty="0" err="1"/>
              <a:t>dhcpd</a:t>
            </a:r>
            <a:r>
              <a:rPr lang="en-US" sz="1100" dirty="0"/>
              <a:t> -f -4 -pf /run/</a:t>
            </a:r>
            <a:r>
              <a:rPr lang="en-US" sz="1100" dirty="0" err="1"/>
              <a:t>dhcp</a:t>
            </a:r>
            <a:r>
              <a:rPr lang="en-US" sz="1100" dirty="0"/>
              <a:t>-server/</a:t>
            </a:r>
            <a:r>
              <a:rPr lang="en-US" sz="1100" dirty="0" err="1"/>
              <a:t>dhcpd.pid</a:t>
            </a:r>
            <a:r>
              <a:rPr lang="en-US" sz="1100" dirty="0"/>
              <a:t> -</a:t>
            </a:r>
            <a:r>
              <a:rPr lang="en-US" sz="1100" dirty="0" err="1"/>
              <a:t>cf</a:t>
            </a:r>
            <a:r>
              <a:rPr lang="en-US" sz="1100" dirty="0"/>
              <a:t> /</a:t>
            </a:r>
            <a:r>
              <a:rPr lang="en-US" sz="1100" dirty="0" err="1"/>
              <a:t>etc</a:t>
            </a:r>
            <a:r>
              <a:rPr lang="en-US" sz="1100" dirty="0"/>
              <a:t>/</a:t>
            </a:r>
            <a:r>
              <a:rPr lang="en-US" sz="1100" dirty="0" err="1"/>
              <a:t>dhcp</a:t>
            </a:r>
            <a:r>
              <a:rPr lang="en-US" sz="1100" dirty="0"/>
              <a:t>/</a:t>
            </a:r>
            <a:r>
              <a:rPr lang="en-US" sz="1100" dirty="0" err="1"/>
              <a:t>dhcpd.conf</a:t>
            </a:r>
            <a:r>
              <a:rPr lang="en-US" sz="1100" dirty="0"/>
              <a:t> </a:t>
            </a:r>
            <a:r>
              <a:rPr lang="en-US" sz="1100" dirty="0" err="1"/>
              <a:t>enp</a:t>
            </a:r>
            <a:r>
              <a:rPr lang="en-US" sz="1100" dirty="0"/>
              <a:t>&gt;</a:t>
            </a:r>
          </a:p>
          <a:p>
            <a:endParaRPr lang="en-US" sz="1100" dirty="0"/>
          </a:p>
          <a:p>
            <a:r>
              <a:rPr lang="en-US" sz="1100" dirty="0" smtClean="0"/>
              <a:t>August 10 00:37:03 </a:t>
            </a:r>
            <a:r>
              <a:rPr lang="en-US" sz="1100" dirty="0" err="1" smtClean="0"/>
              <a:t>zonabiner</a:t>
            </a:r>
            <a:r>
              <a:rPr lang="en-US" sz="1100" dirty="0" smtClean="0"/>
              <a:t> </a:t>
            </a:r>
            <a:r>
              <a:rPr lang="en-US" sz="1100" dirty="0" err="1"/>
              <a:t>dhcpd</a:t>
            </a:r>
            <a:r>
              <a:rPr lang="en-US" sz="1100" dirty="0"/>
              <a:t>[2156]: PID file: /run/</a:t>
            </a:r>
            <a:r>
              <a:rPr lang="en-US" sz="1100" dirty="0" err="1"/>
              <a:t>dhcp</a:t>
            </a:r>
            <a:r>
              <a:rPr lang="en-US" sz="1100" dirty="0"/>
              <a:t>-server/</a:t>
            </a:r>
            <a:r>
              <a:rPr lang="en-US" sz="1100" dirty="0" err="1"/>
              <a:t>dhcpd.pid</a:t>
            </a:r>
            <a:endParaRPr lang="en-US" sz="1100" dirty="0"/>
          </a:p>
          <a:p>
            <a:r>
              <a:rPr lang="en-US" sz="1100" dirty="0" smtClean="0"/>
              <a:t>August 10 00:37:03 </a:t>
            </a:r>
            <a:r>
              <a:rPr lang="en-US" sz="1100" dirty="0" err="1" smtClean="0"/>
              <a:t>zonabiner</a:t>
            </a:r>
            <a:r>
              <a:rPr lang="en-US" sz="1100" dirty="0" smtClean="0"/>
              <a:t> </a:t>
            </a:r>
            <a:r>
              <a:rPr lang="en-US" sz="1100" dirty="0" err="1"/>
              <a:t>dhcpd</a:t>
            </a:r>
            <a:r>
              <a:rPr lang="en-US" sz="1100" dirty="0"/>
              <a:t>[2156]: Wrote 0 leases to leases file.</a:t>
            </a:r>
          </a:p>
          <a:p>
            <a:r>
              <a:rPr lang="en-US" sz="1100" dirty="0" smtClean="0"/>
              <a:t>August 10 00:37:03 </a:t>
            </a:r>
            <a:r>
              <a:rPr lang="en-US" sz="1100" dirty="0" err="1" smtClean="0"/>
              <a:t>zonabiner</a:t>
            </a:r>
            <a:r>
              <a:rPr lang="en-US" sz="1100" dirty="0" smtClean="0"/>
              <a:t> </a:t>
            </a:r>
            <a:r>
              <a:rPr lang="en-US" sz="1100" dirty="0" err="1"/>
              <a:t>sh</a:t>
            </a:r>
            <a:r>
              <a:rPr lang="en-US" sz="1100" dirty="0"/>
              <a:t>[2156]: Wrote 0 leases to leases file.</a:t>
            </a:r>
          </a:p>
          <a:p>
            <a:r>
              <a:rPr lang="en-US" sz="1100" dirty="0" smtClean="0"/>
              <a:t>August 10 00:37:03 </a:t>
            </a:r>
            <a:r>
              <a:rPr lang="en-US" sz="1100" dirty="0" err="1" smtClean="0"/>
              <a:t>zonabiner</a:t>
            </a:r>
            <a:r>
              <a:rPr lang="en-US" sz="1100" dirty="0" smtClean="0"/>
              <a:t> </a:t>
            </a:r>
            <a:r>
              <a:rPr lang="en-US" sz="1100" dirty="0" err="1"/>
              <a:t>dhcpd</a:t>
            </a:r>
            <a:r>
              <a:rPr lang="en-US" sz="1100" dirty="0"/>
              <a:t>[2156]: Listening on LPF/enp0s8/08:00:27:3f:5a:02/192.168.10.0/24</a:t>
            </a:r>
          </a:p>
          <a:p>
            <a:r>
              <a:rPr lang="en-US" sz="1100" dirty="0" smtClean="0"/>
              <a:t>August 10 00:37:03 </a:t>
            </a:r>
            <a:r>
              <a:rPr lang="en-US" sz="1100" dirty="0" err="1" smtClean="0"/>
              <a:t>zonabiner</a:t>
            </a:r>
            <a:r>
              <a:rPr lang="en-US" sz="1100" dirty="0" smtClean="0"/>
              <a:t> </a:t>
            </a:r>
            <a:r>
              <a:rPr lang="en-US" sz="1100" dirty="0" err="1"/>
              <a:t>sh</a:t>
            </a:r>
            <a:r>
              <a:rPr lang="en-US" sz="1100" dirty="0"/>
              <a:t>[2156]: Listening on LPF/enp0s8/08:00:27:3f:5a:02/192.168.10.0/24</a:t>
            </a:r>
          </a:p>
          <a:p>
            <a:r>
              <a:rPr lang="en-US" sz="1100" dirty="0" smtClean="0"/>
              <a:t>August 10 00:37:03 </a:t>
            </a:r>
            <a:r>
              <a:rPr lang="en-US" sz="1100" dirty="0" err="1" smtClean="0"/>
              <a:t>zonabiner</a:t>
            </a:r>
            <a:r>
              <a:rPr lang="en-US" sz="1100" dirty="0" smtClean="0"/>
              <a:t> </a:t>
            </a:r>
            <a:r>
              <a:rPr lang="en-US" sz="1100" dirty="0" err="1"/>
              <a:t>sh</a:t>
            </a:r>
            <a:r>
              <a:rPr lang="en-US" sz="1100" dirty="0"/>
              <a:t>[2156]: Sending on   LPF/enp0s8/08:00:27:3f:5a:02/192.168.10.0/24</a:t>
            </a:r>
          </a:p>
          <a:p>
            <a:r>
              <a:rPr lang="en-US" sz="1100" dirty="0" smtClean="0"/>
              <a:t>August 10 00:37:03 </a:t>
            </a:r>
            <a:r>
              <a:rPr lang="en-US" sz="1100" dirty="0" err="1" smtClean="0"/>
              <a:t>zonabiner</a:t>
            </a:r>
            <a:r>
              <a:rPr lang="en-US" sz="1100" dirty="0" smtClean="0"/>
              <a:t> </a:t>
            </a:r>
            <a:r>
              <a:rPr lang="en-US" sz="1100" dirty="0" err="1"/>
              <a:t>sh</a:t>
            </a:r>
            <a:r>
              <a:rPr lang="en-US" sz="1100" dirty="0"/>
              <a:t>[2156]: Sending on   Socket/fallback/fallback-net</a:t>
            </a:r>
          </a:p>
          <a:p>
            <a:r>
              <a:rPr lang="en-US" sz="1100" dirty="0" smtClean="0"/>
              <a:t>August 10 00:37:03 </a:t>
            </a:r>
            <a:r>
              <a:rPr lang="en-US" sz="1100" dirty="0" err="1" smtClean="0"/>
              <a:t>zonabiner</a:t>
            </a:r>
            <a:r>
              <a:rPr lang="en-US" sz="1100" dirty="0" smtClean="0"/>
              <a:t> </a:t>
            </a:r>
            <a:r>
              <a:rPr lang="en-US" sz="1100" dirty="0" err="1"/>
              <a:t>dhcpd</a:t>
            </a:r>
            <a:r>
              <a:rPr lang="en-US" sz="1100" dirty="0"/>
              <a:t>[2156]: Sending on   LPF/enp0s8/08:00:27:3f:5a:02/192.168.10.0/24</a:t>
            </a:r>
          </a:p>
          <a:p>
            <a:r>
              <a:rPr lang="en-US" sz="1100" dirty="0" smtClean="0"/>
              <a:t>August 10 00:37:03 </a:t>
            </a:r>
            <a:r>
              <a:rPr lang="en-US" sz="1100" dirty="0" err="1" smtClean="0"/>
              <a:t>zonabiner</a:t>
            </a:r>
            <a:r>
              <a:rPr lang="en-US" sz="1100" dirty="0" smtClean="0"/>
              <a:t> </a:t>
            </a:r>
            <a:r>
              <a:rPr lang="en-US" sz="1100" dirty="0" err="1"/>
              <a:t>dhcpd</a:t>
            </a:r>
            <a:r>
              <a:rPr lang="en-US" sz="1100" dirty="0"/>
              <a:t>[2156]: Sending on   Socket/fallback/fallback-net</a:t>
            </a:r>
          </a:p>
          <a:p>
            <a:r>
              <a:rPr lang="en-US" sz="1100" dirty="0" smtClean="0"/>
              <a:t>August 10 00:37:03 </a:t>
            </a:r>
            <a:r>
              <a:rPr lang="en-US" sz="1100" dirty="0" err="1" smtClean="0"/>
              <a:t>zonabiner</a:t>
            </a:r>
            <a:r>
              <a:rPr lang="en-US" sz="1100" dirty="0" smtClean="0"/>
              <a:t> </a:t>
            </a:r>
            <a:r>
              <a:rPr lang="en-US" sz="1100" dirty="0" err="1"/>
              <a:t>dhcpd</a:t>
            </a:r>
            <a:r>
              <a:rPr lang="en-US" sz="1100" dirty="0"/>
              <a:t>[2156]: Server starting service.</a:t>
            </a:r>
          </a:p>
        </p:txBody>
      </p:sp>
    </p:spTree>
    <p:extLst>
      <p:ext uri="{BB962C8B-B14F-4D97-AF65-F5344CB8AC3E}">
        <p14:creationId xmlns:p14="http://schemas.microsoft.com/office/powerpoint/2010/main" val="359624759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0273" y="238220"/>
            <a:ext cx="6096000" cy="2308324"/>
          </a:xfrm>
          <a:prstGeom prst="rect">
            <a:avLst/>
          </a:prstGeom>
        </p:spPr>
        <p:txBody>
          <a:bodyPr>
            <a:spAutoFit/>
          </a:bodyPr>
          <a:lstStyle/>
          <a:p>
            <a:pPr algn="just"/>
            <a:r>
              <a:rPr lang="en-US" dirty="0" smtClean="0"/>
              <a:t>6. </a:t>
            </a:r>
            <a:r>
              <a:rPr lang="en-US" dirty="0" err="1" smtClean="0"/>
              <a:t>Jika</a:t>
            </a:r>
            <a:r>
              <a:rPr lang="en-US" dirty="0" smtClean="0"/>
              <a:t> </a:t>
            </a:r>
            <a:r>
              <a:rPr lang="en-US" dirty="0"/>
              <a:t>service </a:t>
            </a:r>
            <a:r>
              <a:rPr lang="en-US" dirty="0" err="1"/>
              <a:t>isc</a:t>
            </a:r>
            <a:r>
              <a:rPr lang="en-US" dirty="0"/>
              <a:t>-</a:t>
            </a:r>
            <a:r>
              <a:rPr lang="en-US" dirty="0" err="1"/>
              <a:t>dhcp</a:t>
            </a:r>
            <a:r>
              <a:rPr lang="en-US" dirty="0"/>
              <a:t>-server </a:t>
            </a:r>
            <a:r>
              <a:rPr lang="en-US" dirty="0" err="1"/>
              <a:t>telah</a:t>
            </a:r>
            <a:r>
              <a:rPr lang="en-US" dirty="0"/>
              <a:t> running </a:t>
            </a:r>
            <a:r>
              <a:rPr lang="en-US" dirty="0" err="1"/>
              <a:t>tidak</a:t>
            </a:r>
            <a:r>
              <a:rPr lang="en-US" dirty="0"/>
              <a:t> </a:t>
            </a:r>
            <a:r>
              <a:rPr lang="en-US" dirty="0" err="1"/>
              <a:t>ada</a:t>
            </a:r>
            <a:r>
              <a:rPr lang="en-US" dirty="0"/>
              <a:t> error </a:t>
            </a:r>
            <a:r>
              <a:rPr lang="en-US" dirty="0" err="1"/>
              <a:t>maka</a:t>
            </a:r>
            <a:r>
              <a:rPr lang="en-US" dirty="0"/>
              <a:t> </a:t>
            </a:r>
            <a:r>
              <a:rPr lang="en-US" dirty="0" err="1"/>
              <a:t>selanjutnya</a:t>
            </a:r>
            <a:r>
              <a:rPr lang="en-US" dirty="0"/>
              <a:t> </a:t>
            </a:r>
            <a:r>
              <a:rPr lang="en-US" dirty="0" err="1"/>
              <a:t>kita</a:t>
            </a:r>
            <a:r>
              <a:rPr lang="en-US" dirty="0"/>
              <a:t> </a:t>
            </a:r>
            <a:r>
              <a:rPr lang="en-US" dirty="0" err="1"/>
              <a:t>coba</a:t>
            </a:r>
            <a:r>
              <a:rPr lang="en-US" dirty="0"/>
              <a:t> DHCP Server </a:t>
            </a:r>
            <a:r>
              <a:rPr lang="en-US" dirty="0" err="1"/>
              <a:t>kita</a:t>
            </a:r>
            <a:r>
              <a:rPr lang="en-US" dirty="0"/>
              <a:t>. </a:t>
            </a:r>
            <a:r>
              <a:rPr lang="en-US" dirty="0" err="1"/>
              <a:t>Disini</a:t>
            </a:r>
            <a:r>
              <a:rPr lang="en-US" dirty="0"/>
              <a:t> </a:t>
            </a:r>
            <a:r>
              <a:rPr lang="en-US" dirty="0" err="1"/>
              <a:t>saya</a:t>
            </a:r>
            <a:r>
              <a:rPr lang="en-US" dirty="0"/>
              <a:t> </a:t>
            </a:r>
            <a:r>
              <a:rPr lang="en-US" dirty="0" err="1"/>
              <a:t>mencoba</a:t>
            </a:r>
            <a:r>
              <a:rPr lang="en-US" dirty="0"/>
              <a:t> DHCP Server </a:t>
            </a:r>
            <a:r>
              <a:rPr lang="en-US" dirty="0" err="1"/>
              <a:t>pada</a:t>
            </a:r>
            <a:r>
              <a:rPr lang="en-US" dirty="0"/>
              <a:t> </a:t>
            </a:r>
            <a:r>
              <a:rPr lang="en-US" dirty="0" err="1"/>
              <a:t>sistem</a:t>
            </a:r>
            <a:r>
              <a:rPr lang="en-US" dirty="0"/>
              <a:t> </a:t>
            </a:r>
            <a:r>
              <a:rPr lang="en-US" dirty="0" err="1"/>
              <a:t>operasi</a:t>
            </a:r>
            <a:r>
              <a:rPr lang="en-US" dirty="0"/>
              <a:t> windows 7. </a:t>
            </a:r>
            <a:r>
              <a:rPr lang="en-US" dirty="0" err="1"/>
              <a:t>Jika</a:t>
            </a:r>
            <a:r>
              <a:rPr lang="en-US" dirty="0"/>
              <a:t> DHCP Client </a:t>
            </a:r>
            <a:r>
              <a:rPr lang="en-US" dirty="0" err="1"/>
              <a:t>berhasil</a:t>
            </a:r>
            <a:r>
              <a:rPr lang="en-US" dirty="0"/>
              <a:t> </a:t>
            </a:r>
            <a:r>
              <a:rPr lang="en-US" dirty="0" err="1"/>
              <a:t>mendapatkan</a:t>
            </a:r>
            <a:r>
              <a:rPr lang="en-US" dirty="0"/>
              <a:t> IP Address </a:t>
            </a:r>
            <a:r>
              <a:rPr lang="en-US" dirty="0" err="1"/>
              <a:t>seperti</a:t>
            </a:r>
            <a:r>
              <a:rPr lang="en-US" dirty="0"/>
              <a:t> </a:t>
            </a:r>
            <a:r>
              <a:rPr lang="en-US" dirty="0" err="1"/>
              <a:t>berikut</a:t>
            </a:r>
            <a:r>
              <a:rPr lang="en-US" dirty="0"/>
              <a:t> </a:t>
            </a:r>
            <a:r>
              <a:rPr lang="en-US" dirty="0" err="1"/>
              <a:t>ini</a:t>
            </a:r>
            <a:r>
              <a:rPr lang="en-US" dirty="0"/>
              <a:t> </a:t>
            </a:r>
            <a:r>
              <a:rPr lang="en-US" dirty="0" err="1"/>
              <a:t>maka</a:t>
            </a:r>
            <a:r>
              <a:rPr lang="en-US" dirty="0"/>
              <a:t> </a:t>
            </a:r>
            <a:r>
              <a:rPr lang="en-US" dirty="0" err="1"/>
              <a:t>kita</a:t>
            </a:r>
            <a:r>
              <a:rPr lang="en-US" dirty="0"/>
              <a:t> </a:t>
            </a:r>
            <a:r>
              <a:rPr lang="en-US" dirty="0" err="1"/>
              <a:t>telah</a:t>
            </a:r>
            <a:r>
              <a:rPr lang="en-US" dirty="0"/>
              <a:t> </a:t>
            </a:r>
            <a:r>
              <a:rPr lang="en-US" dirty="0" err="1"/>
              <a:t>selesai</a:t>
            </a:r>
            <a:r>
              <a:rPr lang="en-US" dirty="0"/>
              <a:t> </a:t>
            </a:r>
            <a:r>
              <a:rPr lang="en-US" dirty="0" err="1"/>
              <a:t>dan</a:t>
            </a:r>
            <a:r>
              <a:rPr lang="en-US" dirty="0"/>
              <a:t> </a:t>
            </a:r>
            <a:r>
              <a:rPr lang="en-US" dirty="0" err="1"/>
              <a:t>berhasil</a:t>
            </a:r>
            <a:r>
              <a:rPr lang="en-US" dirty="0"/>
              <a:t> </a:t>
            </a:r>
            <a:r>
              <a:rPr lang="en-US" dirty="0" err="1"/>
              <a:t>melakukan</a:t>
            </a:r>
            <a:r>
              <a:rPr lang="en-US" dirty="0"/>
              <a:t> </a:t>
            </a:r>
            <a:r>
              <a:rPr lang="en-US" dirty="0" err="1"/>
              <a:t>konfigurasi</a:t>
            </a:r>
            <a:r>
              <a:rPr lang="en-US" dirty="0"/>
              <a:t> DHCP Server </a:t>
            </a:r>
            <a:r>
              <a:rPr lang="en-US" dirty="0" err="1"/>
              <a:t>menggunakan</a:t>
            </a:r>
            <a:r>
              <a:rPr lang="en-US" dirty="0"/>
              <a:t> </a:t>
            </a:r>
            <a:r>
              <a:rPr lang="en-US" dirty="0" err="1"/>
              <a:t>isc</a:t>
            </a:r>
            <a:r>
              <a:rPr lang="en-US" dirty="0"/>
              <a:t>-</a:t>
            </a:r>
            <a:r>
              <a:rPr lang="en-US" dirty="0" err="1"/>
              <a:t>dhcp</a:t>
            </a:r>
            <a:r>
              <a:rPr lang="en-US" dirty="0"/>
              <a:t>-server </a:t>
            </a:r>
            <a:r>
              <a:rPr lang="en-US" dirty="0" err="1"/>
              <a:t>pada</a:t>
            </a:r>
            <a:r>
              <a:rPr lang="en-US" dirty="0"/>
              <a:t> Ubuntu 20.04 LTS. </a:t>
            </a:r>
            <a:r>
              <a:rPr lang="en-US" dirty="0" err="1"/>
              <a:t>Cukup</a:t>
            </a:r>
            <a:r>
              <a:rPr lang="en-US" dirty="0"/>
              <a:t> </a:t>
            </a:r>
            <a:r>
              <a:rPr lang="en-US" dirty="0" err="1"/>
              <a:t>Sekian</a:t>
            </a:r>
            <a:r>
              <a:rPr lang="en-US" dirty="0"/>
              <a:t> </a:t>
            </a:r>
            <a:r>
              <a:rPr lang="en-US" dirty="0" err="1"/>
              <a:t>dari</a:t>
            </a:r>
            <a:r>
              <a:rPr lang="en-US" dirty="0"/>
              <a:t> admin </a:t>
            </a:r>
            <a:r>
              <a:rPr lang="en-US" dirty="0" err="1"/>
              <a:t>kurang</a:t>
            </a:r>
            <a:r>
              <a:rPr lang="en-US" dirty="0"/>
              <a:t> </a:t>
            </a:r>
            <a:r>
              <a:rPr lang="en-US" dirty="0" err="1"/>
              <a:t>dan</a:t>
            </a:r>
            <a:r>
              <a:rPr lang="en-US" dirty="0"/>
              <a:t> </a:t>
            </a:r>
            <a:r>
              <a:rPr lang="en-US" dirty="0" err="1"/>
              <a:t>lebihnya</a:t>
            </a:r>
            <a:r>
              <a:rPr lang="en-US" dirty="0"/>
              <a:t> </a:t>
            </a:r>
            <a:r>
              <a:rPr lang="en-US" dirty="0" err="1"/>
              <a:t>mohon</a:t>
            </a:r>
            <a:r>
              <a:rPr lang="en-US" dirty="0"/>
              <a:t> </a:t>
            </a:r>
            <a:r>
              <a:rPr lang="en-US" dirty="0" err="1"/>
              <a:t>maaf</a:t>
            </a:r>
            <a:r>
              <a:rPr lang="en-US" dirty="0"/>
              <a:t>, </a:t>
            </a:r>
            <a:r>
              <a:rPr lang="en-US" dirty="0" err="1"/>
              <a:t>bagikan</a:t>
            </a:r>
            <a:r>
              <a:rPr lang="en-US" dirty="0"/>
              <a:t> </a:t>
            </a:r>
            <a:r>
              <a:rPr lang="en-US" dirty="0" err="1"/>
              <a:t>postingan</a:t>
            </a:r>
            <a:r>
              <a:rPr lang="en-US" dirty="0"/>
              <a:t> </a:t>
            </a:r>
            <a:r>
              <a:rPr lang="en-US" dirty="0" err="1"/>
              <a:t>ini</a:t>
            </a:r>
            <a:r>
              <a:rPr lang="en-US" dirty="0"/>
              <a:t> </a:t>
            </a:r>
            <a:r>
              <a:rPr lang="en-US" dirty="0" err="1"/>
              <a:t>jika</a:t>
            </a:r>
            <a:r>
              <a:rPr lang="en-US" dirty="0"/>
              <a:t> </a:t>
            </a:r>
            <a:r>
              <a:rPr lang="en-US" dirty="0" err="1"/>
              <a:t>bermanfaat</a:t>
            </a:r>
            <a:r>
              <a:rPr lang="en-US" dirty="0"/>
              <a:t> </a:t>
            </a:r>
            <a:r>
              <a:rPr lang="en-US" dirty="0" err="1"/>
              <a:t>dan</a:t>
            </a:r>
            <a:r>
              <a:rPr lang="en-US" dirty="0"/>
              <a:t> </a:t>
            </a:r>
            <a:r>
              <a:rPr lang="en-US" dirty="0" err="1"/>
              <a:t>Terimakasih</a:t>
            </a:r>
            <a:r>
              <a:rPr lang="en-US" dirty="0"/>
              <a:t>.</a:t>
            </a:r>
          </a:p>
        </p:txBody>
      </p:sp>
      <p:pic>
        <p:nvPicPr>
          <p:cNvPr id="3" name="Picture 2"/>
          <p:cNvPicPr>
            <a:picLocks noChangeAspect="1"/>
          </p:cNvPicPr>
          <p:nvPr/>
        </p:nvPicPr>
        <p:blipFill>
          <a:blip r:embed="rId2"/>
          <a:stretch>
            <a:fillRect/>
          </a:stretch>
        </p:blipFill>
        <p:spPr>
          <a:xfrm>
            <a:off x="685800" y="2788997"/>
            <a:ext cx="3027218" cy="3489710"/>
          </a:xfrm>
          <a:prstGeom prst="rect">
            <a:avLst/>
          </a:prstGeom>
        </p:spPr>
      </p:pic>
      <p:pic>
        <p:nvPicPr>
          <p:cNvPr id="4" name="Picture 3"/>
          <p:cNvPicPr>
            <a:picLocks noChangeAspect="1"/>
          </p:cNvPicPr>
          <p:nvPr/>
        </p:nvPicPr>
        <p:blipFill>
          <a:blip r:embed="rId3"/>
          <a:stretch>
            <a:fillRect/>
          </a:stretch>
        </p:blipFill>
        <p:spPr>
          <a:xfrm>
            <a:off x="4491471" y="2730885"/>
            <a:ext cx="6991350" cy="3810000"/>
          </a:xfrm>
          <a:prstGeom prst="rect">
            <a:avLst/>
          </a:prstGeom>
        </p:spPr>
      </p:pic>
    </p:spTree>
    <p:extLst>
      <p:ext uri="{BB962C8B-B14F-4D97-AF65-F5344CB8AC3E}">
        <p14:creationId xmlns:p14="http://schemas.microsoft.com/office/powerpoint/2010/main" val="25049912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Subtitle 2"/>
          <p:cNvSpPr txBox="1">
            <a:spLocks/>
          </p:cNvSpPr>
          <p:nvPr/>
        </p:nvSpPr>
        <p:spPr>
          <a:xfrm>
            <a:off x="1104646" y="3817180"/>
            <a:ext cx="5178582" cy="165576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just">
              <a:buFontTx/>
              <a:buChar char="-"/>
            </a:pPr>
            <a:endParaRPr lang="en-US" sz="1600" dirty="0">
              <a:latin typeface="Times New Roman" panose="02020603050405020304" pitchFamily="18" charset="0"/>
              <a:cs typeface="Times New Roman" panose="02020603050405020304" pitchFamily="18" charset="0"/>
            </a:endParaRPr>
          </a:p>
        </p:txBody>
      </p:sp>
      <p:sp>
        <p:nvSpPr>
          <p:cNvPr id="9" name="TextBox 8"/>
          <p:cNvSpPr txBox="1"/>
          <p:nvPr/>
        </p:nvSpPr>
        <p:spPr>
          <a:xfrm>
            <a:off x="7592048" y="4424926"/>
            <a:ext cx="4376174" cy="1723549"/>
          </a:xfrm>
          <a:prstGeom prst="rect">
            <a:avLst/>
          </a:prstGeom>
          <a:noFill/>
        </p:spPr>
        <p:txBody>
          <a:bodyPr wrap="square" rtlCol="0">
            <a:spAutoFit/>
          </a:bodyPr>
          <a:lstStyle/>
          <a:p>
            <a:r>
              <a:rPr lang="en-US" sz="6600" dirty="0">
                <a:latin typeface="Edwardian Script ITC" panose="030303020407070D0804" pitchFamily="66" charset="0"/>
              </a:rPr>
              <a:t>Thank You !!</a:t>
            </a:r>
          </a:p>
          <a:p>
            <a:pPr algn="ctr"/>
            <a:r>
              <a:rPr lang="en-US" sz="4000" dirty="0">
                <a:latin typeface="Edwardian Script ITC" panose="030303020407070D0804" pitchFamily="66" charset="0"/>
              </a:rPr>
              <a:t> </a:t>
            </a:r>
          </a:p>
        </p:txBody>
      </p:sp>
      <p:sp>
        <p:nvSpPr>
          <p:cNvPr id="8" name="Rectangle 7"/>
          <p:cNvSpPr/>
          <p:nvPr/>
        </p:nvSpPr>
        <p:spPr>
          <a:xfrm>
            <a:off x="9507866" y="6056142"/>
            <a:ext cx="2613761" cy="230832"/>
          </a:xfrm>
          <a:prstGeom prst="rect">
            <a:avLst/>
          </a:prstGeom>
        </p:spPr>
        <p:txBody>
          <a:bodyPr wrap="square">
            <a:spAutoFit/>
          </a:bodyPr>
          <a:lstStyle/>
          <a:p>
            <a:r>
              <a:rPr lang="en-US" sz="900" dirty="0"/>
              <a:t>https://www.youtube.com/@AmelOline/videos</a:t>
            </a:r>
          </a:p>
        </p:txBody>
      </p:sp>
      <p:sp>
        <p:nvSpPr>
          <p:cNvPr id="10" name="Rectangle 9"/>
          <p:cNvSpPr/>
          <p:nvPr/>
        </p:nvSpPr>
        <p:spPr>
          <a:xfrm>
            <a:off x="10344774" y="5917643"/>
            <a:ext cx="1623448" cy="230832"/>
          </a:xfrm>
          <a:prstGeom prst="rect">
            <a:avLst/>
          </a:prstGeom>
        </p:spPr>
        <p:txBody>
          <a:bodyPr wrap="square">
            <a:spAutoFit/>
          </a:bodyPr>
          <a:lstStyle/>
          <a:p>
            <a:r>
              <a:rPr lang="en-US" sz="900" dirty="0"/>
              <a:t>https://github.com/siagianp</a:t>
            </a:r>
          </a:p>
        </p:txBody>
      </p:sp>
      <p:sp>
        <p:nvSpPr>
          <p:cNvPr id="11" name="Rectangle 10"/>
          <p:cNvSpPr/>
          <p:nvPr/>
        </p:nvSpPr>
        <p:spPr>
          <a:xfrm>
            <a:off x="8531473" y="6194642"/>
            <a:ext cx="3667194" cy="230832"/>
          </a:xfrm>
          <a:prstGeom prst="rect">
            <a:avLst/>
          </a:prstGeom>
        </p:spPr>
        <p:txBody>
          <a:bodyPr wrap="square">
            <a:spAutoFit/>
          </a:bodyPr>
          <a:lstStyle/>
          <a:p>
            <a:r>
              <a:rPr lang="en-US" sz="900" dirty="0"/>
              <a:t>https://github.com/amelcharolinesgn2/IoT_simulator-mqtt-NodeRed</a:t>
            </a:r>
          </a:p>
        </p:txBody>
      </p:sp>
      <p:sp>
        <p:nvSpPr>
          <p:cNvPr id="12" name="Rectangle 11"/>
          <p:cNvSpPr/>
          <p:nvPr/>
        </p:nvSpPr>
        <p:spPr>
          <a:xfrm>
            <a:off x="8977163" y="6333141"/>
            <a:ext cx="3204723" cy="230832"/>
          </a:xfrm>
          <a:prstGeom prst="rect">
            <a:avLst/>
          </a:prstGeom>
        </p:spPr>
        <p:txBody>
          <a:bodyPr wrap="none">
            <a:spAutoFit/>
          </a:bodyPr>
          <a:lstStyle/>
          <a:p>
            <a:r>
              <a:rPr lang="en-US" sz="900" dirty="0"/>
              <a:t>https://github.com/amelcharolinesgn2/Cloud-Infrastructures</a:t>
            </a:r>
          </a:p>
        </p:txBody>
      </p:sp>
      <p:sp>
        <p:nvSpPr>
          <p:cNvPr id="13" name="Rectangle 12"/>
          <p:cNvSpPr/>
          <p:nvPr/>
        </p:nvSpPr>
        <p:spPr>
          <a:xfrm>
            <a:off x="8444566" y="6506265"/>
            <a:ext cx="3839513" cy="230832"/>
          </a:xfrm>
          <a:prstGeom prst="rect">
            <a:avLst/>
          </a:prstGeom>
        </p:spPr>
        <p:txBody>
          <a:bodyPr wrap="none">
            <a:spAutoFit/>
          </a:bodyPr>
          <a:lstStyle/>
          <a:p>
            <a:r>
              <a:rPr lang="en-US" sz="900" dirty="0"/>
              <a:t>https://github.com/amelcharolinesgn2/ClouD-Infrastructure-SISKA-2025</a:t>
            </a:r>
          </a:p>
        </p:txBody>
      </p:sp>
      <p:grpSp>
        <p:nvGrpSpPr>
          <p:cNvPr id="15" name="Group 14"/>
          <p:cNvGrpSpPr/>
          <p:nvPr/>
        </p:nvGrpSpPr>
        <p:grpSpPr>
          <a:xfrm>
            <a:off x="54496" y="359621"/>
            <a:ext cx="4804363" cy="2463094"/>
            <a:chOff x="54496" y="359621"/>
            <a:chExt cx="4804363" cy="2463094"/>
          </a:xfrm>
        </p:grpSpPr>
        <p:pic>
          <p:nvPicPr>
            <p:cNvPr id="16" name="Picture 15"/>
            <p:cNvPicPr>
              <a:picLocks noChangeAspect="1"/>
            </p:cNvPicPr>
            <p:nvPr/>
          </p:nvPicPr>
          <p:blipFill>
            <a:blip r:embed="rId3"/>
            <a:stretch>
              <a:fillRect/>
            </a:stretch>
          </p:blipFill>
          <p:spPr>
            <a:xfrm>
              <a:off x="235105" y="1901987"/>
              <a:ext cx="3104181" cy="263526"/>
            </a:xfrm>
            <a:prstGeom prst="rect">
              <a:avLst/>
            </a:prstGeom>
          </p:spPr>
        </p:pic>
        <p:sp>
          <p:nvSpPr>
            <p:cNvPr id="17" name="Title 4">
              <a:extLst>
                <a:ext uri="{FF2B5EF4-FFF2-40B4-BE49-F238E27FC236}">
                  <a16:creationId xmlns:a16="http://schemas.microsoft.com/office/drawing/2014/main" id="{27228BAE-048B-681E-DD8D-BD96B22560E0}"/>
                </a:ext>
              </a:extLst>
            </p:cNvPr>
            <p:cNvSpPr txBox="1">
              <a:spLocks/>
            </p:cNvSpPr>
            <p:nvPr/>
          </p:nvSpPr>
          <p:spPr>
            <a:xfrm>
              <a:off x="54496" y="1922610"/>
              <a:ext cx="4804363" cy="900105"/>
            </a:xfrm>
            <a:prstGeom prst="rect">
              <a:avLst/>
            </a:prstGeom>
          </p:spPr>
          <p:txBody>
            <a:bodyPr vert="horz" lIns="91440" tIns="45720" rIns="91440" bIns="45720" rtlCol="0" anchor="b">
              <a:normAutofit fontScale="9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dirty="0" smtClean="0">
                  <a:solidFill>
                    <a:schemeClr val="accent1">
                      <a:lumMod val="75000"/>
                    </a:schemeClr>
                  </a:solidFill>
                </a:rPr>
                <a:t>Computer </a:t>
              </a:r>
              <a:r>
                <a:rPr lang="en-US" dirty="0" smtClean="0">
                  <a:solidFill>
                    <a:srgbClr val="00B0F0"/>
                  </a:solidFill>
                </a:rPr>
                <a:t>Vision</a:t>
              </a:r>
              <a:endParaRPr lang="en-US" dirty="0">
                <a:solidFill>
                  <a:srgbClr val="00B0F0"/>
                </a:solidFill>
              </a:endParaRPr>
            </a:p>
          </p:txBody>
        </p:sp>
        <p:grpSp>
          <p:nvGrpSpPr>
            <p:cNvPr id="18" name="Group 17">
              <a:extLst>
                <a:ext uri="{FF2B5EF4-FFF2-40B4-BE49-F238E27FC236}">
                  <a16:creationId xmlns:a16="http://schemas.microsoft.com/office/drawing/2014/main" id="{2AABCB87-2ECC-4C03-B5BB-6EE11C8A4485}"/>
                </a:ext>
              </a:extLst>
            </p:cNvPr>
            <p:cNvGrpSpPr/>
            <p:nvPr/>
          </p:nvGrpSpPr>
          <p:grpSpPr>
            <a:xfrm>
              <a:off x="89638" y="359621"/>
              <a:ext cx="3064025" cy="1516520"/>
              <a:chOff x="4853562" y="1589418"/>
              <a:chExt cx="2609520" cy="1291565"/>
            </a:xfrm>
          </p:grpSpPr>
          <p:sp>
            <p:nvSpPr>
              <p:cNvPr id="25" name="Freeform 24">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a:solidFill>
                    <a:schemeClr val="tx1"/>
                  </a:solidFill>
                </a:endParaRPr>
              </a:p>
            </p:txBody>
          </p:sp>
          <p:sp>
            <p:nvSpPr>
              <p:cNvPr id="26" name="Freeform 25">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dirty="0">
                  <a:solidFill>
                    <a:schemeClr val="tx1"/>
                  </a:solidFill>
                </a:endParaRPr>
              </a:p>
            </p:txBody>
          </p:sp>
        </p:grpSp>
        <p:grpSp>
          <p:nvGrpSpPr>
            <p:cNvPr id="19" name="Group 18">
              <a:extLst>
                <a:ext uri="{FF2B5EF4-FFF2-40B4-BE49-F238E27FC236}">
                  <a16:creationId xmlns:a16="http://schemas.microsoft.com/office/drawing/2014/main" id="{AB8BC7BC-BF58-402E-9A69-AA9226DE7CAA}"/>
                </a:ext>
              </a:extLst>
            </p:cNvPr>
            <p:cNvGrpSpPr/>
            <p:nvPr/>
          </p:nvGrpSpPr>
          <p:grpSpPr>
            <a:xfrm>
              <a:off x="1356703" y="883096"/>
              <a:ext cx="1334145" cy="620384"/>
              <a:chOff x="7729280" y="2195997"/>
              <a:chExt cx="2143740" cy="996849"/>
            </a:xfrm>
            <a:solidFill>
              <a:schemeClr val="accent6"/>
            </a:solidFill>
          </p:grpSpPr>
          <p:sp>
            <p:nvSpPr>
              <p:cNvPr id="23" name="Freeform: Shape 66">
                <a:extLst>
                  <a:ext uri="{FF2B5EF4-FFF2-40B4-BE49-F238E27FC236}">
                    <a16:creationId xmlns:a16="http://schemas.microsoft.com/office/drawing/2014/main" id="{2A081543-B9FF-49B1-8EEF-ABDF5438EDCD}"/>
                  </a:ext>
                </a:extLst>
              </p:cNvPr>
              <p:cNvSpPr/>
              <p:nvPr/>
            </p:nvSpPr>
            <p:spPr>
              <a:xfrm>
                <a:off x="7729280" y="2195997"/>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dirty="0"/>
              </a:p>
            </p:txBody>
          </p:sp>
          <p:sp>
            <p:nvSpPr>
              <p:cNvPr id="24" name="Freeform: Shape 67">
                <a:extLst>
                  <a:ext uri="{FF2B5EF4-FFF2-40B4-BE49-F238E27FC236}">
                    <a16:creationId xmlns:a16="http://schemas.microsoft.com/office/drawing/2014/main" id="{275D1FAA-C13F-4A6B-BA37-7704CFB7ADCD}"/>
                  </a:ext>
                </a:extLst>
              </p:cNvPr>
              <p:cNvSpPr/>
              <p:nvPr/>
            </p:nvSpPr>
            <p:spPr>
              <a:xfrm>
                <a:off x="8421007" y="2543552"/>
                <a:ext cx="443936" cy="326800"/>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20" name="Subtitle 2">
              <a:extLst>
                <a:ext uri="{FF2B5EF4-FFF2-40B4-BE49-F238E27FC236}">
                  <a16:creationId xmlns:a16="http://schemas.microsoft.com/office/drawing/2014/main" id="{53858C97-DA2F-8866-47CC-CDF4077BBF9D}"/>
                </a:ext>
              </a:extLst>
            </p:cNvPr>
            <p:cNvSpPr txBox="1">
              <a:spLocks/>
            </p:cNvSpPr>
            <p:nvPr/>
          </p:nvSpPr>
          <p:spPr>
            <a:xfrm>
              <a:off x="1727403" y="1099395"/>
              <a:ext cx="729275" cy="203382"/>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smtClean="0">
                  <a:solidFill>
                    <a:srgbClr val="7030A0"/>
                  </a:solidFill>
                </a:rPr>
                <a:t>PDS</a:t>
              </a:r>
              <a:endParaRPr lang="en-US" sz="1600" dirty="0">
                <a:solidFill>
                  <a:srgbClr val="7030A0"/>
                </a:solidFill>
              </a:endParaRPr>
            </a:p>
          </p:txBody>
        </p:sp>
        <p:sp>
          <p:nvSpPr>
            <p:cNvPr id="21" name="Title 4">
              <a:extLst>
                <a:ext uri="{FF2B5EF4-FFF2-40B4-BE49-F238E27FC236}">
                  <a16:creationId xmlns:a16="http://schemas.microsoft.com/office/drawing/2014/main" id="{27228BAE-048B-681E-DD8D-BD96B22560E0}"/>
                </a:ext>
              </a:extLst>
            </p:cNvPr>
            <p:cNvSpPr txBox="1">
              <a:spLocks/>
            </p:cNvSpPr>
            <p:nvPr/>
          </p:nvSpPr>
          <p:spPr>
            <a:xfrm>
              <a:off x="788714" y="1452073"/>
              <a:ext cx="938689" cy="470538"/>
            </a:xfrm>
            <a:prstGeom prst="rect">
              <a:avLst/>
            </a:prstGeom>
            <a:solidFill>
              <a:schemeClr val="bg1"/>
            </a:solidFill>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800" dirty="0" smtClean="0">
                  <a:solidFill>
                    <a:schemeClr val="accent5">
                      <a:lumMod val="50000"/>
                    </a:schemeClr>
                  </a:solidFill>
                </a:rPr>
                <a:t>SDN</a:t>
              </a:r>
              <a:endParaRPr lang="en-US" sz="2800" dirty="0">
                <a:solidFill>
                  <a:schemeClr val="accent5">
                    <a:lumMod val="50000"/>
                  </a:schemeClr>
                </a:solidFill>
              </a:endParaRPr>
            </a:p>
          </p:txBody>
        </p:sp>
        <p:sp>
          <p:nvSpPr>
            <p:cNvPr id="22" name="Title 4">
              <a:extLst>
                <a:ext uri="{FF2B5EF4-FFF2-40B4-BE49-F238E27FC236}">
                  <a16:creationId xmlns:a16="http://schemas.microsoft.com/office/drawing/2014/main" id="{27228BAE-048B-681E-DD8D-BD96B22560E0}"/>
                </a:ext>
              </a:extLst>
            </p:cNvPr>
            <p:cNvSpPr txBox="1">
              <a:spLocks/>
            </p:cNvSpPr>
            <p:nvPr/>
          </p:nvSpPr>
          <p:spPr>
            <a:xfrm>
              <a:off x="1449719" y="1352665"/>
              <a:ext cx="928870" cy="581223"/>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800" dirty="0" smtClean="0">
                  <a:solidFill>
                    <a:schemeClr val="accent1">
                      <a:lumMod val="75000"/>
                    </a:schemeClr>
                  </a:solidFill>
                </a:rPr>
                <a:t>NFV</a:t>
              </a:r>
              <a:endParaRPr lang="en-US" sz="2800" dirty="0">
                <a:solidFill>
                  <a:schemeClr val="accent1">
                    <a:lumMod val="75000"/>
                  </a:schemeClr>
                </a:solidFill>
              </a:endParaRPr>
            </a:p>
          </p:txBody>
        </p:sp>
      </p:grpSp>
    </p:spTree>
    <p:extLst>
      <p:ext uri="{BB962C8B-B14F-4D97-AF65-F5344CB8AC3E}">
        <p14:creationId xmlns:p14="http://schemas.microsoft.com/office/powerpoint/2010/main" val="80013096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35072</TotalTime>
  <Words>986</Words>
  <Application>Microsoft Office PowerPoint</Application>
  <PresentationFormat>Widescreen</PresentationFormat>
  <Paragraphs>313</Paragraphs>
  <Slides>10</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맑은 고딕</vt:lpstr>
      <vt:lpstr>Arial</vt:lpstr>
      <vt:lpstr>Calibri</vt:lpstr>
      <vt:lpstr>Calibri Light</vt:lpstr>
      <vt:lpstr>Edwardian Script ITC</vt:lpstr>
      <vt:lpstr>Times New Roman</vt:lpstr>
      <vt:lpstr>Office Theme</vt:lpstr>
      <vt:lpstr>PowerPoint Presentation</vt:lpstr>
      <vt:lpstr>PowerPoint Presentation</vt:lpstr>
      <vt:lpstr>DHCP</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Fish Tracking, Counting, and Behaviour Analysis in Digital Aquaculture</dc:title>
  <dc:creator>pds</dc:creator>
  <cp:lastModifiedBy>Gde</cp:lastModifiedBy>
  <cp:revision>110</cp:revision>
  <dcterms:created xsi:type="dcterms:W3CDTF">2024-10-22T07:52:57Z</dcterms:created>
  <dcterms:modified xsi:type="dcterms:W3CDTF">2026-03-30T06:01:52Z</dcterms:modified>
</cp:coreProperties>
</file>