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64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4" r:id="rId18"/>
    <p:sldId id="295" r:id="rId19"/>
    <p:sldId id="296" r:id="rId20"/>
    <p:sldId id="297" r:id="rId21"/>
    <p:sldId id="298" r:id="rId22"/>
    <p:sldId id="299" r:id="rId23"/>
    <p:sldId id="300" r:id="rId24"/>
    <p:sldId id="301" r:id="rId25"/>
    <p:sldId id="302" r:id="rId26"/>
    <p:sldId id="303" r:id="rId27"/>
    <p:sldId id="304" r:id="rId28"/>
    <p:sldId id="27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72042" autoAdjust="0"/>
  </p:normalViewPr>
  <p:slideViewPr>
    <p:cSldViewPr snapToGrid="0">
      <p:cViewPr varScale="1">
        <p:scale>
          <a:sx n="83" d="100"/>
          <a:sy n="83" d="100"/>
        </p:scale>
        <p:origin x="17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75E80C-3B53-450A-868F-CD36AA0AB034}" type="doc">
      <dgm:prSet loTypeId="urn:microsoft.com/office/officeart/2005/8/layout/target3" loCatId="relationship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D8FDBA16-E463-462A-B396-7080D4852B10}">
      <dgm:prSet/>
      <dgm:spPr/>
      <dgm:t>
        <a:bodyPr/>
        <a:lstStyle/>
        <a:p>
          <a:pPr algn="l" rtl="0"/>
          <a:r>
            <a:rPr lang="en-US" b="1" dirty="0" err="1" smtClean="0"/>
            <a:t>Konfigurasi</a:t>
          </a:r>
          <a:r>
            <a:rPr lang="en-US" b="1" dirty="0" smtClean="0"/>
            <a:t> Ubuntu </a:t>
          </a:r>
          <a:r>
            <a:rPr lang="en-US" b="1" dirty="0" err="1" smtClean="0"/>
            <a:t>Server_DNS</a:t>
          </a:r>
          <a:endParaRPr lang="en-US" dirty="0"/>
        </a:p>
      </dgm:t>
    </dgm:pt>
    <dgm:pt modelId="{CB0A1544-BCC3-498B-A1CB-3A83F46C4FEA}" type="parTrans" cxnId="{D2CA0264-F12F-4F95-A54F-23E59145D055}">
      <dgm:prSet/>
      <dgm:spPr/>
      <dgm:t>
        <a:bodyPr/>
        <a:lstStyle/>
        <a:p>
          <a:endParaRPr lang="en-US"/>
        </a:p>
      </dgm:t>
    </dgm:pt>
    <dgm:pt modelId="{ECAAE9D0-60C2-4B06-AAA6-E3E3F3BC91BD}" type="sibTrans" cxnId="{D2CA0264-F12F-4F95-A54F-23E59145D055}">
      <dgm:prSet/>
      <dgm:spPr/>
      <dgm:t>
        <a:bodyPr/>
        <a:lstStyle/>
        <a:p>
          <a:endParaRPr lang="en-US"/>
        </a:p>
      </dgm:t>
    </dgm:pt>
    <dgm:pt modelId="{30CCE222-7FD2-4854-87A2-4A9A310BBB7A}" type="pres">
      <dgm:prSet presAssocID="{2275E80C-3B53-450A-868F-CD36AA0AB034}" presName="Name0" presStyleCnt="0">
        <dgm:presLayoutVars>
          <dgm:chMax val="7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C47B31C-951C-425E-A4D2-593F9963D3E6}" type="pres">
      <dgm:prSet presAssocID="{D8FDBA16-E463-462A-B396-7080D4852B10}" presName="circle1" presStyleLbl="node1" presStyleIdx="0" presStyleCnt="1"/>
      <dgm:spPr/>
      <dgm:t>
        <a:bodyPr/>
        <a:lstStyle/>
        <a:p>
          <a:endParaRPr lang="en-US"/>
        </a:p>
      </dgm:t>
    </dgm:pt>
    <dgm:pt modelId="{3ED554F4-7685-4CC8-8DB5-90AC62C5D699}" type="pres">
      <dgm:prSet presAssocID="{D8FDBA16-E463-462A-B396-7080D4852B10}" presName="space" presStyleCnt="0"/>
      <dgm:spPr/>
      <dgm:t>
        <a:bodyPr/>
        <a:lstStyle/>
        <a:p>
          <a:endParaRPr lang="en-US"/>
        </a:p>
      </dgm:t>
    </dgm:pt>
    <dgm:pt modelId="{10DAA3CF-D6D9-4A12-B5E8-9D3BDC3303B6}" type="pres">
      <dgm:prSet presAssocID="{D8FDBA16-E463-462A-B396-7080D4852B10}" presName="rect1" presStyleLbl="alignAcc1" presStyleIdx="0" presStyleCnt="1"/>
      <dgm:spPr/>
      <dgm:t>
        <a:bodyPr/>
        <a:lstStyle/>
        <a:p>
          <a:endParaRPr lang="en-US"/>
        </a:p>
      </dgm:t>
    </dgm:pt>
    <dgm:pt modelId="{AF10313C-3C27-4E63-B292-64E86E0D7026}" type="pres">
      <dgm:prSet presAssocID="{D8FDBA16-E463-462A-B396-7080D4852B10}" presName="rect1ParTxNoCh" presStyleLbl="alignAcc1" presStyleIdx="0" presStyleCnt="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A0822C4-AD35-4CD4-8371-1FDD78E220F6}" type="presOf" srcId="{2275E80C-3B53-450A-868F-CD36AA0AB034}" destId="{30CCE222-7FD2-4854-87A2-4A9A310BBB7A}" srcOrd="0" destOrd="0" presId="urn:microsoft.com/office/officeart/2005/8/layout/target3"/>
    <dgm:cxn modelId="{D2CA0264-F12F-4F95-A54F-23E59145D055}" srcId="{2275E80C-3B53-450A-868F-CD36AA0AB034}" destId="{D8FDBA16-E463-462A-B396-7080D4852B10}" srcOrd="0" destOrd="0" parTransId="{CB0A1544-BCC3-498B-A1CB-3A83F46C4FEA}" sibTransId="{ECAAE9D0-60C2-4B06-AAA6-E3E3F3BC91BD}"/>
    <dgm:cxn modelId="{D1D1E284-33B1-4B28-ADF3-E3233F134477}" type="presOf" srcId="{D8FDBA16-E463-462A-B396-7080D4852B10}" destId="{10DAA3CF-D6D9-4A12-B5E8-9D3BDC3303B6}" srcOrd="0" destOrd="0" presId="urn:microsoft.com/office/officeart/2005/8/layout/target3"/>
    <dgm:cxn modelId="{BAA7B625-929A-4239-9D2C-391664917524}" type="presOf" srcId="{D8FDBA16-E463-462A-B396-7080D4852B10}" destId="{AF10313C-3C27-4E63-B292-64E86E0D7026}" srcOrd="1" destOrd="0" presId="urn:microsoft.com/office/officeart/2005/8/layout/target3"/>
    <dgm:cxn modelId="{9849BA3A-F583-41D5-AB22-508EA3420B96}" type="presParOf" srcId="{30CCE222-7FD2-4854-87A2-4A9A310BBB7A}" destId="{2C47B31C-951C-425E-A4D2-593F9963D3E6}" srcOrd="0" destOrd="0" presId="urn:microsoft.com/office/officeart/2005/8/layout/target3"/>
    <dgm:cxn modelId="{B9C41106-E541-4783-9592-0321A5277098}" type="presParOf" srcId="{30CCE222-7FD2-4854-87A2-4A9A310BBB7A}" destId="{3ED554F4-7685-4CC8-8DB5-90AC62C5D699}" srcOrd="1" destOrd="0" presId="urn:microsoft.com/office/officeart/2005/8/layout/target3"/>
    <dgm:cxn modelId="{947D0443-88B7-433F-AB8D-FC4B10D6F79A}" type="presParOf" srcId="{30CCE222-7FD2-4854-87A2-4A9A310BBB7A}" destId="{10DAA3CF-D6D9-4A12-B5E8-9D3BDC3303B6}" srcOrd="2" destOrd="0" presId="urn:microsoft.com/office/officeart/2005/8/layout/target3"/>
    <dgm:cxn modelId="{E6BFF8DE-8F07-4B46-8A10-D72F23999A50}" type="presParOf" srcId="{30CCE222-7FD2-4854-87A2-4A9A310BBB7A}" destId="{AF10313C-3C27-4E63-B292-64E86E0D7026}" srcOrd="3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7B31C-951C-425E-A4D2-593F9963D3E6}">
      <dsp:nvSpPr>
        <dsp:cNvPr id="0" name=""/>
        <dsp:cNvSpPr/>
      </dsp:nvSpPr>
      <dsp:spPr>
        <a:xfrm>
          <a:off x="0" y="0"/>
          <a:ext cx="914399" cy="914399"/>
        </a:xfrm>
        <a:prstGeom prst="pie">
          <a:avLst>
            <a:gd name="adj1" fmla="val 5400000"/>
            <a:gd name="adj2" fmla="val 1620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DAA3CF-D6D9-4A12-B5E8-9D3BDC3303B6}">
      <dsp:nvSpPr>
        <dsp:cNvPr id="0" name=""/>
        <dsp:cNvSpPr/>
      </dsp:nvSpPr>
      <dsp:spPr>
        <a:xfrm>
          <a:off x="457199" y="0"/>
          <a:ext cx="8255379" cy="914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  <a:scene3d>
          <a:camera prst="orthographicFront"/>
          <a:lightRig rig="flat" dir="t"/>
        </a:scene3d>
        <a:sp3d extrusionH="12700" prstMaterial="plastic">
          <a:bevelT w="50800" h="508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lvl="0" algn="l" defTabSz="18669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200" b="1" kern="1200" dirty="0" err="1" smtClean="0"/>
            <a:t>Konfigurasi</a:t>
          </a:r>
          <a:r>
            <a:rPr lang="en-US" sz="4200" b="1" kern="1200" dirty="0" smtClean="0"/>
            <a:t> Ubuntu </a:t>
          </a:r>
          <a:r>
            <a:rPr lang="en-US" sz="4200" b="1" kern="1200" dirty="0" err="1" smtClean="0"/>
            <a:t>Server_DNS</a:t>
          </a:r>
          <a:endParaRPr lang="en-US" sz="4200" kern="1200" dirty="0"/>
        </a:p>
      </dsp:txBody>
      <dsp:txXfrm>
        <a:off x="457199" y="0"/>
        <a:ext cx="8255379" cy="9143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http://www.sophphx.caltech.edu/Physics_5/Experiment_6.pdf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29755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3713" y="1027113"/>
            <a:ext cx="6567487" cy="3695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2570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106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481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35116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6699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686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0254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571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891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29111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3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6435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096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08237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53191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301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74175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690275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505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06914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62119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710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743881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492125" y="1027113"/>
            <a:ext cx="6573838" cy="3698875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4462" cy="410527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8331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312863" y="1027113"/>
            <a:ext cx="4929187" cy="3695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915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81259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312863" y="1027113"/>
            <a:ext cx="4929187" cy="3695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7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090117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312863" y="1027113"/>
            <a:ext cx="4929187" cy="3695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120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7903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312863" y="1027113"/>
            <a:ext cx="4929187" cy="3695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6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28767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312863" y="1027113"/>
            <a:ext cx="4929187" cy="3695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3250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28250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312863" y="1027113"/>
            <a:ext cx="4929187" cy="3695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4274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5256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312863" y="1027113"/>
            <a:ext cx="4929187" cy="3695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5298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150034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1"/>
          <p:cNvSpPr txBox="1">
            <a:spLocks noChangeArrowheads="1"/>
          </p:cNvSpPr>
          <p:nvPr>
            <p:ph type="sldImg"/>
          </p:nvPr>
        </p:nvSpPr>
        <p:spPr bwMode="auto">
          <a:xfrm>
            <a:off x="1312863" y="1027113"/>
            <a:ext cx="4929187" cy="36957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2" name="Rectangle 2"/>
          <p:cNvSpPr txBox="1">
            <a:spLocks noChangeArrowheads="1"/>
          </p:cNvSpPr>
          <p:nvPr>
            <p:ph type="body" idx="1"/>
          </p:nvPr>
        </p:nvSpPr>
        <p:spPr bwMode="auto">
          <a:xfrm>
            <a:off x="1169988" y="5086350"/>
            <a:ext cx="5221287" cy="41021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37638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2167072" y="4456540"/>
            <a:ext cx="1211113" cy="516834"/>
            <a:chOff x="2583409" y="5680788"/>
            <a:chExt cx="1211113" cy="516834"/>
          </a:xfrm>
        </p:grpSpPr>
        <p:sp>
          <p:nvSpPr>
            <p:cNvPr id="4" name="Pie 3"/>
            <p:cNvSpPr/>
            <p:nvPr/>
          </p:nvSpPr>
          <p:spPr>
            <a:xfrm>
              <a:off x="2583409" y="5680788"/>
              <a:ext cx="755878" cy="516834"/>
            </a:xfrm>
            <a:prstGeom prst="pie">
              <a:avLst>
                <a:gd name="adj1" fmla="val 5400000"/>
                <a:gd name="adj2" fmla="val 16200000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0" name="Pie 29"/>
            <p:cNvSpPr/>
            <p:nvPr/>
          </p:nvSpPr>
          <p:spPr>
            <a:xfrm rot="10800000">
              <a:off x="3088581" y="5680788"/>
              <a:ext cx="705941" cy="516834"/>
            </a:xfrm>
            <a:prstGeom prst="pie">
              <a:avLst>
                <a:gd name="adj1" fmla="val 5400000"/>
                <a:gd name="adj2" fmla="val 16200000"/>
              </a:avLst>
            </a:prstGeom>
            <a:scene3d>
              <a:camera prst="orthographicFront"/>
              <a:lightRig rig="flat" dir="t"/>
            </a:scene3d>
            <a:sp3d prstMaterial="plastic">
              <a:bevelT w="120900" h="88900"/>
              <a:bevelB w="88900" h="31750" prst="angle"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2">
                <a:hueOff val="0"/>
                <a:satOff val="0"/>
                <a:lumOff val="0"/>
                <a:alphaOff val="0"/>
              </a:schemeClr>
            </a:fillRef>
            <a:effectRef idx="2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</p:grpSp>
      <p:sp>
        <p:nvSpPr>
          <p:cNvPr id="13" name="Subtitle 2"/>
          <p:cNvSpPr txBox="1">
            <a:spLocks/>
          </p:cNvSpPr>
          <p:nvPr/>
        </p:nvSpPr>
        <p:spPr>
          <a:xfrm>
            <a:off x="2893786" y="3309896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aphicFrame>
        <p:nvGraphicFramePr>
          <p:cNvPr id="21" name="Diagram 20"/>
          <p:cNvGraphicFramePr/>
          <p:nvPr>
            <p:extLst>
              <p:ext uri="{D42A27DB-BD31-4B8C-83A1-F6EECF244321}">
                <p14:modId xmlns:p14="http://schemas.microsoft.com/office/powerpoint/2010/main" val="2539948084"/>
              </p:ext>
            </p:extLst>
          </p:nvPr>
        </p:nvGraphicFramePr>
        <p:xfrm>
          <a:off x="2063477" y="3512270"/>
          <a:ext cx="8712579" cy="9143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7" name="Pie 26"/>
          <p:cNvSpPr/>
          <p:nvPr/>
        </p:nvSpPr>
        <p:spPr>
          <a:xfrm rot="10600249">
            <a:off x="10357547" y="3493547"/>
            <a:ext cx="914399" cy="914399"/>
          </a:xfrm>
          <a:prstGeom prst="pie">
            <a:avLst>
              <a:gd name="adj1" fmla="val 5400000"/>
              <a:gd name="adj2" fmla="val 16200000"/>
            </a:avLst>
          </a:prstGeom>
          <a:solidFill>
            <a:schemeClr val="accent2"/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sp>
      <p:sp>
        <p:nvSpPr>
          <p:cNvPr id="2" name="Rectangle 1"/>
          <p:cNvSpPr/>
          <p:nvPr/>
        </p:nvSpPr>
        <p:spPr>
          <a:xfrm>
            <a:off x="2456677" y="4471172"/>
            <a:ext cx="6319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Lab1</a:t>
            </a:r>
          </a:p>
        </p:txBody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1803" y="2101327"/>
            <a:ext cx="10902387" cy="1325563"/>
          </a:xfrm>
        </p:spPr>
        <p:txBody>
          <a:bodyPr>
            <a:normAutofit/>
          </a:bodyPr>
          <a:lstStyle/>
          <a:p>
            <a:r>
              <a:rPr lang="fi-FI" altLang="en-US" dirty="0"/>
              <a:t>Instalasi </a:t>
            </a:r>
            <a:r>
              <a:rPr lang="fi-FI" altLang="en-US" dirty="0" smtClean="0"/>
              <a:t>:</a:t>
            </a:r>
            <a:br>
              <a:rPr lang="fi-FI" altLang="en-US" dirty="0" smtClean="0"/>
            </a:br>
            <a:r>
              <a:rPr lang="fi-FI" altLang="en-US" dirty="0" smtClean="0"/>
              <a:t>Server Ubuntu and Domain </a:t>
            </a:r>
            <a:r>
              <a:rPr lang="fi-FI" altLang="en-US" dirty="0"/>
              <a:t>Name System</a:t>
            </a:r>
            <a:endParaRPr lang="en-US" dirty="0"/>
          </a:p>
        </p:txBody>
      </p:sp>
      <p:sp>
        <p:nvSpPr>
          <p:cNvPr id="5" name="Pie 4"/>
          <p:cNvSpPr/>
          <p:nvPr/>
        </p:nvSpPr>
        <p:spPr>
          <a:xfrm>
            <a:off x="546616" y="2147627"/>
            <a:ext cx="755878" cy="516834"/>
          </a:xfrm>
          <a:prstGeom prst="pie">
            <a:avLst>
              <a:gd name="adj1" fmla="val 5400000"/>
              <a:gd name="adj2" fmla="val 16200000"/>
            </a:avLst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Pie 5"/>
          <p:cNvSpPr/>
          <p:nvPr/>
        </p:nvSpPr>
        <p:spPr>
          <a:xfrm rot="10800000">
            <a:off x="9929570" y="2764108"/>
            <a:ext cx="705941" cy="516834"/>
          </a:xfrm>
          <a:prstGeom prst="pie">
            <a:avLst>
              <a:gd name="adj1" fmla="val 5400000"/>
              <a:gd name="adj2" fmla="val 16200000"/>
            </a:avLst>
          </a:prstGeom>
          <a:scene3d>
            <a:camera prst="orthographicFront"/>
            <a:lightRig rig="flat" dir="t"/>
          </a:scene3d>
          <a:sp3d prstMaterial="plastic">
            <a:bevelT w="120900" h="88900"/>
            <a:bevelB w="88900" h="31750" prst="angle"/>
          </a:sp3d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hueOff val="0"/>
              <a:satOff val="0"/>
              <a:lumOff val="0"/>
              <a:alphaOff val="0"/>
            </a:schemeClr>
          </a:fillRef>
          <a:effectRef idx="2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9703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Instalasi Server Ubuntu</a:t>
            </a:r>
            <a:br>
              <a:rPr lang="en-US" altLang="en-US"/>
            </a:br>
            <a:r>
              <a:rPr lang="en-US" altLang="en-US"/>
              <a:t/>
            </a:r>
            <a:br>
              <a:rPr lang="en-US" altLang="en-US"/>
            </a:br>
            <a:r>
              <a:rPr lang="en-US" altLang="en-US"/>
              <a:t>Syarat Minimum Hardware Server</a:t>
            </a:r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1464" y="2017653"/>
            <a:ext cx="7688968" cy="4524955"/>
          </a:xfrm>
          <a:ln/>
        </p:spPr>
        <p:txBody>
          <a:bodyPr>
            <a:normAutofit/>
          </a:bodyPr>
          <a:lstStyle/>
          <a:p>
            <a:pPr indent="-306759">
              <a:buSzPct val="43000"/>
              <a:buNone/>
              <a:tabLst>
                <a:tab pos="311079" algn="l"/>
                <a:tab pos="413332" algn="l"/>
                <a:tab pos="828104" algn="l"/>
                <a:tab pos="1242876" algn="l"/>
                <a:tab pos="1657648" algn="l"/>
                <a:tab pos="2072419" algn="l"/>
                <a:tab pos="2487191" algn="l"/>
                <a:tab pos="2901963" algn="l"/>
                <a:tab pos="3316735" algn="l"/>
                <a:tab pos="3731507" algn="l"/>
                <a:tab pos="4146279" algn="l"/>
                <a:tab pos="4561051" algn="l"/>
                <a:tab pos="4975822" algn="l"/>
                <a:tab pos="5390594" algn="l"/>
                <a:tab pos="5805366" algn="l"/>
                <a:tab pos="6220138" algn="l"/>
                <a:tab pos="6634910" algn="l"/>
                <a:tab pos="7049682" algn="l"/>
                <a:tab pos="7464453" algn="l"/>
                <a:tab pos="7879225" algn="l"/>
                <a:tab pos="8293997" algn="l"/>
              </a:tabLst>
            </a:pPr>
            <a:r>
              <a:rPr lang="en-US" altLang="en-US" dirty="0"/>
              <a:t>   </a:t>
            </a:r>
            <a:r>
              <a:rPr lang="en-US" altLang="en-US" dirty="0" err="1"/>
              <a:t>Dalam</a:t>
            </a:r>
            <a:r>
              <a:rPr lang="en-US" altLang="en-US" dirty="0"/>
              <a:t> </a:t>
            </a:r>
            <a:r>
              <a:rPr lang="en-US" altLang="en-US" dirty="0" err="1"/>
              <a:t>Instalasi</a:t>
            </a:r>
            <a:r>
              <a:rPr lang="en-US" altLang="en-US" dirty="0"/>
              <a:t> Server </a:t>
            </a:r>
            <a:r>
              <a:rPr lang="en-US" altLang="en-US" dirty="0" err="1"/>
              <a:t>ubuntu</a:t>
            </a:r>
            <a:r>
              <a:rPr lang="en-US" altLang="en-US" dirty="0"/>
              <a:t> </a:t>
            </a:r>
            <a:r>
              <a:rPr lang="en-US" altLang="en-US" dirty="0" err="1"/>
              <a:t>dibutuhkan</a:t>
            </a:r>
            <a:r>
              <a:rPr lang="en-US" altLang="en-US" dirty="0"/>
              <a:t> </a:t>
            </a:r>
            <a:r>
              <a:rPr lang="en-US" altLang="en-US" dirty="0" err="1"/>
              <a:t>beberapa</a:t>
            </a:r>
            <a:r>
              <a:rPr lang="en-US" altLang="en-US" dirty="0"/>
              <a:t> </a:t>
            </a:r>
            <a:r>
              <a:rPr lang="en-US" altLang="en-US" dirty="0" err="1"/>
              <a:t>syarat</a:t>
            </a:r>
            <a:r>
              <a:rPr lang="en-US" altLang="en-US" dirty="0"/>
              <a:t> minimum Hardware, </a:t>
            </a:r>
            <a:r>
              <a:rPr lang="en-US" altLang="en-US" dirty="0" err="1"/>
              <a:t>sebagai</a:t>
            </a:r>
            <a:r>
              <a:rPr lang="en-US" altLang="en-US" dirty="0"/>
              <a:t> </a:t>
            </a:r>
            <a:r>
              <a:rPr lang="en-US" altLang="en-US" dirty="0" err="1"/>
              <a:t>berikut</a:t>
            </a:r>
            <a:endParaRPr lang="en-US" altLang="en-US" dirty="0"/>
          </a:p>
          <a:p>
            <a:pPr indent="-306759">
              <a:buSzPct val="43000"/>
              <a:buNone/>
              <a:tabLst>
                <a:tab pos="311079" algn="l"/>
                <a:tab pos="413332" algn="l"/>
                <a:tab pos="828104" algn="l"/>
                <a:tab pos="1242876" algn="l"/>
                <a:tab pos="1657648" algn="l"/>
                <a:tab pos="2072419" algn="l"/>
                <a:tab pos="2487191" algn="l"/>
                <a:tab pos="2901963" algn="l"/>
                <a:tab pos="3316735" algn="l"/>
                <a:tab pos="3731507" algn="l"/>
                <a:tab pos="4146279" algn="l"/>
                <a:tab pos="4561051" algn="l"/>
                <a:tab pos="4975822" algn="l"/>
                <a:tab pos="5390594" algn="l"/>
                <a:tab pos="5805366" algn="l"/>
                <a:tab pos="6220138" algn="l"/>
                <a:tab pos="6634910" algn="l"/>
                <a:tab pos="7049682" algn="l"/>
                <a:tab pos="7464453" algn="l"/>
                <a:tab pos="7879225" algn="l"/>
                <a:tab pos="8293997" algn="l"/>
              </a:tabLst>
            </a:pPr>
            <a:endParaRPr lang="en-US" altLang="en-US" dirty="0"/>
          </a:p>
          <a:p>
            <a:pPr indent="-306759">
              <a:buSzPct val="43000"/>
              <a:buNone/>
              <a:tabLst>
                <a:tab pos="311079" algn="l"/>
                <a:tab pos="413332" algn="l"/>
                <a:tab pos="828104" algn="l"/>
                <a:tab pos="1242876" algn="l"/>
                <a:tab pos="1657648" algn="l"/>
                <a:tab pos="2072419" algn="l"/>
                <a:tab pos="2487191" algn="l"/>
                <a:tab pos="2901963" algn="l"/>
                <a:tab pos="3316735" algn="l"/>
                <a:tab pos="3731507" algn="l"/>
                <a:tab pos="4146279" algn="l"/>
                <a:tab pos="4561051" algn="l"/>
                <a:tab pos="4975822" algn="l"/>
                <a:tab pos="5390594" algn="l"/>
                <a:tab pos="5805366" algn="l"/>
                <a:tab pos="6220138" algn="l"/>
                <a:tab pos="6634910" algn="l"/>
                <a:tab pos="7049682" algn="l"/>
                <a:tab pos="7464453" algn="l"/>
                <a:tab pos="7879225" algn="l"/>
                <a:tab pos="8293997" algn="l"/>
              </a:tabLst>
            </a:pPr>
            <a:endParaRPr lang="en-US" altLang="en-US" dirty="0"/>
          </a:p>
          <a:p>
            <a:pPr indent="-306759">
              <a:buSzPct val="43000"/>
              <a:buBlip>
                <a:blip r:embed="rId3"/>
              </a:buBlip>
              <a:tabLst>
                <a:tab pos="311079" algn="l"/>
                <a:tab pos="413332" algn="l"/>
                <a:tab pos="828104" algn="l"/>
                <a:tab pos="1242876" algn="l"/>
                <a:tab pos="1657648" algn="l"/>
                <a:tab pos="2072419" algn="l"/>
                <a:tab pos="2487191" algn="l"/>
                <a:tab pos="2901963" algn="l"/>
                <a:tab pos="3316735" algn="l"/>
                <a:tab pos="3731507" algn="l"/>
                <a:tab pos="4146279" algn="l"/>
                <a:tab pos="4561051" algn="l"/>
                <a:tab pos="4975822" algn="l"/>
                <a:tab pos="5390594" algn="l"/>
                <a:tab pos="5805366" algn="l"/>
                <a:tab pos="6220138" algn="l"/>
                <a:tab pos="6634910" algn="l"/>
                <a:tab pos="7049682" algn="l"/>
                <a:tab pos="7464453" algn="l"/>
                <a:tab pos="7879225" algn="l"/>
                <a:tab pos="8293997" algn="l"/>
              </a:tabLst>
            </a:pPr>
            <a:r>
              <a:rPr lang="en-US" altLang="en-US" dirty="0"/>
              <a:t> Processor		: Intel Pentium </a:t>
            </a:r>
            <a:r>
              <a:rPr lang="en-US" altLang="en-US" dirty="0" smtClean="0"/>
              <a:t>5</a:t>
            </a:r>
            <a:endParaRPr lang="en-US" altLang="en-US" dirty="0"/>
          </a:p>
          <a:p>
            <a:pPr indent="-306759">
              <a:buSzPct val="43000"/>
              <a:buBlip>
                <a:blip r:embed="rId3"/>
              </a:buBlip>
              <a:tabLst>
                <a:tab pos="311079" algn="l"/>
                <a:tab pos="413332" algn="l"/>
                <a:tab pos="828104" algn="l"/>
                <a:tab pos="1242876" algn="l"/>
                <a:tab pos="1657648" algn="l"/>
                <a:tab pos="2072419" algn="l"/>
                <a:tab pos="2487191" algn="l"/>
                <a:tab pos="2901963" algn="l"/>
                <a:tab pos="3316735" algn="l"/>
                <a:tab pos="3731507" algn="l"/>
                <a:tab pos="4146279" algn="l"/>
                <a:tab pos="4561051" algn="l"/>
                <a:tab pos="4975822" algn="l"/>
                <a:tab pos="5390594" algn="l"/>
                <a:tab pos="5805366" algn="l"/>
                <a:tab pos="6220138" algn="l"/>
                <a:tab pos="6634910" algn="l"/>
                <a:tab pos="7049682" algn="l"/>
                <a:tab pos="7464453" algn="l"/>
                <a:tab pos="7879225" algn="l"/>
                <a:tab pos="8293997" algn="l"/>
              </a:tabLst>
            </a:pPr>
            <a:r>
              <a:rPr lang="en-US" altLang="en-US" dirty="0" smtClean="0"/>
              <a:t> </a:t>
            </a:r>
            <a:r>
              <a:rPr lang="en-US" altLang="en-US" dirty="0"/>
              <a:t>Memory		</a:t>
            </a:r>
            <a:r>
              <a:rPr lang="en-US" altLang="en-US" dirty="0" smtClean="0"/>
              <a:t>     :  </a:t>
            </a:r>
            <a:r>
              <a:rPr lang="en-US" altLang="en-US" dirty="0"/>
              <a:t>256 MB</a:t>
            </a:r>
          </a:p>
          <a:p>
            <a:pPr indent="-306759">
              <a:buSzPct val="43000"/>
              <a:buBlip>
                <a:blip r:embed="rId3"/>
              </a:buBlip>
              <a:tabLst>
                <a:tab pos="311079" algn="l"/>
                <a:tab pos="413332" algn="l"/>
                <a:tab pos="828104" algn="l"/>
                <a:tab pos="1242876" algn="l"/>
                <a:tab pos="1657648" algn="l"/>
                <a:tab pos="2072419" algn="l"/>
                <a:tab pos="2487191" algn="l"/>
                <a:tab pos="2901963" algn="l"/>
                <a:tab pos="3316735" algn="l"/>
                <a:tab pos="3731507" algn="l"/>
                <a:tab pos="4146279" algn="l"/>
                <a:tab pos="4561051" algn="l"/>
                <a:tab pos="4975822" algn="l"/>
                <a:tab pos="5390594" algn="l"/>
                <a:tab pos="5805366" algn="l"/>
                <a:tab pos="6220138" algn="l"/>
                <a:tab pos="6634910" algn="l"/>
                <a:tab pos="7049682" algn="l"/>
                <a:tab pos="7464453" algn="l"/>
                <a:tab pos="7879225" algn="l"/>
                <a:tab pos="8293997" algn="l"/>
              </a:tabLst>
            </a:pPr>
            <a:r>
              <a:rPr lang="en-US" altLang="en-US" dirty="0" smtClean="0"/>
              <a:t>Free </a:t>
            </a:r>
            <a:r>
              <a:rPr lang="en-US" altLang="en-US" dirty="0" err="1"/>
              <a:t>Harddisk</a:t>
            </a:r>
            <a:r>
              <a:rPr lang="en-US" altLang="en-US" dirty="0"/>
              <a:t>	:  5 GB</a:t>
            </a:r>
          </a:p>
        </p:txBody>
      </p:sp>
    </p:spTree>
    <p:extLst>
      <p:ext uri="{BB962C8B-B14F-4D97-AF65-F5344CB8AC3E}">
        <p14:creationId xmlns:p14="http://schemas.microsoft.com/office/powerpoint/2010/main" val="3208752880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1" y="106572"/>
            <a:ext cx="7804179" cy="1140600"/>
          </a:xfrm>
          <a:ln/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Alur Instalasi Ubuntu Server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2560430" y="1244291"/>
            <a:ext cx="7238048" cy="3537011"/>
            <a:chOff x="2560430" y="1244291"/>
            <a:chExt cx="7238048" cy="3537011"/>
          </a:xfrm>
        </p:grpSpPr>
        <p:sp>
          <p:nvSpPr>
            <p:cNvPr id="6147" name="AutoShape 3"/>
            <p:cNvSpPr>
              <a:spLocks noChangeArrowheads="1"/>
            </p:cNvSpPr>
            <p:nvPr/>
          </p:nvSpPr>
          <p:spPr bwMode="auto">
            <a:xfrm>
              <a:off x="2560430" y="1244291"/>
              <a:ext cx="1739703" cy="437806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Masukkan CD Installer</a:t>
              </a:r>
            </a:p>
          </p:txBody>
        </p:sp>
        <p:sp>
          <p:nvSpPr>
            <p:cNvPr id="6148" name="AutoShape 4"/>
            <p:cNvSpPr>
              <a:spLocks noChangeArrowheads="1"/>
            </p:cNvSpPr>
            <p:nvPr/>
          </p:nvSpPr>
          <p:spPr bwMode="auto">
            <a:xfrm>
              <a:off x="4704815" y="1244291"/>
              <a:ext cx="1018187" cy="4046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bahasa install</a:t>
              </a:r>
            </a:p>
          </p:txBody>
        </p:sp>
        <p:sp>
          <p:nvSpPr>
            <p:cNvPr id="6149" name="AutoShape 5"/>
            <p:cNvSpPr>
              <a:spLocks noChangeArrowheads="1"/>
            </p:cNvSpPr>
            <p:nvPr/>
          </p:nvSpPr>
          <p:spPr bwMode="auto">
            <a:xfrm>
              <a:off x="6140646" y="1245731"/>
              <a:ext cx="1278854" cy="4046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Keyboard Layout</a:t>
              </a:r>
            </a:p>
          </p:txBody>
        </p:sp>
        <p:sp>
          <p:nvSpPr>
            <p:cNvPr id="6150" name="AutoShape 6"/>
            <p:cNvSpPr>
              <a:spLocks noChangeArrowheads="1"/>
            </p:cNvSpPr>
            <p:nvPr/>
          </p:nvSpPr>
          <p:spPr bwMode="auto">
            <a:xfrm>
              <a:off x="7903391" y="1248611"/>
              <a:ext cx="1072913" cy="4046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Network Card</a:t>
              </a:r>
            </a:p>
          </p:txBody>
        </p:sp>
        <p:sp>
          <p:nvSpPr>
            <p:cNvPr id="6151" name="AutoShape 7"/>
            <p:cNvSpPr>
              <a:spLocks noChangeArrowheads="1"/>
            </p:cNvSpPr>
            <p:nvPr/>
          </p:nvSpPr>
          <p:spPr bwMode="auto">
            <a:xfrm>
              <a:off x="2799495" y="2102621"/>
              <a:ext cx="1443032" cy="4046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Username Password</a:t>
              </a:r>
            </a:p>
          </p:txBody>
        </p:sp>
        <p:sp>
          <p:nvSpPr>
            <p:cNvPr id="6152" name="AutoShape 8"/>
            <p:cNvSpPr>
              <a:spLocks noChangeArrowheads="1"/>
            </p:cNvSpPr>
            <p:nvPr/>
          </p:nvSpPr>
          <p:spPr bwMode="auto">
            <a:xfrm>
              <a:off x="7011938" y="2168868"/>
              <a:ext cx="779122" cy="4046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Hostname</a:t>
              </a:r>
            </a:p>
          </p:txBody>
        </p:sp>
        <p:sp>
          <p:nvSpPr>
            <p:cNvPr id="6153" name="AutoShape 9"/>
            <p:cNvSpPr>
              <a:spLocks noChangeArrowheads="1"/>
            </p:cNvSpPr>
            <p:nvPr/>
          </p:nvSpPr>
          <p:spPr bwMode="auto">
            <a:xfrm>
              <a:off x="4856031" y="2147266"/>
              <a:ext cx="540057" cy="4046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Partisi</a:t>
              </a:r>
            </a:p>
          </p:txBody>
        </p:sp>
        <p:sp>
          <p:nvSpPr>
            <p:cNvPr id="6154" name="AutoShape 10"/>
            <p:cNvSpPr>
              <a:spLocks noChangeArrowheads="1"/>
            </p:cNvSpPr>
            <p:nvPr/>
          </p:nvSpPr>
          <p:spPr bwMode="auto">
            <a:xfrm>
              <a:off x="8249027" y="2178949"/>
              <a:ext cx="614945" cy="4046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DHCP</a:t>
              </a:r>
            </a:p>
          </p:txBody>
        </p:sp>
        <p:sp>
          <p:nvSpPr>
            <p:cNvPr id="6155" name="AutoShape 11"/>
            <p:cNvSpPr>
              <a:spLocks noChangeArrowheads="1"/>
            </p:cNvSpPr>
            <p:nvPr/>
          </p:nvSpPr>
          <p:spPr bwMode="auto">
            <a:xfrm>
              <a:off x="4530557" y="3276344"/>
              <a:ext cx="953380" cy="4046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Boot Loader</a:t>
              </a:r>
            </a:p>
          </p:txBody>
        </p:sp>
        <p:sp>
          <p:nvSpPr>
            <p:cNvPr id="6156" name="AutoShape 12"/>
            <p:cNvSpPr>
              <a:spLocks noChangeArrowheads="1"/>
            </p:cNvSpPr>
            <p:nvPr/>
          </p:nvSpPr>
          <p:spPr bwMode="auto">
            <a:xfrm>
              <a:off x="5770527" y="2168868"/>
              <a:ext cx="833848" cy="4046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Time Zone</a:t>
              </a:r>
            </a:p>
          </p:txBody>
        </p:sp>
        <p:sp>
          <p:nvSpPr>
            <p:cNvPr id="6157" name="AutoShape 13"/>
            <p:cNvSpPr>
              <a:spLocks noChangeArrowheads="1"/>
            </p:cNvSpPr>
            <p:nvPr/>
          </p:nvSpPr>
          <p:spPr bwMode="auto">
            <a:xfrm>
              <a:off x="4363499" y="1375345"/>
              <a:ext cx="270748" cy="207382"/>
            </a:xfrm>
            <a:prstGeom prst="rightArrow">
              <a:avLst>
                <a:gd name="adj1" fmla="val 50000"/>
                <a:gd name="adj2" fmla="val 32639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6158" name="AutoShape 14"/>
            <p:cNvSpPr>
              <a:spLocks noChangeArrowheads="1"/>
            </p:cNvSpPr>
            <p:nvPr/>
          </p:nvSpPr>
          <p:spPr bwMode="auto">
            <a:xfrm>
              <a:off x="5789249" y="1375345"/>
              <a:ext cx="270748" cy="207382"/>
            </a:xfrm>
            <a:prstGeom prst="rightArrow">
              <a:avLst>
                <a:gd name="adj1" fmla="val 50000"/>
                <a:gd name="adj2" fmla="val 32639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6159" name="AutoShape 15"/>
            <p:cNvSpPr>
              <a:spLocks noChangeArrowheads="1"/>
            </p:cNvSpPr>
            <p:nvPr/>
          </p:nvSpPr>
          <p:spPr bwMode="auto">
            <a:xfrm>
              <a:off x="7523191" y="1353742"/>
              <a:ext cx="270748" cy="207382"/>
            </a:xfrm>
            <a:prstGeom prst="rightArrow">
              <a:avLst>
                <a:gd name="adj1" fmla="val 50000"/>
                <a:gd name="adj2" fmla="val 32639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6160" name="AutoShape 16"/>
            <p:cNvSpPr>
              <a:spLocks noChangeArrowheads="1"/>
            </p:cNvSpPr>
            <p:nvPr/>
          </p:nvSpPr>
          <p:spPr bwMode="auto">
            <a:xfrm>
              <a:off x="8411765" y="1792989"/>
              <a:ext cx="270748" cy="306752"/>
            </a:xfrm>
            <a:prstGeom prst="downArrow">
              <a:avLst>
                <a:gd name="adj1" fmla="val 50000"/>
                <a:gd name="adj2" fmla="val 28324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6161" name="AutoShape 17"/>
            <p:cNvSpPr>
              <a:spLocks noChangeArrowheads="1"/>
            </p:cNvSpPr>
            <p:nvPr/>
          </p:nvSpPr>
          <p:spPr bwMode="auto">
            <a:xfrm>
              <a:off x="7900511" y="2275439"/>
              <a:ext cx="249146" cy="195861"/>
            </a:xfrm>
            <a:prstGeom prst="leftArrow">
              <a:avLst>
                <a:gd name="adj1" fmla="val 50000"/>
                <a:gd name="adj2" fmla="val 31801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6162" name="AutoShape 18"/>
            <p:cNvSpPr>
              <a:spLocks noChangeArrowheads="1"/>
            </p:cNvSpPr>
            <p:nvPr/>
          </p:nvSpPr>
          <p:spPr bwMode="auto">
            <a:xfrm>
              <a:off x="6670622" y="2286961"/>
              <a:ext cx="249146" cy="195861"/>
            </a:xfrm>
            <a:prstGeom prst="leftArrow">
              <a:avLst>
                <a:gd name="adj1" fmla="val 50000"/>
                <a:gd name="adj2" fmla="val 31801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6163" name="AutoShape 19"/>
            <p:cNvSpPr>
              <a:spLocks noChangeArrowheads="1"/>
            </p:cNvSpPr>
            <p:nvPr/>
          </p:nvSpPr>
          <p:spPr bwMode="auto">
            <a:xfrm>
              <a:off x="5450814" y="2291281"/>
              <a:ext cx="249146" cy="195861"/>
            </a:xfrm>
            <a:prstGeom prst="leftArrow">
              <a:avLst>
                <a:gd name="adj1" fmla="val 50000"/>
                <a:gd name="adj2" fmla="val 31801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6164" name="AutoShape 20"/>
            <p:cNvSpPr>
              <a:spLocks noChangeArrowheads="1"/>
            </p:cNvSpPr>
            <p:nvPr/>
          </p:nvSpPr>
          <p:spPr bwMode="auto">
            <a:xfrm>
              <a:off x="4449908" y="2236555"/>
              <a:ext cx="249146" cy="195861"/>
            </a:xfrm>
            <a:prstGeom prst="leftArrow">
              <a:avLst>
                <a:gd name="adj1" fmla="val 50000"/>
                <a:gd name="adj2" fmla="val 31801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6165" name="AutoShape 21"/>
            <p:cNvSpPr>
              <a:spLocks noChangeArrowheads="1"/>
            </p:cNvSpPr>
            <p:nvPr/>
          </p:nvSpPr>
          <p:spPr bwMode="auto">
            <a:xfrm>
              <a:off x="3329471" y="2693083"/>
              <a:ext cx="270748" cy="306752"/>
            </a:xfrm>
            <a:prstGeom prst="downArrow">
              <a:avLst>
                <a:gd name="adj1" fmla="val 50000"/>
                <a:gd name="adj2" fmla="val 28324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6167" name="AutoShape 23"/>
            <p:cNvSpPr>
              <a:spLocks noChangeArrowheads="1"/>
            </p:cNvSpPr>
            <p:nvPr/>
          </p:nvSpPr>
          <p:spPr bwMode="auto">
            <a:xfrm>
              <a:off x="8469371" y="2671481"/>
              <a:ext cx="270748" cy="339876"/>
            </a:xfrm>
            <a:prstGeom prst="upDownArrow">
              <a:avLst>
                <a:gd name="adj1" fmla="val 50000"/>
                <a:gd name="adj2" fmla="val 24990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6168" name="AutoShape 24"/>
            <p:cNvSpPr>
              <a:spLocks noChangeArrowheads="1"/>
            </p:cNvSpPr>
            <p:nvPr/>
          </p:nvSpPr>
          <p:spPr bwMode="auto">
            <a:xfrm>
              <a:off x="4091311" y="3325310"/>
              <a:ext cx="270748" cy="207382"/>
            </a:xfrm>
            <a:prstGeom prst="rightArrow">
              <a:avLst>
                <a:gd name="adj1" fmla="val 50000"/>
                <a:gd name="adj2" fmla="val 32639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6169" name="AutoShape 25"/>
            <p:cNvSpPr>
              <a:spLocks noChangeArrowheads="1"/>
            </p:cNvSpPr>
            <p:nvPr/>
          </p:nvSpPr>
          <p:spPr bwMode="auto">
            <a:xfrm>
              <a:off x="3136491" y="3215858"/>
              <a:ext cx="691273" cy="4046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Aplikasi</a:t>
              </a:r>
            </a:p>
          </p:txBody>
        </p:sp>
        <p:sp>
          <p:nvSpPr>
            <p:cNvPr id="6170" name="AutoShape 26"/>
            <p:cNvSpPr>
              <a:spLocks noChangeArrowheads="1"/>
            </p:cNvSpPr>
            <p:nvPr/>
          </p:nvSpPr>
          <p:spPr bwMode="auto">
            <a:xfrm>
              <a:off x="4636532" y="4179319"/>
              <a:ext cx="717195" cy="6019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FINISH</a:t>
              </a:r>
            </a:p>
          </p:txBody>
        </p:sp>
        <p:sp>
          <p:nvSpPr>
            <p:cNvPr id="6171" name="AutoShape 27"/>
            <p:cNvSpPr>
              <a:spLocks noChangeArrowheads="1"/>
            </p:cNvSpPr>
            <p:nvPr/>
          </p:nvSpPr>
          <p:spPr bwMode="auto">
            <a:xfrm>
              <a:off x="4874753" y="3835123"/>
              <a:ext cx="270748" cy="306752"/>
            </a:xfrm>
            <a:prstGeom prst="downArrow">
              <a:avLst>
                <a:gd name="adj1" fmla="val 50000"/>
                <a:gd name="adj2" fmla="val 28324"/>
              </a:avLst>
            </a:prstGeom>
            <a:ln>
              <a:headEnd/>
              <a:tailE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9" name="AutoShape 26"/>
            <p:cNvSpPr>
              <a:spLocks noChangeArrowheads="1"/>
            </p:cNvSpPr>
            <p:nvPr/>
          </p:nvSpPr>
          <p:spPr bwMode="auto">
            <a:xfrm>
              <a:off x="7791060" y="3157100"/>
              <a:ext cx="2007418" cy="601983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pPr algn="ctr"/>
              <a:r>
                <a:rPr lang="en-US" altLang="en-US" sz="1089" i="1" dirty="0" err="1"/>
                <a:t>Pilih</a:t>
              </a:r>
              <a:r>
                <a:rPr lang="en-US" altLang="en-US" sz="1089" i="1" dirty="0"/>
                <a:t> cancel </a:t>
              </a:r>
              <a:r>
                <a:rPr lang="en-US" altLang="en-US" sz="1089" i="1" dirty="0" err="1"/>
                <a:t>jika</a:t>
              </a:r>
              <a:r>
                <a:rPr lang="en-US" altLang="en-US" sz="1089" i="1" dirty="0"/>
                <a:t> </a:t>
              </a:r>
              <a:r>
                <a:rPr lang="en-US" altLang="en-US" sz="1089" i="1" dirty="0" err="1"/>
                <a:t>ingin</a:t>
              </a:r>
              <a:r>
                <a:rPr lang="en-US" altLang="en-US" sz="1089" i="1" dirty="0"/>
                <a:t> setting IP </a:t>
              </a:r>
            </a:p>
            <a:p>
              <a:pPr algn="ctr"/>
              <a:r>
                <a:rPr lang="en-US" altLang="en-US" sz="1089" i="1" dirty="0" err="1"/>
                <a:t>setelah</a:t>
              </a:r>
              <a:r>
                <a:rPr lang="en-US" altLang="en-US" sz="1089" i="1" dirty="0"/>
                <a:t> </a:t>
              </a:r>
              <a:r>
                <a:rPr lang="en-US" altLang="en-US" sz="1089" i="1" dirty="0" err="1"/>
                <a:t>instalasi</a:t>
              </a:r>
              <a:endParaRPr lang="en-US" altLang="en-US" sz="1089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330672669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1. Pilih Bahasa Instalasi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048" y="1451673"/>
            <a:ext cx="6843598" cy="5089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6115031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2. Pilih Bahasa Sistem Ubuntu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575" y="1451673"/>
            <a:ext cx="5391926" cy="4562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1983241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1"/>
          <p:cNvSpPr>
            <a:spLocks noGrp="1" noChangeArrowheads="1"/>
          </p:cNvSpPr>
          <p:nvPr>
            <p:ph type="title"/>
          </p:nvPr>
        </p:nvSpPr>
        <p:spPr>
          <a:xfrm>
            <a:off x="2219114" y="10081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3. Pilih Layout Keyboard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575" y="2073819"/>
            <a:ext cx="4982923" cy="29465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3551413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4. Konfigurasi Primary Kartu Jaringan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9956" y="2108382"/>
            <a:ext cx="5806690" cy="2911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28529063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5. Setting DHCP</a:t>
            </a:r>
            <a:br>
              <a:rPr lang="en-US" altLang="en-US"/>
            </a:br>
            <a:r>
              <a:rPr lang="en-US" altLang="en-US" sz="1633"/>
              <a:t> ( jika belum terkoneksi dengan jaringan, maka tekan tombol cancel)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575" y="2108382"/>
            <a:ext cx="6221453" cy="3490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95105330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6. Setting DHCP - lanjutan</a:t>
            </a:r>
            <a:br>
              <a:rPr lang="en-US" altLang="en-US"/>
            </a:br>
            <a:r>
              <a:rPr lang="en-US" altLang="en-US" sz="1633"/>
              <a:t> ( jika ingin seting network setelah selesai instalasi, </a:t>
            </a:r>
            <a:br>
              <a:rPr lang="en-US" altLang="en-US" sz="1633"/>
            </a:br>
            <a:r>
              <a:rPr lang="en-US" altLang="en-US" sz="1633"/>
              <a:t>pilih Do not configure the network at this time)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3048" y="1983089"/>
            <a:ext cx="7050980" cy="38236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9530096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7. Setting Hostname Server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0429" y="1983089"/>
            <a:ext cx="7465744" cy="3616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8725459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8. Pilih Zona Waktu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575" y="1983089"/>
            <a:ext cx="5599308" cy="4030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9204536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9. Setting Partisi Hardisk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5193" y="1983089"/>
            <a:ext cx="5599308" cy="4030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6225656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10. Setting Partisi Hardisk- lanjutan 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575" y="1983089"/>
            <a:ext cx="5391926" cy="3201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2148474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11. Setting Username dan Password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279" y="1983089"/>
            <a:ext cx="3888408" cy="2911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56852724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12. Pilih Aplikasi Server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279" y="1983089"/>
            <a:ext cx="3888408" cy="2911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181344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13. Instalasi Boot Loader</a:t>
            </a: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279" y="1983089"/>
            <a:ext cx="3888408" cy="2911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8808114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14. Instalasi Selesai</a:t>
            </a: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279" y="1983089"/>
            <a:ext cx="3888408" cy="2911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1349991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2" y="106572"/>
            <a:ext cx="7807059" cy="1143480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Proses Instalasi</a:t>
            </a:r>
            <a:br>
              <a:rPr lang="en-US" altLang="en-US"/>
            </a:br>
            <a:r>
              <a:rPr lang="en-US" altLang="en-US"/>
              <a:t>15. Tampilan Halaman Login</a:t>
            </a:r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2575" y="2441058"/>
            <a:ext cx="5391926" cy="25361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8674960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/>
          <p:cNvSpPr>
            <a:spLocks noGrp="1" noChangeArrowheads="1"/>
          </p:cNvSpPr>
          <p:nvPr>
            <p:ph type="title"/>
          </p:nvPr>
        </p:nvSpPr>
        <p:spPr>
          <a:xfrm>
            <a:off x="2014612" y="2281200"/>
            <a:ext cx="7804179" cy="1140600"/>
          </a:xfrm>
          <a:ln/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 sz="3266"/>
              <a:t>Instalasi Domain Name Server (DNS)</a:t>
            </a:r>
          </a:p>
        </p:txBody>
      </p:sp>
    </p:spTree>
    <p:extLst>
      <p:ext uri="{BB962C8B-B14F-4D97-AF65-F5344CB8AC3E}">
        <p14:creationId xmlns:p14="http://schemas.microsoft.com/office/powerpoint/2010/main" val="2019835227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1" y="106572"/>
            <a:ext cx="7804179" cy="1140600"/>
          </a:xfrm>
          <a:ln/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Alur Instalasi DNS </a:t>
            </a:r>
          </a:p>
        </p:txBody>
      </p:sp>
      <p:grpSp>
        <p:nvGrpSpPr>
          <p:cNvPr id="23554" name="Group 2"/>
          <p:cNvGrpSpPr>
            <a:grpSpLocks/>
          </p:cNvGrpSpPr>
          <p:nvPr/>
        </p:nvGrpSpPr>
        <p:grpSpPr bwMode="auto">
          <a:xfrm>
            <a:off x="4972683" y="1244292"/>
            <a:ext cx="2148706" cy="4560959"/>
            <a:chOff x="2395" y="864"/>
            <a:chExt cx="1492" cy="3167"/>
          </a:xfrm>
        </p:grpSpPr>
        <p:sp>
          <p:nvSpPr>
            <p:cNvPr id="23555" name="AutoShape 3"/>
            <p:cNvSpPr>
              <a:spLocks noChangeArrowheads="1"/>
            </p:cNvSpPr>
            <p:nvPr/>
          </p:nvSpPr>
          <p:spPr bwMode="auto">
            <a:xfrm>
              <a:off x="2395" y="864"/>
              <a:ext cx="1492" cy="298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Install paket Bind9</a:t>
              </a:r>
            </a:p>
          </p:txBody>
        </p:sp>
        <p:sp>
          <p:nvSpPr>
            <p:cNvPr id="23556" name="AutoShape 4"/>
            <p:cNvSpPr>
              <a:spLocks noChangeArrowheads="1"/>
            </p:cNvSpPr>
            <p:nvPr/>
          </p:nvSpPr>
          <p:spPr bwMode="auto">
            <a:xfrm>
              <a:off x="2406" y="1514"/>
              <a:ext cx="1437" cy="34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named.conf.options</a:t>
              </a:r>
            </a:p>
          </p:txBody>
        </p:sp>
        <p:sp>
          <p:nvSpPr>
            <p:cNvPr id="23557" name="AutoShape 5"/>
            <p:cNvSpPr>
              <a:spLocks noChangeArrowheads="1"/>
            </p:cNvSpPr>
            <p:nvPr/>
          </p:nvSpPr>
          <p:spPr bwMode="auto">
            <a:xfrm>
              <a:off x="2472" y="2269"/>
              <a:ext cx="1317" cy="34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named.conf.local</a:t>
              </a:r>
            </a:p>
          </p:txBody>
        </p:sp>
        <p:sp>
          <p:nvSpPr>
            <p:cNvPr id="23558" name="AutoShape 6"/>
            <p:cNvSpPr>
              <a:spLocks noChangeArrowheads="1"/>
            </p:cNvSpPr>
            <p:nvPr/>
          </p:nvSpPr>
          <p:spPr bwMode="auto">
            <a:xfrm>
              <a:off x="2713" y="3001"/>
              <a:ext cx="866" cy="343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db.domain</a:t>
              </a:r>
            </a:p>
          </p:txBody>
        </p:sp>
        <p:sp>
          <p:nvSpPr>
            <p:cNvPr id="23559" name="AutoShape 7"/>
            <p:cNvSpPr>
              <a:spLocks noChangeArrowheads="1"/>
            </p:cNvSpPr>
            <p:nvPr/>
          </p:nvSpPr>
          <p:spPr bwMode="auto">
            <a:xfrm>
              <a:off x="2889" y="3711"/>
              <a:ext cx="559" cy="320"/>
            </a:xfrm>
            <a:prstGeom prst="roundRect">
              <a:avLst>
                <a:gd name="adj" fmla="val 16667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81646" tIns="40823" rIns="81646" bIns="40823" anchor="ctr"/>
            <a:lstStyle>
              <a:lvl1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1pPr>
              <a:lvl2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2pPr>
              <a:lvl3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3pPr>
              <a:lvl4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4pPr>
              <a:lvl5pPr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5pPr>
              <a:lvl6pPr marL="25146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6pPr>
              <a:lvl7pPr marL="29718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7pPr>
              <a:lvl8pPr marL="34290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8pPr>
              <a:lvl9pPr marL="3886200" indent="-228600" defTabSz="45720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>
                  <a:solidFill>
                    <a:srgbClr val="000000"/>
                  </a:solidFill>
                  <a:latin typeface="Arial" panose="020B0604020202020204" pitchFamily="34" charset="0"/>
                  <a:cs typeface="DejaVu Sans" charset="0"/>
                </a:defRPr>
              </a:lvl9pPr>
            </a:lstStyle>
            <a:p>
              <a:r>
                <a:rPr lang="en-US" altLang="en-US" sz="1089"/>
                <a:t>Finish</a:t>
              </a:r>
            </a:p>
          </p:txBody>
        </p:sp>
        <p:sp>
          <p:nvSpPr>
            <p:cNvPr id="23560" name="AutoShape 8"/>
            <p:cNvSpPr>
              <a:spLocks noChangeArrowheads="1"/>
            </p:cNvSpPr>
            <p:nvPr/>
          </p:nvSpPr>
          <p:spPr bwMode="auto">
            <a:xfrm>
              <a:off x="2955" y="1200"/>
              <a:ext cx="406" cy="261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3561" name="AutoShape 9"/>
            <p:cNvSpPr>
              <a:spLocks noChangeArrowheads="1"/>
            </p:cNvSpPr>
            <p:nvPr/>
          </p:nvSpPr>
          <p:spPr bwMode="auto">
            <a:xfrm>
              <a:off x="2977" y="1925"/>
              <a:ext cx="406" cy="26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3562" name="AutoShape 10"/>
            <p:cNvSpPr>
              <a:spLocks noChangeArrowheads="1"/>
            </p:cNvSpPr>
            <p:nvPr/>
          </p:nvSpPr>
          <p:spPr bwMode="auto">
            <a:xfrm>
              <a:off x="2977" y="2664"/>
              <a:ext cx="406" cy="261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  <p:sp>
          <p:nvSpPr>
            <p:cNvPr id="23563" name="AutoShape 11"/>
            <p:cNvSpPr>
              <a:spLocks noChangeArrowheads="1"/>
            </p:cNvSpPr>
            <p:nvPr/>
          </p:nvSpPr>
          <p:spPr bwMode="auto">
            <a:xfrm>
              <a:off x="2943" y="3404"/>
              <a:ext cx="406" cy="261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99CCFF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1633"/>
            </a:p>
          </p:txBody>
        </p:sp>
      </p:grpSp>
    </p:spTree>
    <p:extLst>
      <p:ext uri="{BB962C8B-B14F-4D97-AF65-F5344CB8AC3E}">
        <p14:creationId xmlns:p14="http://schemas.microsoft.com/office/powerpoint/2010/main" val="2057038716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1" y="106572"/>
            <a:ext cx="7804179" cy="1140600"/>
          </a:xfrm>
          <a:ln/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Tahapan Instalasi </a:t>
            </a:r>
          </a:p>
        </p:txBody>
      </p:sp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2145666" y="1140600"/>
            <a:ext cx="7804180" cy="445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r>
              <a:rPr lang="en-US" altLang="en-US" sz="2177" b="1" i="1">
                <a:solidFill>
                  <a:srgbClr val="E6E6E6"/>
                </a:solidFill>
              </a:rPr>
              <a:t>Instalasi Paket Bind 9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># apt-get install bind9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>Setelah Instalasi selesai akan mengahasilkan file konfigurasi utama sebagai berikut :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>/etc/bind/named.conf</a:t>
            </a:r>
          </a:p>
          <a:p>
            <a:r>
              <a:rPr lang="en-US" altLang="en-US" sz="2177" b="1" i="1">
                <a:solidFill>
                  <a:srgbClr val="E6E6E6"/>
                </a:solidFill>
              </a:rPr>
              <a:t>/etc/bind/named.conf.options</a:t>
            </a:r>
          </a:p>
          <a:p>
            <a:r>
              <a:rPr lang="en-US" altLang="en-US" sz="2177" b="1" i="1">
                <a:solidFill>
                  <a:srgbClr val="E6E6E6"/>
                </a:solidFill>
              </a:rPr>
              <a:t>/etc/bind/named.conf.local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endParaRPr lang="en-US" altLang="en-US" sz="2177" b="1" i="1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7347910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1" y="106572"/>
            <a:ext cx="7804179" cy="1140600"/>
          </a:xfrm>
          <a:ln/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Tahapan Instalasi </a:t>
            </a:r>
          </a:p>
        </p:txBody>
      </p:sp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2145666" y="1140600"/>
            <a:ext cx="7804180" cy="445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r>
              <a:rPr lang="en-US" altLang="en-US" sz="2177" b="1" i="1">
                <a:solidFill>
                  <a:srgbClr val="E6E6E6"/>
                </a:solidFill>
              </a:rPr>
              <a:t>Edit file konfigurasi  /etc/bind/named.conf.options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>      [...]</a:t>
            </a:r>
          </a:p>
          <a:p>
            <a:endParaRPr lang="en-US" altLang="en-US" sz="2177" b="1" i="1">
              <a:solidFill>
                <a:srgbClr val="E6E6E6"/>
              </a:solidFill>
            </a:endParaRPr>
          </a:p>
          <a:p>
            <a:r>
              <a:rPr lang="en-US" altLang="en-US" sz="2177" b="1" i="1">
                <a:solidFill>
                  <a:srgbClr val="E6E6E6"/>
                </a:solidFill>
              </a:rPr>
              <a:t>        forwarders {</a:t>
            </a:r>
          </a:p>
          <a:p>
            <a:r>
              <a:rPr lang="en-US" altLang="en-US" sz="2177" b="1" i="1">
                <a:solidFill>
                  <a:srgbClr val="E6E6E6"/>
                </a:solidFill>
              </a:rPr>
              <a:t>             1.2.3.4;</a:t>
            </a:r>
          </a:p>
          <a:p>
            <a:r>
              <a:rPr lang="en-US" altLang="en-US" sz="2177" b="1" i="1">
                <a:solidFill>
                  <a:srgbClr val="E6E6E6"/>
                </a:solidFill>
              </a:rPr>
              <a:t>             5.6.7.8;</a:t>
            </a:r>
          </a:p>
          <a:p>
            <a:r>
              <a:rPr lang="en-US" altLang="en-US" sz="2177" b="1" i="1">
                <a:solidFill>
                  <a:srgbClr val="E6E6E6"/>
                </a:solidFill>
              </a:rPr>
              <a:t>        };</a:t>
            </a:r>
          </a:p>
          <a:p>
            <a:endParaRPr lang="en-US" altLang="en-US" sz="2177" b="1" i="1">
              <a:solidFill>
                <a:srgbClr val="E6E6E6"/>
              </a:solidFill>
            </a:endParaRPr>
          </a:p>
          <a:p>
            <a:r>
              <a:rPr lang="en-US" altLang="en-US" sz="2177" b="1" i="1">
                <a:solidFill>
                  <a:srgbClr val="E6E6E6"/>
                </a:solidFill>
              </a:rPr>
              <a:t>        […]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>Ket: 1.2.3.4 dan 5.6.7.8 adalah dns isp 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endParaRPr lang="en-US" altLang="en-US" sz="2177" b="1" i="1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996035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1" y="106572"/>
            <a:ext cx="7804179" cy="1140600"/>
          </a:xfrm>
          <a:ln/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Tahapan Instalasi </a:t>
            </a:r>
          </a:p>
        </p:txBody>
      </p:sp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2145666" y="1140600"/>
            <a:ext cx="7804180" cy="445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r>
              <a:rPr lang="en-US" altLang="en-US" sz="2177" b="1" i="1">
                <a:solidFill>
                  <a:srgbClr val="E6E6E6"/>
                </a:solidFill>
              </a:rPr>
              <a:t>Edit file konfigurasi named.conf.local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>    [...]</a:t>
            </a:r>
          </a:p>
          <a:p>
            <a:endParaRPr lang="en-US" altLang="en-US" sz="2177" b="1" i="1">
              <a:solidFill>
                <a:srgbClr val="E6E6E6"/>
              </a:solidFill>
            </a:endParaRPr>
          </a:p>
          <a:p>
            <a:r>
              <a:rPr lang="en-US" altLang="en-US" sz="2177" b="1" i="1">
                <a:solidFill>
                  <a:srgbClr val="E6E6E6"/>
                </a:solidFill>
              </a:rPr>
              <a:t>        zone "domain.com" {</a:t>
            </a:r>
          </a:p>
          <a:p>
            <a:r>
              <a:rPr lang="en-US" altLang="en-US" sz="2177" b="1" i="1">
                <a:solidFill>
                  <a:srgbClr val="E6E6E6"/>
                </a:solidFill>
              </a:rPr>
              <a:t>             type master;</a:t>
            </a:r>
          </a:p>
          <a:p>
            <a:r>
              <a:rPr lang="en-US" altLang="en-US" sz="2177" b="1" i="1">
                <a:solidFill>
                  <a:srgbClr val="E6E6E6"/>
                </a:solidFill>
              </a:rPr>
              <a:t>             file "/etc/bind/db.domain";</a:t>
            </a:r>
          </a:p>
          <a:p>
            <a:r>
              <a:rPr lang="en-US" altLang="en-US" sz="2177" b="1" i="1">
                <a:solidFill>
                  <a:srgbClr val="E6E6E6"/>
                </a:solidFill>
              </a:rPr>
              <a:t>        };</a:t>
            </a:r>
          </a:p>
          <a:p>
            <a:endParaRPr lang="en-US" altLang="en-US" sz="2177" b="1" i="1">
              <a:solidFill>
                <a:srgbClr val="E6E6E6"/>
              </a:solidFill>
            </a:endParaRPr>
          </a:p>
          <a:p>
            <a:r>
              <a:rPr lang="en-US" altLang="en-US" sz="2177" b="1" i="1">
                <a:solidFill>
                  <a:srgbClr val="E6E6E6"/>
                </a:solidFill>
              </a:rPr>
              <a:t>        [...]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endParaRPr lang="en-US" altLang="en-US" sz="2177" b="1" i="1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164432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1" y="106572"/>
            <a:ext cx="7804179" cy="1140600"/>
          </a:xfrm>
          <a:ln/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Tahapan Instalasi </a:t>
            </a:r>
          </a:p>
        </p:txBody>
      </p:sp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2145666" y="1487678"/>
            <a:ext cx="7804180" cy="49339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r>
              <a:rPr lang="en-US" altLang="en-US" sz="2177" b="1" i="1">
                <a:solidFill>
                  <a:srgbClr val="E6E6E6"/>
                </a:solidFill>
              </a:rPr>
              <a:t>Edit file konfigurasi db.domain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1814" b="1" i="1">
                <a:solidFill>
                  <a:srgbClr val="E6E6E6"/>
                </a:solidFill>
              </a:rPr>
              <a:t> $TTL    604800</a:t>
            </a:r>
          </a:p>
          <a:p>
            <a:r>
              <a:rPr lang="en-US" altLang="en-US" sz="1814" b="1" i="1">
                <a:solidFill>
                  <a:srgbClr val="E6E6E6"/>
                </a:solidFill>
              </a:rPr>
              <a:t>@       IN      SOA     ns.domain.com. admin.domain.com. (</a:t>
            </a:r>
          </a:p>
          <a:p>
            <a:r>
              <a:rPr lang="en-US" altLang="en-US" sz="1814" b="1" i="1">
                <a:solidFill>
                  <a:srgbClr val="E6E6E6"/>
                </a:solidFill>
              </a:rPr>
              <a:t>                              1			; Serial</a:t>
            </a:r>
          </a:p>
          <a:p>
            <a:r>
              <a:rPr lang="en-US" altLang="en-US" sz="1814" b="1" i="1">
                <a:solidFill>
                  <a:srgbClr val="E6E6E6"/>
                </a:solidFill>
              </a:rPr>
              <a:t>                         604800		; Refresh</a:t>
            </a:r>
          </a:p>
          <a:p>
            <a:r>
              <a:rPr lang="en-US" altLang="en-US" sz="1814" b="1" i="1">
                <a:solidFill>
                  <a:srgbClr val="E6E6E6"/>
                </a:solidFill>
              </a:rPr>
              <a:t>                          86400		; Retry</a:t>
            </a:r>
          </a:p>
          <a:p>
            <a:r>
              <a:rPr lang="en-US" altLang="en-US" sz="1814" b="1" i="1">
                <a:solidFill>
                  <a:srgbClr val="E6E6E6"/>
                </a:solidFill>
              </a:rPr>
              <a:t>                        2419200        ; Expire</a:t>
            </a:r>
          </a:p>
          <a:p>
            <a:r>
              <a:rPr lang="en-US" altLang="en-US" sz="1814" b="1" i="1">
                <a:solidFill>
                  <a:srgbClr val="E6E6E6"/>
                </a:solidFill>
              </a:rPr>
              <a:t>                         604800 )       ; Negative Cache TTL</a:t>
            </a:r>
          </a:p>
          <a:p>
            <a:r>
              <a:rPr lang="en-US" altLang="en-US" sz="1814" b="1" i="1">
                <a:solidFill>
                  <a:srgbClr val="E6E6E6"/>
                </a:solidFill>
              </a:rPr>
              <a:t>;</a:t>
            </a:r>
          </a:p>
          <a:p>
            <a:r>
              <a:rPr lang="en-US" altLang="en-US" sz="1814" b="1" i="1">
                <a:solidFill>
                  <a:srgbClr val="E6E6E6"/>
                </a:solidFill>
              </a:rPr>
              <a:t>@       IN      NS      ns.domain.com.</a:t>
            </a:r>
          </a:p>
          <a:p>
            <a:r>
              <a:rPr lang="en-US" altLang="en-US" sz="1814" b="1" i="1">
                <a:solidFill>
                  <a:srgbClr val="E6E6E6"/>
                </a:solidFill>
              </a:rPr>
              <a:t>ns      IN      A       192.168.1.10</a:t>
            </a:r>
          </a:p>
          <a:p>
            <a:endParaRPr lang="en-US" altLang="en-US" sz="1814" b="1" i="1">
              <a:solidFill>
                <a:srgbClr val="E6E6E6"/>
              </a:solidFill>
            </a:endParaRPr>
          </a:p>
          <a:p>
            <a:r>
              <a:rPr lang="en-US" altLang="en-US" sz="1814" b="1" i="1">
                <a:solidFill>
                  <a:srgbClr val="E6E6E6"/>
                </a:solidFill>
              </a:rPr>
              <a:t>box     IN      A       192.168.1.10</a:t>
            </a: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endParaRPr lang="en-US" altLang="en-US" sz="2177" b="1" i="1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7161526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ChangeArrowheads="1"/>
          </p:cNvSpPr>
          <p:nvPr>
            <p:ph type="title"/>
          </p:nvPr>
        </p:nvSpPr>
        <p:spPr>
          <a:xfrm>
            <a:off x="2196071" y="106572"/>
            <a:ext cx="7804179" cy="1140600"/>
          </a:xfrm>
          <a:ln/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Tahapan Instalasi </a:t>
            </a:r>
          </a:p>
        </p:txBody>
      </p:sp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2145666" y="1140600"/>
            <a:ext cx="7804180" cy="445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r>
              <a:rPr lang="en-US" altLang="en-US" sz="2177" b="1" i="1">
                <a:solidFill>
                  <a:srgbClr val="E6E6E6"/>
                </a:solidFill>
              </a:rPr>
              <a:t>Restart DNS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> # /etc/init.d/bind9 restart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>Testing DNS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># ping domain.com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># dig domain.com</a:t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endParaRPr lang="en-US" altLang="en-US" sz="2177" b="1" i="1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673290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1"/>
          <p:cNvSpPr>
            <a:spLocks noGrp="1" noChangeArrowheads="1"/>
          </p:cNvSpPr>
          <p:nvPr>
            <p:ph type="title"/>
          </p:nvPr>
        </p:nvSpPr>
        <p:spPr>
          <a:xfrm>
            <a:off x="1938284" y="1866436"/>
            <a:ext cx="7804180" cy="1140600"/>
          </a:xfrm>
          <a:ln/>
        </p:spPr>
        <p:txBody>
          <a:bodyPr/>
          <a:lstStyle/>
          <a:p>
            <a:pPr>
              <a:tabLst>
                <a:tab pos="0" algn="l"/>
                <a:tab pos="414772" algn="l"/>
                <a:tab pos="829544" algn="l"/>
                <a:tab pos="1244316" algn="l"/>
                <a:tab pos="1659087" algn="l"/>
                <a:tab pos="2073859" algn="l"/>
                <a:tab pos="2488631" algn="l"/>
                <a:tab pos="2903403" algn="l"/>
                <a:tab pos="3318175" algn="l"/>
                <a:tab pos="3732947" algn="l"/>
                <a:tab pos="4147718" algn="l"/>
                <a:tab pos="4562490" algn="l"/>
                <a:tab pos="4977262" algn="l"/>
                <a:tab pos="5392034" algn="l"/>
                <a:tab pos="5806806" algn="l"/>
                <a:tab pos="6221578" algn="l"/>
                <a:tab pos="6636349" algn="l"/>
                <a:tab pos="7051121" algn="l"/>
                <a:tab pos="7465893" algn="l"/>
                <a:tab pos="7880665" algn="l"/>
                <a:tab pos="8295437" algn="l"/>
              </a:tabLst>
            </a:pPr>
            <a:r>
              <a:rPr lang="en-US" altLang="en-US"/>
              <a:t>=====SELESAI ===</a:t>
            </a:r>
          </a:p>
        </p:txBody>
      </p:sp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2145666" y="1036909"/>
            <a:ext cx="7804180" cy="44587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5pPr>
            <a:lvl6pPr marL="25146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6pPr>
            <a:lvl7pPr marL="29718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7pPr>
            <a:lvl8pPr marL="34290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8pPr>
            <a:lvl9pPr marL="3886200" indent="-228600" defTabSz="4572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>
                <a:solidFill>
                  <a:srgbClr val="000000"/>
                </a:solidFill>
                <a:latin typeface="Arial" panose="020B0604020202020204" pitchFamily="34" charset="0"/>
                <a:cs typeface="DejaVu Sans" charset="0"/>
              </a:defRPr>
            </a:lvl9pPr>
          </a:lstStyle>
          <a:p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r>
              <a:rPr lang="en-US" altLang="en-US" sz="2177" b="1" i="1">
                <a:solidFill>
                  <a:srgbClr val="E6E6E6"/>
                </a:solidFill>
              </a:rPr>
              <a:t/>
            </a:r>
            <a:br>
              <a:rPr lang="en-US" altLang="en-US" sz="2177" b="1" i="1">
                <a:solidFill>
                  <a:srgbClr val="E6E6E6"/>
                </a:solidFill>
              </a:rPr>
            </a:br>
            <a:endParaRPr lang="en-US" altLang="en-US" sz="2177" b="1" i="1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079186"/>
      </p:ext>
    </p:extLst>
  </p:cSld>
  <p:clrMapOvr>
    <a:masterClrMapping/>
  </p:clrMapOvr>
  <p:transition spd="med">
    <p:wipe dir="r"/>
  </p:transition>
  <p:timing>
    <p:tnLst>
      <p:par>
        <p:cTn id="1" dur="indefinite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34718</TotalTime>
  <Words>188</Words>
  <Application>Microsoft Office PowerPoint</Application>
  <PresentationFormat>Widescreen</PresentationFormat>
  <Paragraphs>109</Paragraphs>
  <Slides>28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맑은 고딕</vt:lpstr>
      <vt:lpstr>Arial</vt:lpstr>
      <vt:lpstr>Calibri</vt:lpstr>
      <vt:lpstr>Calibri Light</vt:lpstr>
      <vt:lpstr>DejaVu Sans</vt:lpstr>
      <vt:lpstr>Edwardian Script ITC</vt:lpstr>
      <vt:lpstr>Times New Roman</vt:lpstr>
      <vt:lpstr>Office Theme</vt:lpstr>
      <vt:lpstr>PowerPoint Presentation</vt:lpstr>
      <vt:lpstr>Instalasi : Server Ubuntu and Domain Name System</vt:lpstr>
      <vt:lpstr>Instalasi Server Ubuntu  Syarat Minimum Hardware Server</vt:lpstr>
      <vt:lpstr>Alur Instalasi Ubuntu Server</vt:lpstr>
      <vt:lpstr>Proses Instalasi 1. Pilih Bahasa Instalasi</vt:lpstr>
      <vt:lpstr>Proses Instalasi 2. Pilih Bahasa Sistem Ubuntu</vt:lpstr>
      <vt:lpstr>Proses Instalasi 3. Pilih Layout Keyboard</vt:lpstr>
      <vt:lpstr>Proses Instalasi 4. Konfigurasi Primary Kartu Jaringan</vt:lpstr>
      <vt:lpstr>Proses Instalasi 5. Setting DHCP  ( jika belum terkoneksi dengan jaringan, maka tekan tombol cancel)</vt:lpstr>
      <vt:lpstr>Proses Instalasi 6. Setting DHCP - lanjutan  ( jika ingin seting network setelah selesai instalasi,  pilih Do not configure the network at this time)</vt:lpstr>
      <vt:lpstr>Proses Instalasi 7. Setting Hostname Server</vt:lpstr>
      <vt:lpstr>Proses Instalasi 8. Pilih Zona Waktu</vt:lpstr>
      <vt:lpstr>Proses Instalasi 9. Setting Partisi Hardisk</vt:lpstr>
      <vt:lpstr>Proses Instalasi 10. Setting Partisi Hardisk- lanjutan </vt:lpstr>
      <vt:lpstr>Proses Instalasi 11. Setting Username dan Password</vt:lpstr>
      <vt:lpstr>Proses Instalasi 12. Pilih Aplikasi Server</vt:lpstr>
      <vt:lpstr>Proses Instalasi 13. Instalasi Boot Loader</vt:lpstr>
      <vt:lpstr>Proses Instalasi 14. Instalasi Selesai</vt:lpstr>
      <vt:lpstr>Proses Instalasi 15. Tampilan Halaman Login</vt:lpstr>
      <vt:lpstr>Instalasi Domain Name Server (DNS)</vt:lpstr>
      <vt:lpstr>Alur Instalasi DNS </vt:lpstr>
      <vt:lpstr>Tahapan Instalasi </vt:lpstr>
      <vt:lpstr>Tahapan Instalasi </vt:lpstr>
      <vt:lpstr>Tahapan Instalasi </vt:lpstr>
      <vt:lpstr>Tahapan Instalasi </vt:lpstr>
      <vt:lpstr>Tahapan Instalasi </vt:lpstr>
      <vt:lpstr>=====SELESAI ===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95</cp:revision>
  <dcterms:created xsi:type="dcterms:W3CDTF">2024-10-22T07:52:57Z</dcterms:created>
  <dcterms:modified xsi:type="dcterms:W3CDTF">2026-03-27T07:52:37Z</dcterms:modified>
</cp:coreProperties>
</file>