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4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72042" autoAdjust="0"/>
  </p:normalViewPr>
  <p:slideViewPr>
    <p:cSldViewPr snapToGrid="0">
      <p:cViewPr varScale="1">
        <p:scale>
          <a:sx n="46" d="100"/>
          <a:sy n="46" d="100"/>
        </p:scale>
        <p:origin x="19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algn="l" rtl="0"/>
          <a:r>
            <a:rPr lang="en-US" b="1" dirty="0" err="1" smtClean="0"/>
            <a:t>Konfigurasi</a:t>
          </a:r>
          <a:r>
            <a:rPr lang="en-US" b="1" dirty="0" smtClean="0"/>
            <a:t> DNS Server on Ubuntu Server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 err="1" smtClean="0"/>
            <a:t>Konfigurasi</a:t>
          </a:r>
          <a:r>
            <a:rPr lang="en-US" sz="3600" b="1" kern="1200" dirty="0" smtClean="0"/>
            <a:t> DNS Server on Ubuntu Server</a:t>
          </a:r>
          <a:endParaRPr lang="en-US" sz="3600" kern="1200" dirty="0"/>
        </a:p>
      </dsp:txBody>
      <dsp:txXfrm>
        <a:off x="457199" y="0"/>
        <a:ext cx="8255379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http://www.sophphx.caltech.edu/Physics_5/Experiment_6.pdf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94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2167072" y="4456540"/>
            <a:ext cx="1211113" cy="516834"/>
            <a:chOff x="2583409" y="5680788"/>
            <a:chExt cx="1211113" cy="516834"/>
          </a:xfrm>
        </p:grpSpPr>
        <p:sp>
          <p:nvSpPr>
            <p:cNvPr id="4" name="Pie 3"/>
            <p:cNvSpPr/>
            <p:nvPr/>
          </p:nvSpPr>
          <p:spPr>
            <a:xfrm>
              <a:off x="2583409" y="5680788"/>
              <a:ext cx="755878" cy="516834"/>
            </a:xfrm>
            <a:prstGeom prst="pie">
              <a:avLst>
                <a:gd name="adj1" fmla="val 5400000"/>
                <a:gd name="adj2" fmla="val 16200000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Pie 29"/>
            <p:cNvSpPr/>
            <p:nvPr/>
          </p:nvSpPr>
          <p:spPr>
            <a:xfrm rot="10800000">
              <a:off x="3088581" y="5680788"/>
              <a:ext cx="705941" cy="516834"/>
            </a:xfrm>
            <a:prstGeom prst="pie">
              <a:avLst>
                <a:gd name="adj1" fmla="val 5400000"/>
                <a:gd name="adj2" fmla="val 16200000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3" name="Subtitle 2"/>
          <p:cNvSpPr txBox="1">
            <a:spLocks/>
          </p:cNvSpPr>
          <p:nvPr/>
        </p:nvSpPr>
        <p:spPr>
          <a:xfrm>
            <a:off x="2893786" y="3309896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1690520647"/>
              </p:ext>
            </p:extLst>
          </p:nvPr>
        </p:nvGraphicFramePr>
        <p:xfrm>
          <a:off x="2063477" y="3512270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7" y="349354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2" name="Rectangle 1"/>
          <p:cNvSpPr/>
          <p:nvPr/>
        </p:nvSpPr>
        <p:spPr>
          <a:xfrm>
            <a:off x="2456677" y="4471172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Lab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System (</a:t>
            </a:r>
            <a:r>
              <a:rPr lang="en-US" dirty="0" smtClean="0"/>
              <a:t>DNS)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Domain Name System (DNS)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terdistribusi</a:t>
            </a:r>
            <a:r>
              <a:rPr lang="en-US" dirty="0"/>
              <a:t> yang </a:t>
            </a:r>
            <a:r>
              <a:rPr lang="en-US" dirty="0" err="1"/>
              <a:t>menerjemahkan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host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IP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sebaliknya</a:t>
            </a:r>
            <a:r>
              <a:rPr lang="en-US" dirty="0"/>
              <a:t>,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yang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diingat</a:t>
            </a:r>
            <a:r>
              <a:rPr lang="en-US" dirty="0"/>
              <a:t> </a:t>
            </a: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berkomunikasi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IP. DNS </a:t>
            </a:r>
            <a:r>
              <a:rPr lang="en-US" dirty="0" err="1"/>
              <a:t>bekerja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hierarkis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zona-zona yang </a:t>
            </a:r>
            <a:r>
              <a:rPr lang="en-US" dirty="0" err="1"/>
              <a:t>masing-masing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</a:t>
            </a:r>
            <a:r>
              <a:rPr lang="en-US" dirty="0" err="1"/>
              <a:t>sekumpulan</a:t>
            </a:r>
            <a:r>
              <a:rPr lang="en-US" dirty="0"/>
              <a:t> record yang </a:t>
            </a:r>
            <a:r>
              <a:rPr lang="en-US" dirty="0" err="1"/>
              <a:t>dikelola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daemon server.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err="1"/>
              <a:t>Dalam</a:t>
            </a:r>
            <a:r>
              <a:rPr lang="en-US" dirty="0"/>
              <a:t> Linux, Bind9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implementasi</a:t>
            </a:r>
            <a:r>
              <a:rPr lang="en-US" dirty="0"/>
              <a:t> DNS yang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dipakai</a:t>
            </a:r>
            <a:r>
              <a:rPr lang="en-US" dirty="0"/>
              <a:t>. </a:t>
            </a:r>
            <a:r>
              <a:rPr lang="en-US" dirty="0" err="1"/>
              <a:t>Konfigurasi</a:t>
            </a:r>
            <a:r>
              <a:rPr lang="en-US" dirty="0"/>
              <a:t> </a:t>
            </a:r>
            <a:r>
              <a:rPr lang="en-US" dirty="0" err="1"/>
              <a:t>utamanya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direktori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/bind, </a:t>
            </a:r>
            <a:r>
              <a:rPr lang="en-US" dirty="0" err="1"/>
              <a:t>termasuk</a:t>
            </a:r>
            <a:r>
              <a:rPr lang="en-US" dirty="0"/>
              <a:t> file global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pengaturan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forwarders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kebijakan</a:t>
            </a:r>
            <a:r>
              <a:rPr lang="en-US" dirty="0"/>
              <a:t> </a:t>
            </a:r>
            <a:r>
              <a:rPr lang="en-US" dirty="0" err="1"/>
              <a:t>rekursi</a:t>
            </a:r>
            <a:r>
              <a:rPr lang="en-US" dirty="0"/>
              <a:t>, file </a:t>
            </a:r>
            <a:r>
              <a:rPr lang="en-US" dirty="0" err="1"/>
              <a:t>lokal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mendaftarkan</a:t>
            </a:r>
            <a:r>
              <a:rPr lang="en-US" dirty="0"/>
              <a:t> zone </a:t>
            </a:r>
            <a:r>
              <a:rPr lang="en-US" dirty="0" err="1"/>
              <a:t>otoritatif</a:t>
            </a:r>
            <a:r>
              <a:rPr lang="en-US" dirty="0"/>
              <a:t>, </a:t>
            </a:r>
            <a:r>
              <a:rPr lang="en-US" dirty="0" err="1"/>
              <a:t>serta</a:t>
            </a:r>
            <a:r>
              <a:rPr lang="en-US" dirty="0"/>
              <a:t> file zone yang </a:t>
            </a:r>
            <a:r>
              <a:rPr lang="en-US" dirty="0" err="1"/>
              <a:t>memuat</a:t>
            </a:r>
            <a:r>
              <a:rPr lang="en-US" dirty="0"/>
              <a:t> record DNS.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berjalan</a:t>
            </a:r>
            <a:r>
              <a:rPr lang="en-US" dirty="0"/>
              <a:t> </a:t>
            </a:r>
            <a:r>
              <a:rPr lang="en-US" dirty="0" err="1"/>
              <a:t>andal</a:t>
            </a:r>
            <a:r>
              <a:rPr lang="en-US" dirty="0"/>
              <a:t>, </a:t>
            </a:r>
            <a:r>
              <a:rPr lang="en-US" dirty="0" err="1"/>
              <a:t>praktik</a:t>
            </a:r>
            <a:r>
              <a:rPr lang="en-US" dirty="0"/>
              <a:t> yang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mencakup</a:t>
            </a:r>
            <a:r>
              <a:rPr lang="en-US" dirty="0"/>
              <a:t> </a:t>
            </a:r>
            <a:r>
              <a:rPr lang="en-US" dirty="0" err="1"/>
              <a:t>validasi</a:t>
            </a:r>
            <a:r>
              <a:rPr lang="en-US" dirty="0"/>
              <a:t> </a:t>
            </a:r>
            <a:r>
              <a:rPr lang="en-US" dirty="0" err="1"/>
              <a:t>konfigurasi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utilitas</a:t>
            </a:r>
            <a:r>
              <a:rPr lang="en-US" dirty="0"/>
              <a:t>, </a:t>
            </a:r>
            <a:r>
              <a:rPr lang="en-US" dirty="0" err="1"/>
              <a:t>mengatur</a:t>
            </a:r>
            <a:r>
              <a:rPr lang="en-US" dirty="0"/>
              <a:t> serial zone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kali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mengintegrasikan</a:t>
            </a:r>
            <a:r>
              <a:rPr lang="en-US" dirty="0"/>
              <a:t> server DNS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DHCP agar </a:t>
            </a:r>
            <a:r>
              <a:rPr lang="en-US" dirty="0" err="1"/>
              <a:t>klien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DNS internal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konsisten</a:t>
            </a:r>
            <a:r>
              <a:rPr lang="en-US" dirty="0"/>
              <a:t>.</a:t>
            </a:r>
          </a:p>
        </p:txBody>
      </p:sp>
      <p:sp>
        <p:nvSpPr>
          <p:cNvPr id="5" name="Pie 4"/>
          <p:cNvSpPr/>
          <p:nvPr/>
        </p:nvSpPr>
        <p:spPr>
          <a:xfrm>
            <a:off x="483745" y="769489"/>
            <a:ext cx="755878" cy="516834"/>
          </a:xfrm>
          <a:prstGeom prst="pie">
            <a:avLst>
              <a:gd name="adj1" fmla="val 5400000"/>
              <a:gd name="adj2" fmla="val 16200000"/>
            </a:avLst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Pie 5"/>
          <p:cNvSpPr/>
          <p:nvPr/>
        </p:nvSpPr>
        <p:spPr>
          <a:xfrm rot="10800000">
            <a:off x="7015645" y="769489"/>
            <a:ext cx="705941" cy="516834"/>
          </a:xfrm>
          <a:prstGeom prst="pie">
            <a:avLst>
              <a:gd name="adj1" fmla="val 5400000"/>
              <a:gd name="adj2" fmla="val 16200000"/>
            </a:avLst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8778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35" y="92721"/>
            <a:ext cx="10515600" cy="575948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Langkah</a:t>
            </a:r>
            <a:r>
              <a:rPr lang="en-US" b="1" dirty="0" smtClean="0"/>
              <a:t> </a:t>
            </a:r>
            <a:r>
              <a:rPr lang="en-US" b="1" dirty="0" err="1"/>
              <a:t>Konfigurasi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2635" y="662563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1. Login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 smtClean="0"/>
              <a:t>vm</a:t>
            </a:r>
            <a:r>
              <a:rPr lang="en-US" sz="2400" dirty="0" smtClean="0"/>
              <a:t> ware,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memperbarui</a:t>
            </a:r>
            <a:r>
              <a:rPr lang="en-US" sz="2400" dirty="0"/>
              <a:t> </a:t>
            </a:r>
            <a:r>
              <a:rPr lang="en-US" sz="2400" dirty="0" err="1"/>
              <a:t>indeks</a:t>
            </a:r>
            <a:r>
              <a:rPr lang="en-US" sz="2400" dirty="0"/>
              <a:t> </a:t>
            </a:r>
            <a:r>
              <a:rPr lang="en-US" sz="2400" dirty="0" err="1"/>
              <a:t>paket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repositori</a:t>
            </a:r>
            <a:r>
              <a:rPr lang="en-US" sz="2400" dirty="0"/>
              <a:t> Ubuntu. </a:t>
            </a:r>
            <a:r>
              <a:rPr lang="en-US" sz="2400" dirty="0" err="1"/>
              <a:t>Pastikan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error </a:t>
            </a:r>
            <a:r>
              <a:rPr lang="en-US" sz="2400" dirty="0" err="1"/>
              <a:t>koneksi</a:t>
            </a:r>
            <a:r>
              <a:rPr lang="en-US" sz="2400" dirty="0"/>
              <a:t> internet.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302635" y="1697757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242424"/>
                </a:solidFill>
                <a:latin typeface="source-code-pro"/>
              </a:rPr>
              <a:t>sudo</a:t>
            </a:r>
            <a:r>
              <a:rPr lang="en-US" dirty="0">
                <a:solidFill>
                  <a:srgbClr val="242424"/>
                </a:solidFill>
                <a:latin typeface="source-code-pro"/>
              </a:rPr>
              <a:t> apt update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473" y="1837850"/>
            <a:ext cx="6858000" cy="116205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02635" y="3049813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 smtClean="0"/>
              <a:t>2. Install </a:t>
            </a:r>
            <a:r>
              <a:rPr lang="en-US" sz="2400" dirty="0"/>
              <a:t>server DNS (bind9), </a:t>
            </a:r>
            <a:r>
              <a:rPr lang="en-US" sz="2400" dirty="0" err="1"/>
              <a:t>utilitas</a:t>
            </a:r>
            <a:r>
              <a:rPr lang="en-US" sz="2400" dirty="0"/>
              <a:t> bantu(bind9utils)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pemeriksaan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debugging,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dokumentasi</a:t>
            </a:r>
            <a:r>
              <a:rPr lang="en-US" sz="2400" dirty="0"/>
              <a:t> (bind9-doc). </a:t>
            </a:r>
            <a:r>
              <a:rPr lang="en-US" sz="2400" dirty="0" err="1"/>
              <a:t>Periksa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</a:t>
            </a:r>
            <a:r>
              <a:rPr lang="en-US" sz="2400" dirty="0" err="1"/>
              <a:t>instalasi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gagal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catat</a:t>
            </a:r>
            <a:r>
              <a:rPr lang="en-US" sz="2400" dirty="0"/>
              <a:t> path </a:t>
            </a:r>
            <a:r>
              <a:rPr lang="en-US" sz="2400" dirty="0" err="1"/>
              <a:t>konfigurasi</a:t>
            </a:r>
            <a:r>
              <a:rPr lang="en-US" sz="2400" dirty="0"/>
              <a:t> yang </a:t>
            </a:r>
            <a:r>
              <a:rPr lang="en-US" sz="2400" dirty="0" err="1"/>
              <a:t>diinstal</a:t>
            </a:r>
            <a:r>
              <a:rPr lang="en-US" sz="2400" dirty="0"/>
              <a:t> di /</a:t>
            </a:r>
            <a:r>
              <a:rPr lang="en-US" sz="2400" dirty="0" err="1"/>
              <a:t>etc</a:t>
            </a:r>
            <a:r>
              <a:rPr lang="en-US" sz="2400" dirty="0"/>
              <a:t>/bind/.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302635" y="4211863"/>
            <a:ext cx="4250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/>
              <a:t>sudo apt install bind9 bind9utils bind9-doc</a:t>
            </a:r>
            <a:endParaRPr lang="en-US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473" y="4713163"/>
            <a:ext cx="68580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3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35" y="92721"/>
            <a:ext cx="10515600" cy="575948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Langkah</a:t>
            </a:r>
            <a:r>
              <a:rPr lang="en-US" b="1" dirty="0" smtClean="0"/>
              <a:t> </a:t>
            </a:r>
            <a:r>
              <a:rPr lang="en-US" b="1" dirty="0" err="1"/>
              <a:t>Konfigurasi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2635" y="662563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3</a:t>
            </a:r>
            <a:r>
              <a:rPr lang="en-US" sz="2400" dirty="0"/>
              <a:t>. </a:t>
            </a:r>
            <a:r>
              <a:rPr lang="en-US" sz="2400" dirty="0" smtClean="0"/>
              <a:t>Install </a:t>
            </a:r>
            <a:r>
              <a:rPr lang="en-US" sz="2400" dirty="0" err="1"/>
              <a:t>dnsutils</a:t>
            </a:r>
            <a:r>
              <a:rPr lang="en-US" sz="2400" dirty="0"/>
              <a:t> yang </a:t>
            </a:r>
            <a:r>
              <a:rPr lang="en-US" sz="2400" dirty="0" err="1"/>
              <a:t>berisi</a:t>
            </a:r>
            <a:r>
              <a:rPr lang="en-US" sz="2400" dirty="0"/>
              <a:t> tool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nslookup</a:t>
            </a:r>
            <a:r>
              <a:rPr lang="en-US" sz="2400" dirty="0"/>
              <a:t>, dig, host yang </a:t>
            </a:r>
            <a:r>
              <a:rPr lang="en-US" sz="2400" dirty="0" err="1"/>
              <a:t>berguna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pengujian</a:t>
            </a:r>
            <a:r>
              <a:rPr lang="en-US" sz="2400" dirty="0"/>
              <a:t> </a:t>
            </a:r>
            <a:r>
              <a:rPr lang="en-US" sz="2400" dirty="0" err="1"/>
              <a:t>resolusi</a:t>
            </a:r>
            <a:r>
              <a:rPr lang="en-US" sz="2400" dirty="0"/>
              <a:t> DNS.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35" y="1697757"/>
            <a:ext cx="2387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dnsutils</a:t>
            </a:r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2635" y="2803788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 smtClean="0"/>
              <a:t>4. </a:t>
            </a:r>
            <a:r>
              <a:rPr lang="en-US" sz="2600" dirty="0" err="1"/>
              <a:t>Cek</a:t>
            </a:r>
            <a:r>
              <a:rPr lang="en-US" sz="2600" dirty="0"/>
              <a:t> </a:t>
            </a:r>
            <a:r>
              <a:rPr lang="en-US" sz="2600" dirty="0" err="1"/>
              <a:t>versi</a:t>
            </a:r>
            <a:r>
              <a:rPr lang="en-US" sz="2600" dirty="0"/>
              <a:t> named </a:t>
            </a:r>
            <a:r>
              <a:rPr lang="en-US" sz="2600" dirty="0" err="1"/>
              <a:t>untuk</a:t>
            </a:r>
            <a:r>
              <a:rPr lang="en-US" sz="2600" dirty="0"/>
              <a:t> </a:t>
            </a:r>
            <a:r>
              <a:rPr lang="en-US" sz="2600" dirty="0" err="1"/>
              <a:t>memastikan</a:t>
            </a:r>
            <a:r>
              <a:rPr lang="en-US" sz="2600" dirty="0"/>
              <a:t> daemon yang </a:t>
            </a:r>
            <a:r>
              <a:rPr lang="en-US" sz="2600" dirty="0" err="1"/>
              <a:t>diinstall</a:t>
            </a:r>
            <a:r>
              <a:rPr lang="en-US" sz="2600" dirty="0"/>
              <a:t> </a:t>
            </a:r>
            <a:r>
              <a:rPr lang="en-US" sz="2600" dirty="0" err="1"/>
              <a:t>sesuai</a:t>
            </a:r>
            <a:r>
              <a:rPr lang="en-US" sz="2600" dirty="0"/>
              <a:t> </a:t>
            </a:r>
            <a:r>
              <a:rPr lang="en-US" sz="2600" dirty="0" err="1"/>
              <a:t>harapan</a:t>
            </a:r>
            <a:r>
              <a:rPr lang="en-US" sz="2600" dirty="0"/>
              <a:t>.</a:t>
            </a:r>
            <a:endParaRPr lang="en-US" sz="2600" dirty="0"/>
          </a:p>
        </p:txBody>
      </p:sp>
      <p:sp>
        <p:nvSpPr>
          <p:cNvPr id="9" name="Rectangle 8"/>
          <p:cNvSpPr/>
          <p:nvPr/>
        </p:nvSpPr>
        <p:spPr>
          <a:xfrm>
            <a:off x="739053" y="3731259"/>
            <a:ext cx="1066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named -v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827" y="1671451"/>
            <a:ext cx="7701082" cy="1095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2459" y="3915925"/>
            <a:ext cx="7678449" cy="542925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02635" y="4458850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 smtClean="0"/>
              <a:t>5. </a:t>
            </a:r>
            <a:r>
              <a:rPr lang="en-US" sz="2400" dirty="0" err="1"/>
              <a:t>cek</a:t>
            </a:r>
            <a:r>
              <a:rPr lang="en-US" sz="2400" dirty="0"/>
              <a:t> </a:t>
            </a:r>
            <a:r>
              <a:rPr lang="en-US" sz="2400" dirty="0" err="1"/>
              <a:t>juga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status </a:t>
            </a:r>
            <a:r>
              <a:rPr lang="en-US" sz="2400" dirty="0" err="1"/>
              <a:t>layanan</a:t>
            </a:r>
            <a:r>
              <a:rPr lang="en-US" sz="2400" dirty="0"/>
              <a:t> bind9, </a:t>
            </a:r>
            <a:r>
              <a:rPr lang="en-US" sz="2400" dirty="0" err="1"/>
              <a:t>untuk</a:t>
            </a:r>
            <a:r>
              <a:rPr lang="en-US" sz="2400" dirty="0"/>
              <a:t> output </a:t>
            </a:r>
            <a:r>
              <a:rPr lang="en-US" sz="2400" dirty="0" err="1"/>
              <a:t>biasanya</a:t>
            </a:r>
            <a:r>
              <a:rPr lang="en-US" sz="2400" dirty="0"/>
              <a:t> </a:t>
            </a:r>
            <a:r>
              <a:rPr lang="en-US" sz="2400" dirty="0" err="1"/>
              <a:t>berjalan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error.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belum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konfigurasi</a:t>
            </a:r>
            <a:r>
              <a:rPr lang="en-US" sz="2400" dirty="0"/>
              <a:t>,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jadi</a:t>
            </a:r>
            <a:r>
              <a:rPr lang="en-US" sz="2400" dirty="0"/>
              <a:t> </a:t>
            </a:r>
            <a:r>
              <a:rPr lang="en-US" sz="2400" dirty="0" err="1"/>
              <a:t>belum</a:t>
            </a:r>
            <a:r>
              <a:rPr lang="en-US" sz="2400" dirty="0"/>
              <a:t> tau </a:t>
            </a:r>
            <a:r>
              <a:rPr lang="en-US" sz="2400" dirty="0" err="1"/>
              <a:t>apa</a:t>
            </a:r>
            <a:r>
              <a:rPr lang="en-US" sz="2400" dirty="0"/>
              <a:t> yang </a:t>
            </a:r>
            <a:r>
              <a:rPr lang="en-US" sz="2400" dirty="0" err="1"/>
              <a:t>berubah</a:t>
            </a:r>
            <a:r>
              <a:rPr lang="en-US" sz="2400" dirty="0"/>
              <a:t>. </a:t>
            </a:r>
            <a:r>
              <a:rPr lang="en-US" sz="2400" dirty="0" err="1"/>
              <a:t>Namun</a:t>
            </a:r>
            <a:r>
              <a:rPr lang="en-US" sz="2400" dirty="0"/>
              <a:t>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error,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baca</a:t>
            </a:r>
            <a:r>
              <a:rPr lang="en-US" sz="2400" dirty="0"/>
              <a:t> </a:t>
            </a:r>
            <a:r>
              <a:rPr lang="en-US" sz="2400" dirty="0" err="1"/>
              <a:t>journalctl</a:t>
            </a:r>
            <a:r>
              <a:rPr lang="en-US" sz="2400" dirty="0"/>
              <a:t> -</a:t>
            </a:r>
            <a:r>
              <a:rPr lang="en-US" sz="2400" dirty="0" err="1"/>
              <a:t>xe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log </a:t>
            </a:r>
            <a:r>
              <a:rPr lang="en-US" sz="2400" dirty="0" err="1"/>
              <a:t>lengkap</a:t>
            </a:r>
            <a:r>
              <a:rPr lang="en-US" sz="2400" dirty="0"/>
              <a:t> status </a:t>
            </a:r>
            <a:r>
              <a:rPr lang="en-US" sz="2400" dirty="0" err="1"/>
              <a:t>layanan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534157" y="5746950"/>
            <a:ext cx="301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242424"/>
                </a:solidFill>
                <a:latin typeface="source-code-pro"/>
              </a:rPr>
              <a:t>sudo</a:t>
            </a:r>
            <a:r>
              <a:rPr lang="en-US" dirty="0">
                <a:solidFill>
                  <a:srgbClr val="242424"/>
                </a:solidFill>
                <a:latin typeface="source-code-pro"/>
              </a:rPr>
              <a:t> </a:t>
            </a:r>
            <a:r>
              <a:rPr lang="en-US" dirty="0" err="1">
                <a:solidFill>
                  <a:srgbClr val="242424"/>
                </a:solidFill>
                <a:latin typeface="source-code-pro"/>
              </a:rPr>
              <a:t>systemctl</a:t>
            </a:r>
            <a:r>
              <a:rPr lang="en-US" dirty="0">
                <a:solidFill>
                  <a:srgbClr val="242424"/>
                </a:solidFill>
                <a:latin typeface="source-code-pro"/>
              </a:rPr>
              <a:t> status bind9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/>
          <a:srcRect t="7455"/>
          <a:stretch/>
        </p:blipFill>
        <p:spPr>
          <a:xfrm>
            <a:off x="4325564" y="5570986"/>
            <a:ext cx="7467600" cy="127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3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35" y="92721"/>
            <a:ext cx="10515600" cy="575948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Langkah</a:t>
            </a:r>
            <a:r>
              <a:rPr lang="en-US" b="1" dirty="0" smtClean="0"/>
              <a:t> </a:t>
            </a:r>
            <a:r>
              <a:rPr lang="en-US" b="1" dirty="0" err="1"/>
              <a:t>Konfigurasi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2635" y="662563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6. </a:t>
            </a:r>
            <a:r>
              <a:rPr lang="en-US" sz="2400" dirty="0" err="1"/>
              <a:t>konfigurasi</a:t>
            </a:r>
            <a:r>
              <a:rPr lang="en-US" sz="2400" dirty="0"/>
              <a:t>,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cek</a:t>
            </a:r>
            <a:r>
              <a:rPr lang="en-US" sz="2400" dirty="0"/>
              <a:t> </a:t>
            </a:r>
            <a:r>
              <a:rPr lang="en-US" sz="2400" dirty="0" err="1"/>
              <a:t>terlebih</a:t>
            </a:r>
            <a:r>
              <a:rPr lang="en-US" sz="2400" dirty="0"/>
              <a:t> </a:t>
            </a:r>
            <a:r>
              <a:rPr lang="en-US" sz="2400" dirty="0" err="1"/>
              <a:t>dahulu</a:t>
            </a:r>
            <a:r>
              <a:rPr lang="en-US" sz="2400" dirty="0"/>
              <a:t> </a:t>
            </a:r>
            <a:r>
              <a:rPr lang="en-US" sz="2400" dirty="0" err="1"/>
              <a:t>isi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/</a:t>
            </a:r>
            <a:r>
              <a:rPr lang="en-US" sz="2400" dirty="0" err="1"/>
              <a:t>etc</a:t>
            </a:r>
            <a:r>
              <a:rPr lang="en-US" sz="2400" dirty="0"/>
              <a:t>/bind. Hal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membantu</a:t>
            </a:r>
            <a:r>
              <a:rPr lang="en-US" sz="2400" dirty="0"/>
              <a:t> </a:t>
            </a:r>
            <a:r>
              <a:rPr lang="en-US" sz="2400" dirty="0" err="1"/>
              <a:t>memastikan</a:t>
            </a:r>
            <a:r>
              <a:rPr lang="en-US" sz="2400" dirty="0"/>
              <a:t> file template zone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dicopy</a:t>
            </a:r>
            <a:r>
              <a:rPr lang="en-US" sz="2400" dirty="0"/>
              <a:t>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302635" y="1697757"/>
            <a:ext cx="1672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ls -la /</a:t>
            </a:r>
            <a:r>
              <a:rPr lang="en-US" dirty="0" err="1"/>
              <a:t>etc</a:t>
            </a:r>
            <a:r>
              <a:rPr lang="en-US" dirty="0"/>
              <a:t>/bind/</a:t>
            </a:r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2635" y="3049813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 smtClean="0"/>
              <a:t>7</a:t>
            </a:r>
            <a:r>
              <a:rPr lang="en-US" sz="2400" dirty="0"/>
              <a:t>. </a:t>
            </a:r>
            <a:r>
              <a:rPr lang="en-US" sz="2400" dirty="0" err="1"/>
              <a:t>Cek</a:t>
            </a:r>
            <a:r>
              <a:rPr lang="en-US" sz="2400" dirty="0"/>
              <a:t> </a:t>
            </a:r>
            <a:r>
              <a:rPr lang="en-US" sz="2400" dirty="0" err="1"/>
              <a:t>juga</a:t>
            </a:r>
            <a:r>
              <a:rPr lang="en-US" sz="2400" dirty="0"/>
              <a:t> </a:t>
            </a:r>
            <a:r>
              <a:rPr lang="en-US" sz="2400" dirty="0" err="1"/>
              <a:t>isi</a:t>
            </a:r>
            <a:r>
              <a:rPr lang="en-US" sz="2400" dirty="0"/>
              <a:t> cache bind-</a:t>
            </a:r>
            <a:r>
              <a:rPr lang="en-US" sz="2400" dirty="0" err="1"/>
              <a:t>nya</a:t>
            </a:r>
            <a:r>
              <a:rPr lang="en-US" sz="2400" dirty="0"/>
              <a:t>, </a:t>
            </a:r>
            <a:r>
              <a:rPr lang="en-US" sz="2400" dirty="0" err="1"/>
              <a:t>direktori</a:t>
            </a:r>
            <a:r>
              <a:rPr lang="en-US" sz="2400" dirty="0"/>
              <a:t> cache yang </a:t>
            </a:r>
            <a:r>
              <a:rPr lang="en-US" sz="2400" dirty="0" err="1"/>
              <a:t>biasanya</a:t>
            </a:r>
            <a:r>
              <a:rPr lang="en-US" sz="2400" dirty="0"/>
              <a:t> </a:t>
            </a:r>
            <a:r>
              <a:rPr lang="en-US" sz="2400" dirty="0" err="1"/>
              <a:t>dipakai</a:t>
            </a:r>
            <a:r>
              <a:rPr lang="en-US" sz="2400" dirty="0"/>
              <a:t> named. </a:t>
            </a:r>
            <a:r>
              <a:rPr lang="en-US" sz="2400" dirty="0" err="1"/>
              <a:t>Pastikan</a:t>
            </a:r>
            <a:r>
              <a:rPr lang="en-US" sz="2400" dirty="0"/>
              <a:t> permission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bermasalah</a:t>
            </a:r>
            <a:r>
              <a:rPr lang="en-US" sz="2400" dirty="0"/>
              <a:t>,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masalah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gagal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menulis</a:t>
            </a:r>
            <a:r>
              <a:rPr lang="en-US" sz="2400" dirty="0"/>
              <a:t> cache.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635" y="4211863"/>
            <a:ext cx="2341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/>
              <a:t>ls -la /var/cache/bind/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4510"/>
          <a:stretch/>
        </p:blipFill>
        <p:spPr>
          <a:xfrm>
            <a:off x="3490912" y="1563151"/>
            <a:ext cx="5210175" cy="14367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8744"/>
          <a:stretch/>
        </p:blipFill>
        <p:spPr>
          <a:xfrm>
            <a:off x="3490912" y="4696691"/>
            <a:ext cx="5210175" cy="99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9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35" y="92721"/>
            <a:ext cx="10515600" cy="575948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Langkah</a:t>
            </a:r>
            <a:r>
              <a:rPr lang="en-US" b="1" dirty="0" smtClean="0"/>
              <a:t> </a:t>
            </a:r>
            <a:r>
              <a:rPr lang="en-US" b="1" dirty="0" err="1"/>
              <a:t>Konfigurasi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2635" y="662563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8</a:t>
            </a:r>
            <a:r>
              <a:rPr lang="en-US" sz="2400" dirty="0"/>
              <a:t>. </a:t>
            </a:r>
            <a:r>
              <a:rPr lang="en-US" sz="2400" dirty="0" err="1"/>
              <a:t>Masuk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konfigurasi</a:t>
            </a:r>
            <a:r>
              <a:rPr lang="en-US" sz="2400" dirty="0"/>
              <a:t> </a:t>
            </a:r>
            <a:r>
              <a:rPr lang="en-US" sz="2400" dirty="0" err="1"/>
              <a:t>named.conf.options</a:t>
            </a:r>
            <a:r>
              <a:rPr lang="en-US" sz="2400" dirty="0"/>
              <a:t>, file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berisi</a:t>
            </a:r>
            <a:r>
              <a:rPr lang="en-US" sz="2400" dirty="0"/>
              <a:t> </a:t>
            </a:r>
            <a:r>
              <a:rPr lang="en-US" sz="2400" dirty="0" err="1"/>
              <a:t>konfigurasi</a:t>
            </a:r>
            <a:r>
              <a:rPr lang="en-US" sz="2400" dirty="0"/>
              <a:t> global. Hal-</a:t>
            </a:r>
            <a:r>
              <a:rPr lang="en-US" sz="2400" dirty="0" err="1"/>
              <a:t>hal</a:t>
            </a:r>
            <a:r>
              <a:rPr lang="en-US" sz="2400" dirty="0"/>
              <a:t> </a:t>
            </a:r>
            <a:r>
              <a:rPr lang="en-US" sz="2400" dirty="0" err="1"/>
              <a:t>penting</a:t>
            </a:r>
            <a:r>
              <a:rPr lang="en-US" sz="2400" dirty="0"/>
              <a:t> yang </a:t>
            </a:r>
            <a:r>
              <a:rPr lang="en-US" sz="2400" dirty="0" err="1"/>
              <a:t>sering</a:t>
            </a:r>
            <a:r>
              <a:rPr lang="en-US" sz="2400" dirty="0"/>
              <a:t> </a:t>
            </a:r>
            <a:r>
              <a:rPr lang="en-US" sz="2400" dirty="0" err="1"/>
              <a:t>diset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file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forwarders, recursion, </a:t>
            </a:r>
            <a:r>
              <a:rPr lang="en-US" sz="2400" dirty="0" err="1"/>
              <a:t>dan</a:t>
            </a:r>
            <a:r>
              <a:rPr lang="en-US" sz="2400" dirty="0"/>
              <a:t> allow-query.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35" y="1697757"/>
            <a:ext cx="40601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/bind/</a:t>
            </a:r>
            <a:r>
              <a:rPr lang="en-US" dirty="0" err="1"/>
              <a:t>named.conf.options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285" y="2067089"/>
            <a:ext cx="91249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0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35" y="92721"/>
            <a:ext cx="10515600" cy="575948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Langkah</a:t>
            </a:r>
            <a:r>
              <a:rPr lang="en-US" b="1" dirty="0" smtClean="0"/>
              <a:t> </a:t>
            </a:r>
            <a:r>
              <a:rPr lang="en-US" b="1" dirty="0" err="1"/>
              <a:t>Konfigurasi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2635" y="662563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9. </a:t>
            </a:r>
            <a:r>
              <a:rPr lang="en-US" sz="2400" dirty="0" err="1"/>
              <a:t>Selanjutnya</a:t>
            </a:r>
            <a:r>
              <a:rPr lang="en-US" sz="2400" dirty="0"/>
              <a:t> </a:t>
            </a:r>
            <a:r>
              <a:rPr lang="en-US" sz="2400" dirty="0" err="1"/>
              <a:t>konfigurasi</a:t>
            </a:r>
            <a:r>
              <a:rPr lang="en-US" sz="2400" dirty="0"/>
              <a:t> file </a:t>
            </a:r>
            <a:r>
              <a:rPr lang="en-US" sz="2400" dirty="0" err="1"/>
              <a:t>named.conf.local</a:t>
            </a:r>
            <a:r>
              <a:rPr lang="en-US" sz="2400" dirty="0"/>
              <a:t>, </a:t>
            </a:r>
            <a:r>
              <a:rPr lang="en-US" sz="2400" dirty="0" err="1"/>
              <a:t>disinilah</a:t>
            </a:r>
            <a:r>
              <a:rPr lang="en-US" sz="2400" dirty="0"/>
              <a:t>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mendefinisikan</a:t>
            </a:r>
            <a:r>
              <a:rPr lang="en-US" sz="2400" dirty="0"/>
              <a:t> zone forward </a:t>
            </a:r>
            <a:r>
              <a:rPr lang="en-US" sz="2400" dirty="0" err="1"/>
              <a:t>dan</a:t>
            </a:r>
            <a:r>
              <a:rPr lang="en-US" sz="2400" dirty="0"/>
              <a:t> reverse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lab.lan</a:t>
            </a:r>
            <a:r>
              <a:rPr lang="en-US" sz="2400" dirty="0"/>
              <a:t>(domain). </a:t>
            </a:r>
            <a:r>
              <a:rPr lang="en-US" sz="2400" dirty="0" err="1"/>
              <a:t>Setelah</a:t>
            </a:r>
            <a:r>
              <a:rPr lang="en-US" sz="2400" dirty="0"/>
              <a:t> </a:t>
            </a:r>
            <a:r>
              <a:rPr lang="en-US" sz="2400" dirty="0" err="1"/>
              <a:t>selesai</a:t>
            </a:r>
            <a:r>
              <a:rPr lang="en-US" sz="2400" dirty="0"/>
              <a:t> </a:t>
            </a:r>
            <a:r>
              <a:rPr lang="en-US" sz="2400" dirty="0" err="1"/>
              <a:t>menambahkan</a:t>
            </a:r>
            <a:r>
              <a:rPr lang="en-US" sz="2400" dirty="0"/>
              <a:t> zone, </a:t>
            </a:r>
            <a:r>
              <a:rPr lang="en-US" sz="2400" dirty="0" err="1"/>
              <a:t>simpan</a:t>
            </a:r>
            <a:r>
              <a:rPr lang="en-US" sz="2400" dirty="0"/>
              <a:t> file.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kesalahan</a:t>
            </a:r>
            <a:r>
              <a:rPr lang="en-US" sz="2400" dirty="0"/>
              <a:t> </a:t>
            </a:r>
            <a:r>
              <a:rPr lang="en-US" sz="2400" dirty="0" err="1"/>
              <a:t>sintaks</a:t>
            </a:r>
            <a:r>
              <a:rPr lang="en-US" sz="2400" dirty="0"/>
              <a:t>, named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gagal</a:t>
            </a:r>
            <a:r>
              <a:rPr lang="en-US" sz="2400" dirty="0"/>
              <a:t> me-restart.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302635" y="1697757"/>
            <a:ext cx="3788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/bind/</a:t>
            </a:r>
            <a:r>
              <a:rPr lang="en-US" dirty="0" err="1"/>
              <a:t>named.conf.local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2344542"/>
            <a:ext cx="910590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5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35" y="92721"/>
            <a:ext cx="10515600" cy="575948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Langkah</a:t>
            </a:r>
            <a:r>
              <a:rPr lang="en-US" b="1" dirty="0" smtClean="0"/>
              <a:t> </a:t>
            </a:r>
            <a:r>
              <a:rPr lang="en-US" b="1" dirty="0" err="1"/>
              <a:t>Konfigurasi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2635" y="662563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10. </a:t>
            </a:r>
            <a:r>
              <a:rPr lang="en-US" sz="2400" dirty="0" err="1"/>
              <a:t>Sebelum</a:t>
            </a:r>
            <a:r>
              <a:rPr lang="en-US" sz="2400" dirty="0"/>
              <a:t> </a:t>
            </a:r>
            <a:r>
              <a:rPr lang="en-US" sz="2400" dirty="0" err="1"/>
              <a:t>lanjut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konfigurasi</a:t>
            </a:r>
            <a:r>
              <a:rPr lang="en-US" sz="2400" dirty="0"/>
              <a:t> </a:t>
            </a:r>
            <a:r>
              <a:rPr lang="en-US" sz="2400" dirty="0" err="1"/>
              <a:t>berikutnya</a:t>
            </a:r>
            <a:r>
              <a:rPr lang="en-US" sz="2400" dirty="0"/>
              <a:t>, </a:t>
            </a:r>
            <a:r>
              <a:rPr lang="en-US" sz="2400" dirty="0" err="1"/>
              <a:t>kita</a:t>
            </a:r>
            <a:r>
              <a:rPr lang="en-US" sz="2400" dirty="0"/>
              <a:t> copy template </a:t>
            </a:r>
            <a:r>
              <a:rPr lang="en-US" sz="2400" dirty="0" err="1"/>
              <a:t>db.local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db.lab.lan</a:t>
            </a:r>
            <a:r>
              <a:rPr lang="en-US" sz="2400" dirty="0"/>
              <a:t> (domain). </a:t>
            </a:r>
            <a:r>
              <a:rPr lang="en-US" sz="2400" dirty="0" err="1"/>
              <a:t>Membuat</a:t>
            </a:r>
            <a:r>
              <a:rPr lang="en-US" sz="2400" dirty="0"/>
              <a:t> </a:t>
            </a:r>
            <a:r>
              <a:rPr lang="en-US" sz="2400" dirty="0" err="1"/>
              <a:t>salinan</a:t>
            </a:r>
            <a:r>
              <a:rPr lang="en-US" sz="2400" dirty="0"/>
              <a:t> file zone forward default </a:t>
            </a:r>
            <a:r>
              <a:rPr lang="en-US" sz="2400" dirty="0" err="1"/>
              <a:t>sebagai</a:t>
            </a:r>
            <a:r>
              <a:rPr lang="en-US" sz="2400" dirty="0"/>
              <a:t> template, </a:t>
            </a:r>
            <a:r>
              <a:rPr lang="en-US" sz="2400" dirty="0" err="1"/>
              <a:t>selanjutnya</a:t>
            </a:r>
            <a:r>
              <a:rPr lang="en-US" sz="2400" dirty="0"/>
              <a:t> edit </a:t>
            </a:r>
            <a:r>
              <a:rPr lang="en-US" sz="2400" dirty="0" err="1"/>
              <a:t>isi</a:t>
            </a:r>
            <a:r>
              <a:rPr lang="en-US" sz="2400" dirty="0"/>
              <a:t> file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menyesuaikan</a:t>
            </a:r>
            <a:r>
              <a:rPr lang="en-US" sz="2400" dirty="0"/>
              <a:t> SOA, NS, A record.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302635" y="1697757"/>
            <a:ext cx="47884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cp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/bind/</a:t>
            </a:r>
            <a:r>
              <a:rPr lang="en-US" dirty="0" err="1"/>
              <a:t>db.local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/bind/</a:t>
            </a:r>
            <a:r>
              <a:rPr lang="en-US" dirty="0" err="1"/>
              <a:t>db.lab.lan</a:t>
            </a:r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2635" y="2291018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 smtClean="0"/>
              <a:t>11.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dicopy</a:t>
            </a:r>
            <a:r>
              <a:rPr lang="en-US" sz="2400" dirty="0"/>
              <a:t>, </a:t>
            </a:r>
            <a:r>
              <a:rPr lang="en-US" sz="2400" dirty="0" err="1"/>
              <a:t>bisa</a:t>
            </a:r>
            <a:r>
              <a:rPr lang="en-US" sz="2400" dirty="0"/>
              <a:t> edit file zone forward </a:t>
            </a:r>
            <a:r>
              <a:rPr lang="en-US" sz="2400" dirty="0" err="1"/>
              <a:t>db.lab.lan</a:t>
            </a:r>
            <a:r>
              <a:rPr lang="en-US" sz="2400" dirty="0"/>
              <a:t>. Isi file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konfigurasi</a:t>
            </a:r>
            <a:r>
              <a:rPr lang="en-US" sz="2400" dirty="0"/>
              <a:t> zone </a:t>
            </a:r>
            <a:r>
              <a:rPr lang="en-US" sz="2400" dirty="0" err="1"/>
              <a:t>lab.lan</a:t>
            </a:r>
            <a:r>
              <a:rPr lang="en-US" sz="2400" dirty="0"/>
              <a:t>, </a:t>
            </a:r>
            <a:r>
              <a:rPr lang="en-US" sz="2400" dirty="0" err="1"/>
              <a:t>pastikan</a:t>
            </a:r>
            <a:r>
              <a:rPr lang="en-US" sz="2400" dirty="0"/>
              <a:t> serial </a:t>
            </a:r>
            <a:r>
              <a:rPr lang="en-US" sz="2400" dirty="0" err="1"/>
              <a:t>dinaikkan</a:t>
            </a:r>
            <a:r>
              <a:rPr lang="en-US" sz="2400" dirty="0"/>
              <a:t> </a:t>
            </a:r>
            <a:r>
              <a:rPr lang="en-US" sz="2400" dirty="0" err="1"/>
              <a:t>tiap</a:t>
            </a:r>
            <a:r>
              <a:rPr lang="en-US" sz="2400" dirty="0"/>
              <a:t> kali </a:t>
            </a:r>
            <a:r>
              <a:rPr lang="en-US" sz="2400" dirty="0" err="1"/>
              <a:t>melakukan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.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489671" y="3257752"/>
            <a:ext cx="3121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/bind/</a:t>
            </a:r>
            <a:r>
              <a:rPr lang="en-US" dirty="0" err="1"/>
              <a:t>db.lab.lan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183" y="3627084"/>
            <a:ext cx="91059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89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356" y="4084019"/>
            <a:ext cx="9115425" cy="4257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35" y="92721"/>
            <a:ext cx="10515600" cy="575948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Langkah</a:t>
            </a:r>
            <a:r>
              <a:rPr lang="en-US" b="1" dirty="0" smtClean="0"/>
              <a:t> </a:t>
            </a:r>
            <a:r>
              <a:rPr lang="en-US" b="1" dirty="0" err="1"/>
              <a:t>Konfigurasi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2634" y="662563"/>
            <a:ext cx="11148147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12. </a:t>
            </a:r>
            <a:r>
              <a:rPr lang="en-US" sz="2400" dirty="0" err="1" smtClean="0"/>
              <a:t>Berikutnya</a:t>
            </a:r>
            <a:r>
              <a:rPr lang="en-US" sz="2400" dirty="0" smtClean="0"/>
              <a:t> </a:t>
            </a:r>
            <a:r>
              <a:rPr lang="en-US" sz="2400" dirty="0" err="1"/>
              <a:t>kita</a:t>
            </a:r>
            <a:r>
              <a:rPr lang="en-US" sz="2400" dirty="0"/>
              <a:t> copy template reverse db.127 </a:t>
            </a:r>
            <a:r>
              <a:rPr lang="en-US" sz="2400" dirty="0" err="1"/>
              <a:t>ke</a:t>
            </a:r>
            <a:r>
              <a:rPr lang="en-US" sz="2400" dirty="0"/>
              <a:t> db.192.168.100, </a:t>
            </a:r>
            <a:r>
              <a:rPr lang="en-US" sz="2400" dirty="0" err="1"/>
              <a:t>hal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membuat</a:t>
            </a:r>
            <a:r>
              <a:rPr lang="en-US" sz="2400" dirty="0"/>
              <a:t> file zone reverse </a:t>
            </a:r>
            <a:r>
              <a:rPr lang="en-US" sz="2400" dirty="0" err="1"/>
              <a:t>dari</a:t>
            </a:r>
            <a:r>
              <a:rPr lang="en-US" sz="2400" dirty="0"/>
              <a:t> template loopback.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35" y="1697757"/>
            <a:ext cx="50798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cp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/bind/db.127 /</a:t>
            </a:r>
            <a:r>
              <a:rPr lang="en-US" dirty="0" err="1"/>
              <a:t>etc</a:t>
            </a:r>
            <a:r>
              <a:rPr lang="en-US" dirty="0"/>
              <a:t>/bind/db.192.168.100</a:t>
            </a:r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2634" y="2067089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 smtClean="0"/>
              <a:t>13</a:t>
            </a:r>
            <a:r>
              <a:rPr lang="en-US" sz="2400" dirty="0"/>
              <a:t>. </a:t>
            </a:r>
            <a:r>
              <a:rPr lang="en-US" sz="2400" dirty="0" err="1"/>
              <a:t>Lanjut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edit file reverse db.192.168.100, </a:t>
            </a:r>
            <a:r>
              <a:rPr lang="en-US" sz="2400" dirty="0" err="1"/>
              <a:t>isi</a:t>
            </a:r>
            <a:r>
              <a:rPr lang="en-US" sz="2400" dirty="0"/>
              <a:t> file reverse </a:t>
            </a:r>
            <a:r>
              <a:rPr lang="en-US" sz="2400" dirty="0" err="1"/>
              <a:t>dengan</a:t>
            </a:r>
            <a:r>
              <a:rPr lang="en-US" sz="2400" dirty="0"/>
              <a:t> PTR record </a:t>
            </a:r>
            <a:r>
              <a:rPr lang="en-US" sz="2400" dirty="0" err="1"/>
              <a:t>untuk</a:t>
            </a:r>
            <a:r>
              <a:rPr lang="en-US" sz="2400" dirty="0"/>
              <a:t> IP yang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gunakan</a:t>
            </a:r>
            <a:r>
              <a:rPr lang="en-US" sz="2400" dirty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302633" y="3179226"/>
            <a:ext cx="3661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/bind/db.192.168.100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302633" y="3853187"/>
            <a:ext cx="78826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14. </a:t>
            </a:r>
            <a:r>
              <a:rPr lang="en-US" sz="2400" dirty="0" err="1" smtClean="0"/>
              <a:t>pastikan</a:t>
            </a:r>
            <a:r>
              <a:rPr lang="en-US" sz="2400" dirty="0" smtClean="0"/>
              <a:t> </a:t>
            </a:r>
            <a:r>
              <a:rPr lang="en-US" sz="2400" dirty="0" err="1"/>
              <a:t>nomor</a:t>
            </a:r>
            <a:r>
              <a:rPr lang="en-US" sz="2400" dirty="0"/>
              <a:t> di </a:t>
            </a:r>
            <a:r>
              <a:rPr lang="en-US" sz="2400" dirty="0" err="1"/>
              <a:t>kolom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oktet</a:t>
            </a:r>
            <a:r>
              <a:rPr lang="en-US" sz="2400" dirty="0"/>
              <a:t> </a:t>
            </a:r>
            <a:r>
              <a:rPr lang="en-US" sz="2400" dirty="0" err="1"/>
              <a:t>terakhir</a:t>
            </a:r>
            <a:r>
              <a:rPr lang="en-US" sz="2400" dirty="0"/>
              <a:t> IP.</a:t>
            </a:r>
          </a:p>
        </p:txBody>
      </p:sp>
    </p:spTree>
    <p:extLst>
      <p:ext uri="{BB962C8B-B14F-4D97-AF65-F5344CB8AC3E}">
        <p14:creationId xmlns:p14="http://schemas.microsoft.com/office/powerpoint/2010/main" val="93120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35" y="92721"/>
            <a:ext cx="10515600" cy="575948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Langkah</a:t>
            </a:r>
            <a:r>
              <a:rPr lang="en-US" b="1" dirty="0" smtClean="0"/>
              <a:t> </a:t>
            </a:r>
            <a:r>
              <a:rPr lang="en-US" b="1" dirty="0" err="1"/>
              <a:t>Konfigurasi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2635" y="662563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15</a:t>
            </a:r>
            <a:r>
              <a:rPr lang="en-US" sz="2400" dirty="0"/>
              <a:t>. </a:t>
            </a:r>
            <a:r>
              <a:rPr lang="en-US" sz="2400" dirty="0" err="1"/>
              <a:t>Validasi</a:t>
            </a:r>
            <a:r>
              <a:rPr lang="en-US" sz="2400" dirty="0"/>
              <a:t> zone forward </a:t>
            </a:r>
            <a:r>
              <a:rPr lang="en-US" sz="2400" dirty="0" err="1"/>
              <a:t>dan</a:t>
            </a:r>
            <a:r>
              <a:rPr lang="en-US" sz="2400" dirty="0"/>
              <a:t> zone reverse </a:t>
            </a:r>
            <a:r>
              <a:rPr lang="en-US" sz="2400" dirty="0" err="1"/>
              <a:t>dengan</a:t>
            </a:r>
            <a:r>
              <a:rPr lang="en-US" sz="2400" dirty="0"/>
              <a:t> named-</a:t>
            </a:r>
            <a:r>
              <a:rPr lang="en-US" sz="2400" dirty="0" err="1"/>
              <a:t>checkzone</a:t>
            </a:r>
            <a:r>
              <a:rPr lang="en-US" sz="2400" dirty="0"/>
              <a:t>. Command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memeriksa</a:t>
            </a:r>
            <a:r>
              <a:rPr lang="en-US" sz="2400" dirty="0"/>
              <a:t> </a:t>
            </a:r>
            <a:r>
              <a:rPr lang="en-US" sz="2400" dirty="0" err="1"/>
              <a:t>sitkas</a:t>
            </a:r>
            <a:r>
              <a:rPr lang="en-US" sz="2400" dirty="0"/>
              <a:t> file zone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menampilkan</a:t>
            </a:r>
            <a:r>
              <a:rPr lang="en-US" sz="2400" dirty="0"/>
              <a:t> </a:t>
            </a:r>
            <a:r>
              <a:rPr lang="en-US" sz="2400" dirty="0" err="1"/>
              <a:t>pesan</a:t>
            </a:r>
            <a:r>
              <a:rPr lang="en-US" sz="2400" dirty="0"/>
              <a:t> </a:t>
            </a:r>
            <a:r>
              <a:rPr lang="en-US" sz="2400" dirty="0" err="1"/>
              <a:t>sukses</a:t>
            </a:r>
            <a:r>
              <a:rPr lang="en-US" sz="2400" dirty="0"/>
              <a:t> </a:t>
            </a:r>
            <a:r>
              <a:rPr lang="en-US" sz="2400" dirty="0" err="1"/>
              <a:t>degan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serial.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error, </a:t>
            </a:r>
            <a:r>
              <a:rPr lang="en-US" sz="2400" dirty="0" err="1"/>
              <a:t>perbaiki</a:t>
            </a:r>
            <a:r>
              <a:rPr lang="en-US" sz="2400" dirty="0"/>
              <a:t> </a:t>
            </a:r>
            <a:r>
              <a:rPr lang="en-US" sz="2400" dirty="0" err="1"/>
              <a:t>baris</a:t>
            </a:r>
            <a:r>
              <a:rPr lang="en-US" sz="2400" dirty="0"/>
              <a:t> </a:t>
            </a:r>
            <a:r>
              <a:rPr lang="en-US" sz="2400" dirty="0" err="1"/>
              <a:t>bermasalah</a:t>
            </a:r>
            <a:r>
              <a:rPr lang="en-US" sz="24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35" y="1697757"/>
            <a:ext cx="73087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named-</a:t>
            </a:r>
            <a:r>
              <a:rPr lang="en-US" dirty="0" err="1"/>
              <a:t>checkzone</a:t>
            </a:r>
            <a:r>
              <a:rPr lang="en-US" dirty="0"/>
              <a:t> </a:t>
            </a:r>
            <a:r>
              <a:rPr lang="en-US" dirty="0" err="1"/>
              <a:t>lab.lan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/bind/</a:t>
            </a:r>
            <a:r>
              <a:rPr lang="en-US" dirty="0" err="1"/>
              <a:t>db.lab.lan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sudo</a:t>
            </a:r>
            <a:r>
              <a:rPr lang="en-US" dirty="0"/>
              <a:t> named-</a:t>
            </a:r>
            <a:r>
              <a:rPr lang="en-US" dirty="0" err="1"/>
              <a:t>checkzone</a:t>
            </a:r>
            <a:r>
              <a:rPr lang="en-US" dirty="0"/>
              <a:t> 100.168.192.in-addr.arpa /</a:t>
            </a:r>
            <a:r>
              <a:rPr lang="en-US" dirty="0" err="1"/>
              <a:t>etc</a:t>
            </a:r>
            <a:r>
              <a:rPr lang="en-US" dirty="0"/>
              <a:t>/bind/db.192.168.100</a:t>
            </a:r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2635" y="2530338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 smtClean="0"/>
              <a:t>16</a:t>
            </a:r>
            <a:r>
              <a:rPr lang="en-US" sz="2400" dirty="0"/>
              <a:t>.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setelah</a:t>
            </a:r>
            <a:r>
              <a:rPr lang="en-US" sz="2400" dirty="0"/>
              <a:t> </a:t>
            </a:r>
            <a:r>
              <a:rPr lang="en-US" sz="2400" dirty="0" err="1"/>
              <a:t>selesai</a:t>
            </a:r>
            <a:r>
              <a:rPr lang="en-US" sz="2400" dirty="0"/>
              <a:t> </a:t>
            </a:r>
            <a:r>
              <a:rPr lang="en-US" sz="2400" dirty="0" err="1"/>
              <a:t>divalidasi</a:t>
            </a:r>
            <a:r>
              <a:rPr lang="en-US" sz="2400" dirty="0"/>
              <a:t>,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restart </a:t>
            </a:r>
            <a:r>
              <a:rPr lang="en-US" sz="2400" dirty="0" err="1"/>
              <a:t>layanan</a:t>
            </a:r>
            <a:r>
              <a:rPr lang="en-US" sz="2400" dirty="0"/>
              <a:t> bind9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menerapkan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. </a:t>
            </a:r>
            <a:r>
              <a:rPr lang="en-US" sz="2400" dirty="0" err="1"/>
              <a:t>Jika</a:t>
            </a:r>
            <a:r>
              <a:rPr lang="en-US" sz="2400" dirty="0"/>
              <a:t> restart </a:t>
            </a:r>
            <a:r>
              <a:rPr lang="en-US" sz="2400" dirty="0" err="1"/>
              <a:t>gagal</a:t>
            </a:r>
            <a:r>
              <a:rPr lang="en-US" sz="2400" dirty="0"/>
              <a:t>, </a:t>
            </a:r>
            <a:r>
              <a:rPr lang="en-US" sz="2400" dirty="0" err="1"/>
              <a:t>gunakan</a:t>
            </a:r>
            <a:r>
              <a:rPr lang="en-US" sz="2400" dirty="0"/>
              <a:t> </a:t>
            </a:r>
            <a:r>
              <a:rPr lang="en-US" sz="2400" dirty="0" err="1"/>
              <a:t>journalctl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melihat</a:t>
            </a:r>
            <a:r>
              <a:rPr lang="en-US" sz="2400" dirty="0"/>
              <a:t> error </a:t>
            </a:r>
            <a:r>
              <a:rPr lang="en-US" sz="2400" dirty="0" err="1"/>
              <a:t>baru</a:t>
            </a:r>
            <a:r>
              <a:rPr lang="en-US" sz="2400" dirty="0"/>
              <a:t>. </a:t>
            </a:r>
            <a:r>
              <a:rPr lang="en-US" sz="2400" dirty="0" err="1"/>
              <a:t>Kemudian</a:t>
            </a:r>
            <a:r>
              <a:rPr lang="en-US" sz="2400" dirty="0"/>
              <a:t> </a:t>
            </a:r>
            <a:r>
              <a:rPr lang="en-US" sz="2400" dirty="0" err="1"/>
              <a:t>cek</a:t>
            </a:r>
            <a:r>
              <a:rPr lang="en-US" sz="2400" dirty="0"/>
              <a:t> status </a:t>
            </a:r>
            <a:r>
              <a:rPr lang="en-US" sz="2400" dirty="0" err="1"/>
              <a:t>layanannya</a:t>
            </a:r>
            <a:r>
              <a:rPr lang="en-US" sz="24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635" y="4211863"/>
            <a:ext cx="28824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/>
              <a:t>sudo systemctl restart bind9</a:t>
            </a:r>
          </a:p>
          <a:p>
            <a:r>
              <a:rPr lang="de-DE" b="1" dirty="0"/>
              <a:t>sudo systemctl status bind9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7048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2314916"/>
            <a:ext cx="9134475" cy="4267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35" y="92721"/>
            <a:ext cx="10515600" cy="575948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Langkah</a:t>
            </a:r>
            <a:r>
              <a:rPr lang="en-US" b="1" dirty="0" smtClean="0"/>
              <a:t> </a:t>
            </a:r>
            <a:r>
              <a:rPr lang="en-US" b="1" dirty="0" err="1"/>
              <a:t>Konfigurasi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2635" y="662563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 smtClean="0"/>
              <a:t>17</a:t>
            </a:r>
            <a:r>
              <a:rPr lang="en-US" sz="2400" dirty="0"/>
              <a:t>. </a:t>
            </a:r>
            <a:r>
              <a:rPr lang="en-US" sz="2400" dirty="0" err="1"/>
              <a:t>Karena</a:t>
            </a:r>
            <a:r>
              <a:rPr lang="en-US" sz="2400" dirty="0"/>
              <a:t> di VM Ubuntu Server </a:t>
            </a:r>
            <a:r>
              <a:rPr lang="en-US" sz="2600" dirty="0" err="1"/>
              <a:t>ini</a:t>
            </a:r>
            <a:r>
              <a:rPr lang="en-US" sz="2600" dirty="0"/>
              <a:t> </a:t>
            </a:r>
            <a:r>
              <a:rPr lang="en-US" sz="2600" dirty="0" err="1"/>
              <a:t>dikonfigurasi</a:t>
            </a:r>
            <a:r>
              <a:rPr lang="en-US" sz="2600" dirty="0"/>
              <a:t> DHCP server, </a:t>
            </a:r>
            <a:r>
              <a:rPr lang="en-US" sz="2600" dirty="0" err="1"/>
              <a:t>kita</a:t>
            </a:r>
            <a:r>
              <a:rPr lang="en-US" sz="2600" dirty="0"/>
              <a:t> </a:t>
            </a:r>
            <a:r>
              <a:rPr lang="en-US" sz="2600" dirty="0" err="1"/>
              <a:t>perlu</a:t>
            </a:r>
            <a:r>
              <a:rPr lang="en-US" sz="2600" dirty="0"/>
              <a:t> </a:t>
            </a:r>
            <a:r>
              <a:rPr lang="en-US" sz="2600" dirty="0" err="1"/>
              <a:t>sedikit</a:t>
            </a:r>
            <a:r>
              <a:rPr lang="en-US" sz="2600" dirty="0"/>
              <a:t> </a:t>
            </a:r>
            <a:r>
              <a:rPr lang="en-US" sz="2600" dirty="0" err="1"/>
              <a:t>penyesuaian</a:t>
            </a:r>
            <a:r>
              <a:rPr lang="en-US" sz="2600" dirty="0"/>
              <a:t> agar client </a:t>
            </a:r>
            <a:r>
              <a:rPr lang="en-US" sz="2600" dirty="0" err="1"/>
              <a:t>bisa</a:t>
            </a:r>
            <a:r>
              <a:rPr lang="en-US" sz="2600" dirty="0"/>
              <a:t> </a:t>
            </a:r>
            <a:r>
              <a:rPr lang="en-US" sz="2600" dirty="0" err="1"/>
              <a:t>mendapat</a:t>
            </a:r>
            <a:r>
              <a:rPr lang="en-US" sz="2600" dirty="0"/>
              <a:t> DNS server internal yang </a:t>
            </a:r>
            <a:r>
              <a:rPr lang="en-US" sz="2600" dirty="0" err="1"/>
              <a:t>sesuai</a:t>
            </a:r>
            <a:r>
              <a:rPr lang="en-US" sz="2600" dirty="0"/>
              <a:t>. </a:t>
            </a:r>
            <a:r>
              <a:rPr lang="en-US" sz="2600" dirty="0" err="1"/>
              <a:t>Ubah</a:t>
            </a:r>
            <a:r>
              <a:rPr lang="en-US" sz="2600" dirty="0"/>
              <a:t> di /</a:t>
            </a:r>
            <a:r>
              <a:rPr lang="en-US" sz="2600" dirty="0" err="1"/>
              <a:t>etc</a:t>
            </a:r>
            <a:r>
              <a:rPr lang="en-US" sz="2600" dirty="0"/>
              <a:t>/</a:t>
            </a:r>
            <a:r>
              <a:rPr lang="en-US" sz="2600" dirty="0" err="1"/>
              <a:t>dhcp</a:t>
            </a:r>
            <a:r>
              <a:rPr lang="en-US" sz="2600" dirty="0"/>
              <a:t>/</a:t>
            </a:r>
            <a:r>
              <a:rPr lang="en-US" sz="2600" dirty="0" err="1"/>
              <a:t>dhcpd.conf</a:t>
            </a:r>
            <a:r>
              <a:rPr lang="en-US" sz="2600" dirty="0"/>
              <a:t> </a:t>
            </a:r>
            <a:r>
              <a:rPr lang="en-US" sz="2600" dirty="0" err="1"/>
              <a:t>dibagian</a:t>
            </a:r>
            <a:r>
              <a:rPr lang="en-US" sz="2600" dirty="0"/>
              <a:t> option domain-name </a:t>
            </a:r>
            <a:r>
              <a:rPr lang="en-US" sz="2600" dirty="0" err="1"/>
              <a:t>dan</a:t>
            </a:r>
            <a:r>
              <a:rPr lang="en-US" sz="2600" dirty="0"/>
              <a:t> option domain-name-servers. </a:t>
            </a:r>
            <a:r>
              <a:rPr lang="en-US" sz="2600" dirty="0" err="1"/>
              <a:t>Setelah</a:t>
            </a:r>
            <a:r>
              <a:rPr lang="en-US" sz="2600" dirty="0"/>
              <a:t> </a:t>
            </a:r>
            <a:r>
              <a:rPr lang="en-US" sz="2600" dirty="0" err="1"/>
              <a:t>diubah</a:t>
            </a:r>
            <a:r>
              <a:rPr lang="en-US" sz="2600" dirty="0"/>
              <a:t>, restart </a:t>
            </a:r>
            <a:r>
              <a:rPr lang="en-US" sz="2600" dirty="0" err="1"/>
              <a:t>dhcp</a:t>
            </a:r>
            <a:r>
              <a:rPr lang="en-US" sz="2600" dirty="0"/>
              <a:t> </a:t>
            </a:r>
            <a:r>
              <a:rPr lang="en-US" sz="2600" dirty="0" err="1"/>
              <a:t>servernya</a:t>
            </a:r>
            <a:r>
              <a:rPr lang="en-US" sz="2600" dirty="0"/>
              <a:t> </a:t>
            </a:r>
            <a:r>
              <a:rPr lang="en-US" sz="2600" dirty="0" err="1"/>
              <a:t>juga</a:t>
            </a:r>
            <a:r>
              <a:rPr lang="en-US" sz="2600" dirty="0"/>
              <a:t> </a:t>
            </a:r>
            <a:r>
              <a:rPr lang="en-US" sz="2600" dirty="0" err="1"/>
              <a:t>untuk</a:t>
            </a:r>
            <a:r>
              <a:rPr lang="en-US" sz="2600" dirty="0"/>
              <a:t> </a:t>
            </a:r>
            <a:r>
              <a:rPr lang="en-US" sz="2600" dirty="0" err="1"/>
              <a:t>menerapkan</a:t>
            </a:r>
            <a:r>
              <a:rPr lang="en-US" sz="2600" dirty="0"/>
              <a:t> </a:t>
            </a:r>
            <a:r>
              <a:rPr lang="en-US" sz="2600" dirty="0" err="1"/>
              <a:t>perubahan</a:t>
            </a:r>
            <a:r>
              <a:rPr lang="en-US" sz="26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35" y="1697757"/>
            <a:ext cx="3287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dhcp</a:t>
            </a:r>
            <a:r>
              <a:rPr lang="en-US" dirty="0"/>
              <a:t>/</a:t>
            </a:r>
            <a:r>
              <a:rPr lang="en-US" dirty="0" err="1"/>
              <a:t>dhcpd.conf</a:t>
            </a:r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2635" y="2344542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 smtClean="0">
                <a:solidFill>
                  <a:srgbClr val="FF0000"/>
                </a:solidFill>
              </a:rPr>
              <a:t>18</a:t>
            </a:r>
            <a:r>
              <a:rPr lang="en-US" sz="2400" dirty="0">
                <a:solidFill>
                  <a:srgbClr val="FF0000"/>
                </a:solidFill>
              </a:rPr>
              <a:t>. Isi file </a:t>
            </a:r>
            <a:r>
              <a:rPr lang="en-US" sz="2400" dirty="0" err="1">
                <a:solidFill>
                  <a:srgbClr val="FF0000"/>
                </a:solidFill>
              </a:rPr>
              <a:t>bisa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seperti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ini</a:t>
            </a:r>
            <a:r>
              <a:rPr lang="en-US" sz="2400" dirty="0">
                <a:solidFill>
                  <a:srgbClr val="FF0000"/>
                </a:solidFill>
              </a:rPr>
              <a:t>, </a:t>
            </a:r>
            <a:r>
              <a:rPr lang="en-US" sz="2400" dirty="0" err="1">
                <a:solidFill>
                  <a:srgbClr val="FF0000"/>
                </a:solidFill>
              </a:rPr>
              <a:t>untuk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perubahan</a:t>
            </a:r>
            <a:r>
              <a:rPr lang="en-US" sz="2400" dirty="0">
                <a:solidFill>
                  <a:srgbClr val="FF0000"/>
                </a:solidFill>
              </a:rPr>
              <a:t> di </a:t>
            </a:r>
            <a:r>
              <a:rPr lang="en-US" sz="2400" dirty="0" err="1">
                <a:solidFill>
                  <a:srgbClr val="FF0000"/>
                </a:solidFill>
              </a:rPr>
              <a:t>baris</a:t>
            </a:r>
            <a:r>
              <a:rPr lang="en-US" sz="2400" dirty="0">
                <a:solidFill>
                  <a:srgbClr val="FF0000"/>
                </a:solidFill>
              </a:rPr>
              <a:t> option domain-name </a:t>
            </a:r>
            <a:r>
              <a:rPr lang="en-US" sz="2400" dirty="0" err="1">
                <a:solidFill>
                  <a:srgbClr val="FF0000"/>
                </a:solidFill>
              </a:rPr>
              <a:t>dan</a:t>
            </a:r>
            <a:r>
              <a:rPr lang="en-US" sz="2400" dirty="0">
                <a:solidFill>
                  <a:srgbClr val="FF0000"/>
                </a:solidFill>
              </a:rPr>
              <a:t> option domain-name-servers.</a:t>
            </a:r>
          </a:p>
        </p:txBody>
      </p:sp>
    </p:spTree>
    <p:extLst>
      <p:ext uri="{BB962C8B-B14F-4D97-AF65-F5344CB8AC3E}">
        <p14:creationId xmlns:p14="http://schemas.microsoft.com/office/powerpoint/2010/main" val="221351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35" y="92721"/>
            <a:ext cx="10515600" cy="575948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Langkah</a:t>
            </a:r>
            <a:r>
              <a:rPr lang="en-US" b="1" dirty="0" smtClean="0"/>
              <a:t> </a:t>
            </a:r>
            <a:r>
              <a:rPr lang="en-US" b="1" dirty="0" err="1"/>
              <a:t>Konfigurasi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2635" y="662563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 smtClean="0"/>
              <a:t>19</a:t>
            </a:r>
            <a:r>
              <a:rPr lang="en-US" sz="2400" dirty="0"/>
              <a:t>. </a:t>
            </a:r>
            <a:r>
              <a:rPr lang="en-US" sz="2400" dirty="0" err="1"/>
              <a:t>Sebelum</a:t>
            </a:r>
            <a:r>
              <a:rPr lang="en-US" sz="2400" dirty="0"/>
              <a:t> </a:t>
            </a:r>
            <a:r>
              <a:rPr lang="en-US" sz="2400" dirty="0" err="1"/>
              <a:t>masuk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PC client, </a:t>
            </a:r>
            <a:r>
              <a:rPr lang="en-US" sz="2400" dirty="0" err="1"/>
              <a:t>cek</a:t>
            </a:r>
            <a:r>
              <a:rPr lang="en-US" sz="2400" dirty="0"/>
              <a:t> </a:t>
            </a:r>
            <a:r>
              <a:rPr lang="en-US" sz="2400" dirty="0" err="1"/>
              <a:t>nslookup</a:t>
            </a:r>
            <a:r>
              <a:rPr lang="en-US" sz="2400" dirty="0"/>
              <a:t> </a:t>
            </a:r>
            <a:r>
              <a:rPr lang="en-US" sz="2400" dirty="0" err="1"/>
              <a:t>terlebih</a:t>
            </a:r>
            <a:r>
              <a:rPr lang="en-US" sz="2400" dirty="0"/>
              <a:t> </a:t>
            </a:r>
            <a:r>
              <a:rPr lang="en-US" sz="2400" dirty="0" err="1"/>
              <a:t>dahulu</a:t>
            </a:r>
            <a:r>
              <a:rPr lang="en-US" sz="2400" dirty="0"/>
              <a:t> di VM server </a:t>
            </a:r>
            <a:r>
              <a:rPr lang="en-US" sz="2400" dirty="0" err="1"/>
              <a:t>terhadap</a:t>
            </a:r>
            <a:r>
              <a:rPr lang="en-US" sz="2400" dirty="0"/>
              <a:t> IP gateway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nama</a:t>
            </a:r>
            <a:r>
              <a:rPr lang="en-US" sz="2400" dirty="0"/>
              <a:t> domain. </a:t>
            </a:r>
            <a:r>
              <a:rPr lang="en-US" sz="2400" dirty="0" err="1"/>
              <a:t>Nslookup</a:t>
            </a:r>
            <a:r>
              <a:rPr lang="en-US" sz="2400" dirty="0"/>
              <a:t> </a:t>
            </a:r>
            <a:r>
              <a:rPr lang="en-US" sz="2400" dirty="0" err="1"/>
              <a:t>memeriksa</a:t>
            </a:r>
            <a:r>
              <a:rPr lang="en-US" sz="2400" dirty="0"/>
              <a:t> reverse lookup, di mana </a:t>
            </a:r>
            <a:r>
              <a:rPr lang="en-US" sz="2400" dirty="0" err="1"/>
              <a:t>seharusnya</a:t>
            </a:r>
            <a:r>
              <a:rPr lang="en-US" sz="2400" dirty="0"/>
              <a:t> </a:t>
            </a:r>
            <a:r>
              <a:rPr lang="en-US" sz="2400" dirty="0" err="1"/>
              <a:t>mengembalikan</a:t>
            </a:r>
            <a:r>
              <a:rPr lang="en-US" sz="2400" dirty="0"/>
              <a:t> </a:t>
            </a:r>
            <a:r>
              <a:rPr lang="en-US" sz="2400" dirty="0" err="1"/>
              <a:t>nama</a:t>
            </a:r>
            <a:r>
              <a:rPr lang="en-US" sz="2400" dirty="0"/>
              <a:t> domain </a:t>
            </a:r>
            <a:r>
              <a:rPr lang="en-US" sz="2400" dirty="0" err="1"/>
              <a:t>jika</a:t>
            </a:r>
            <a:r>
              <a:rPr lang="en-US" sz="2400" dirty="0"/>
              <a:t> PTR </a:t>
            </a:r>
            <a:r>
              <a:rPr lang="en-US" sz="2400" dirty="0" err="1"/>
              <a:t>diset</a:t>
            </a:r>
            <a:r>
              <a:rPr lang="en-US" sz="2400" dirty="0"/>
              <a:t>.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respon</a:t>
            </a:r>
            <a:r>
              <a:rPr lang="en-US" sz="2400" dirty="0"/>
              <a:t>, </a:t>
            </a:r>
            <a:r>
              <a:rPr lang="en-US" sz="2400" dirty="0" err="1"/>
              <a:t>periksa</a:t>
            </a:r>
            <a:r>
              <a:rPr lang="en-US" sz="2400" dirty="0"/>
              <a:t> file reverse zone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apakah</a:t>
            </a:r>
            <a:r>
              <a:rPr lang="en-US" sz="2400" dirty="0"/>
              <a:t> named </a:t>
            </a:r>
            <a:r>
              <a:rPr lang="en-US" sz="2400" dirty="0" err="1"/>
              <a:t>melayani</a:t>
            </a:r>
            <a:r>
              <a:rPr lang="en-US" sz="2400" dirty="0"/>
              <a:t> reverse </a:t>
            </a:r>
            <a:r>
              <a:rPr lang="en-US" sz="2400" dirty="0" err="1"/>
              <a:t>untuk</a:t>
            </a:r>
            <a:r>
              <a:rPr lang="en-US" sz="2400" dirty="0"/>
              <a:t> range </a:t>
            </a:r>
            <a:r>
              <a:rPr lang="en-US" sz="2400" dirty="0" err="1"/>
              <a:t>tersebut</a:t>
            </a:r>
            <a:r>
              <a:rPr lang="en-US" sz="2400" dirty="0"/>
              <a:t>. </a:t>
            </a:r>
            <a:r>
              <a:rPr lang="en-US" sz="2400" dirty="0" err="1"/>
              <a:t>Nslookup</a:t>
            </a:r>
            <a:r>
              <a:rPr lang="en-US" sz="2400" dirty="0"/>
              <a:t> </a:t>
            </a:r>
            <a:r>
              <a:rPr lang="en-US" sz="2400" dirty="0" err="1"/>
              <a:t>juga</a:t>
            </a:r>
            <a:r>
              <a:rPr lang="en-US" sz="2400" dirty="0"/>
              <a:t> </a:t>
            </a:r>
            <a:r>
              <a:rPr lang="en-US" sz="2400" dirty="0" err="1"/>
              <a:t>memeriksa</a:t>
            </a:r>
            <a:r>
              <a:rPr lang="en-US" sz="2400" dirty="0"/>
              <a:t> forward lookup, </a:t>
            </a:r>
            <a:r>
              <a:rPr lang="en-US" sz="2400" dirty="0" err="1"/>
              <a:t>jika</a:t>
            </a:r>
            <a:r>
              <a:rPr lang="en-US" sz="2400" dirty="0"/>
              <a:t> server </a:t>
            </a:r>
            <a:r>
              <a:rPr lang="en-US" sz="2400" dirty="0" err="1"/>
              <a:t>memebrikan</a:t>
            </a:r>
            <a:r>
              <a:rPr lang="en-US" sz="2400" dirty="0"/>
              <a:t> </a:t>
            </a:r>
            <a:r>
              <a:rPr lang="en-US" sz="2400" dirty="0" err="1"/>
              <a:t>jawaban</a:t>
            </a:r>
            <a:r>
              <a:rPr lang="en-US" sz="2400" dirty="0"/>
              <a:t> yang </a:t>
            </a:r>
            <a:r>
              <a:rPr lang="en-US" sz="2400" dirty="0" err="1"/>
              <a:t>benar</a:t>
            </a:r>
            <a:r>
              <a:rPr lang="en-US" sz="2400" dirty="0"/>
              <a:t> </a:t>
            </a:r>
            <a:r>
              <a:rPr lang="en-US" sz="2400" dirty="0" err="1"/>
              <a:t>maka</a:t>
            </a:r>
            <a:r>
              <a:rPr lang="en-US" sz="2400" dirty="0"/>
              <a:t> A record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terpasang</a:t>
            </a:r>
            <a:r>
              <a:rPr lang="en-US" sz="24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35" y="1824613"/>
            <a:ext cx="24339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nslookup</a:t>
            </a:r>
            <a:r>
              <a:rPr lang="en-US" dirty="0"/>
              <a:t> 192.168.100.1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nslookup</a:t>
            </a:r>
            <a:r>
              <a:rPr lang="en-US" dirty="0"/>
              <a:t> ns1.lab.lan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46" y="2520857"/>
            <a:ext cx="46482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31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835" y="4079865"/>
            <a:ext cx="4343400" cy="2466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35" y="92721"/>
            <a:ext cx="10515600" cy="575948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Langkah</a:t>
            </a:r>
            <a:r>
              <a:rPr lang="en-US" b="1" dirty="0" smtClean="0"/>
              <a:t> </a:t>
            </a:r>
            <a:r>
              <a:rPr lang="en-US" b="1" dirty="0" err="1"/>
              <a:t>Konfigurasi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2635" y="1248268"/>
            <a:ext cx="10515600" cy="11121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 smtClean="0"/>
              <a:t>20. </a:t>
            </a:r>
            <a:r>
              <a:rPr lang="en-US" sz="2400" dirty="0" err="1" smtClean="0"/>
              <a:t>Selanjutnya</a:t>
            </a:r>
            <a:r>
              <a:rPr lang="en-US" sz="2400" dirty="0" smtClean="0"/>
              <a:t>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beralih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vm</a:t>
            </a:r>
            <a:r>
              <a:rPr lang="en-US" sz="2400" dirty="0"/>
              <a:t> client, di </a:t>
            </a:r>
            <a:r>
              <a:rPr lang="en-US" sz="2400" dirty="0" err="1"/>
              <a:t>sini</a:t>
            </a:r>
            <a:r>
              <a:rPr lang="en-US" sz="2400" dirty="0"/>
              <a:t> kami </a:t>
            </a:r>
            <a:r>
              <a:rPr lang="en-US" sz="2400" dirty="0" err="1"/>
              <a:t>menggunakan</a:t>
            </a:r>
            <a:r>
              <a:rPr lang="en-US" sz="2400" dirty="0"/>
              <a:t> Windows Server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pengecekannya</a:t>
            </a:r>
            <a:r>
              <a:rPr lang="en-US" sz="2400" dirty="0"/>
              <a:t>. </a:t>
            </a:r>
            <a:r>
              <a:rPr lang="en-US" sz="2400" dirty="0" err="1"/>
              <a:t>Sebelum</a:t>
            </a:r>
            <a:r>
              <a:rPr lang="en-US" sz="2400" dirty="0"/>
              <a:t> </a:t>
            </a:r>
            <a:r>
              <a:rPr lang="en-US" sz="2400" dirty="0" err="1"/>
              <a:t>dicek</a:t>
            </a:r>
            <a:r>
              <a:rPr lang="en-US" sz="2400" dirty="0"/>
              <a:t>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lepas</a:t>
            </a:r>
            <a:r>
              <a:rPr lang="en-US" sz="2400" dirty="0"/>
              <a:t> </a:t>
            </a:r>
            <a:r>
              <a:rPr lang="en-US" sz="2400" dirty="0" err="1"/>
              <a:t>ip</a:t>
            </a:r>
            <a:r>
              <a:rPr lang="en-US" sz="2400" dirty="0"/>
              <a:t> yang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didapatkan</a:t>
            </a:r>
            <a:r>
              <a:rPr lang="en-US" sz="2400" dirty="0"/>
              <a:t> client </a:t>
            </a:r>
            <a:r>
              <a:rPr lang="en-US" sz="2400" dirty="0" err="1"/>
              <a:t>terlebih</a:t>
            </a:r>
            <a:r>
              <a:rPr lang="en-US" sz="2400" dirty="0"/>
              <a:t> </a:t>
            </a:r>
            <a:r>
              <a:rPr lang="en-US" sz="2400" dirty="0" err="1"/>
              <a:t>dahulu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ipconfig /release. Hal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 agar client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mendapatkan</a:t>
            </a:r>
            <a:r>
              <a:rPr lang="en-US" sz="2400" dirty="0"/>
              <a:t> </a:t>
            </a:r>
            <a:r>
              <a:rPr lang="en-US" sz="2400" dirty="0" err="1"/>
              <a:t>konfigurasi</a:t>
            </a:r>
            <a:r>
              <a:rPr lang="en-US" sz="2400" dirty="0"/>
              <a:t> </a:t>
            </a:r>
            <a:r>
              <a:rPr lang="en-US" sz="2400" dirty="0" err="1"/>
              <a:t>terbaru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server,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ipconfig /renew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mendapatkan</a:t>
            </a:r>
            <a:r>
              <a:rPr lang="en-US" sz="2400" dirty="0"/>
              <a:t> </a:t>
            </a:r>
            <a:r>
              <a:rPr lang="en-US" sz="2400" dirty="0" err="1"/>
              <a:t>ip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server </a:t>
            </a:r>
            <a:r>
              <a:rPr lang="en-US" sz="2400" dirty="0" err="1"/>
              <a:t>lagi</a:t>
            </a:r>
            <a:r>
              <a:rPr lang="en-US" sz="2400" dirty="0"/>
              <a:t>. </a:t>
            </a:r>
            <a:r>
              <a:rPr lang="en-US" sz="2400" dirty="0" err="1"/>
              <a:t>Cek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ipconfig /all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melihat</a:t>
            </a:r>
            <a:r>
              <a:rPr lang="en-US" sz="2400" dirty="0"/>
              <a:t> </a:t>
            </a:r>
            <a:r>
              <a:rPr lang="en-US" sz="2400" dirty="0" err="1"/>
              <a:t>nama</a:t>
            </a:r>
            <a:r>
              <a:rPr lang="en-US" sz="2400" dirty="0"/>
              <a:t> DNS yang </a:t>
            </a:r>
            <a:r>
              <a:rPr lang="en-US" sz="2400" dirty="0" err="1"/>
              <a:t>didapat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client..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01" y="3156671"/>
            <a:ext cx="5191125" cy="12096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2635" y="4366346"/>
            <a:ext cx="115845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400" dirty="0" smtClean="0">
                <a:solidFill>
                  <a:srgbClr val="FF0000"/>
                </a:solidFill>
              </a:rPr>
              <a:t>21. Kita </a:t>
            </a:r>
            <a:r>
              <a:rPr lang="sv-SE" sz="2400" dirty="0">
                <a:solidFill>
                  <a:srgbClr val="FF0000"/>
                </a:solidFill>
              </a:rPr>
              <a:t>juga bisa melakukan nslookup di client untuk mengecek ip dan domainnya.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742" y="5127552"/>
            <a:ext cx="521017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53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34751</TotalTime>
  <Words>978</Words>
  <Application>Microsoft Office PowerPoint</Application>
  <PresentationFormat>Widescreen</PresentationFormat>
  <Paragraphs>80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맑은 고딕</vt:lpstr>
      <vt:lpstr>Arial</vt:lpstr>
      <vt:lpstr>Calibri</vt:lpstr>
      <vt:lpstr>Calibri Light</vt:lpstr>
      <vt:lpstr>Edwardian Script ITC</vt:lpstr>
      <vt:lpstr>source-code-pro</vt:lpstr>
      <vt:lpstr>Times New Roman</vt:lpstr>
      <vt:lpstr>Office Theme</vt:lpstr>
      <vt:lpstr>PowerPoint Presentation</vt:lpstr>
      <vt:lpstr>Domain Name System (DNS)</vt:lpstr>
      <vt:lpstr>Langkah Konfigurasi</vt:lpstr>
      <vt:lpstr>Langkah Konfigurasi</vt:lpstr>
      <vt:lpstr>Langkah Konfigurasi</vt:lpstr>
      <vt:lpstr>Langkah Konfigurasi</vt:lpstr>
      <vt:lpstr>Langkah Konfigurasi</vt:lpstr>
      <vt:lpstr>Langkah Konfigurasi</vt:lpstr>
      <vt:lpstr>Langkah Konfigurasi</vt:lpstr>
      <vt:lpstr>Langkah Konfigurasi</vt:lpstr>
      <vt:lpstr>Langkah Konfigurasi</vt:lpstr>
      <vt:lpstr>Langkah Konfigurasi</vt:lpstr>
      <vt:lpstr>Langkah Konfigurasi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100</cp:revision>
  <dcterms:created xsi:type="dcterms:W3CDTF">2024-10-22T07:52:57Z</dcterms:created>
  <dcterms:modified xsi:type="dcterms:W3CDTF">2026-03-27T08:25:30Z</dcterms:modified>
</cp:coreProperties>
</file>