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8"/>
  </p:notesMasterIdLst>
  <p:sldIdLst>
    <p:sldId id="339" r:id="rId2"/>
    <p:sldId id="340" r:id="rId3"/>
    <p:sldId id="341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0" r:id="rId43"/>
    <p:sldId id="381" r:id="rId44"/>
    <p:sldId id="382" r:id="rId45"/>
    <p:sldId id="383" r:id="rId46"/>
    <p:sldId id="38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DFF"/>
    <a:srgbClr val="00B2A5"/>
    <a:srgbClr val="00D9C7"/>
    <a:srgbClr val="73FDD6"/>
    <a:srgbClr val="FF40FF"/>
    <a:srgbClr val="A92C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79922" autoAdjust="0"/>
  </p:normalViewPr>
  <p:slideViewPr>
    <p:cSldViewPr snapToGrid="0">
      <p:cViewPr varScale="1">
        <p:scale>
          <a:sx n="92" d="100"/>
          <a:sy n="92" d="100"/>
        </p:scale>
        <p:origin x="179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A3E45-57A9-44A4-8D02-ECC452318D6C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32A1-099D-4B50-B749-7C373A0D8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43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SG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1A72A7-8BB6-48E4-B8A0-D8264E76C9A0}" type="slidenum">
              <a:rPr lang="en-US" smtClean="0"/>
              <a:pPr/>
              <a:t>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30884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2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5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1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1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39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8CD25-4015-481E-94C9-A931395C8E3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35205-7406-4E96-85E9-F173CE5CB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90" y="549166"/>
            <a:ext cx="1980634" cy="12623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3"/>
          <a:srcRect l="8646" t="12924" r="16013" b="9596"/>
          <a:stretch/>
        </p:blipFill>
        <p:spPr>
          <a:xfrm>
            <a:off x="348892" y="2278144"/>
            <a:ext cx="1209868" cy="12442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t="31519" b="32047"/>
          <a:stretch/>
        </p:blipFill>
        <p:spPr>
          <a:xfrm>
            <a:off x="478321" y="2904448"/>
            <a:ext cx="1018759" cy="3239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70" y="1596944"/>
            <a:ext cx="1896069" cy="21332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477502" y="1251268"/>
            <a:ext cx="976966" cy="369285"/>
            <a:chOff x="4853562" y="1589418"/>
            <a:chExt cx="2609520" cy="129156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373" tIns="54187" rIns="108373" bIns="5418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20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8BC7BC-BF58-402E-9A69-AA9226DE7CAA}"/>
              </a:ext>
            </a:extLst>
          </p:cNvPr>
          <p:cNvGrpSpPr/>
          <p:nvPr/>
        </p:nvGrpSpPr>
        <p:grpSpPr>
          <a:xfrm>
            <a:off x="431212" y="1225859"/>
            <a:ext cx="336493" cy="171515"/>
            <a:chOff x="7439031" y="1585639"/>
            <a:chExt cx="2143740" cy="996849"/>
          </a:xfrm>
          <a:solidFill>
            <a:schemeClr val="accent6"/>
          </a:solidFill>
        </p:grpSpPr>
        <p:sp>
          <p:nvSpPr>
            <p:cNvPr id="11" name="Freeform: Shape 66">
              <a:extLst>
                <a:ext uri="{FF2B5EF4-FFF2-40B4-BE49-F238E27FC236}">
                  <a16:creationId xmlns:a16="http://schemas.microsoft.com/office/drawing/2014/main" id="{2A081543-B9FF-49B1-8EEF-ABDF5438EDCD}"/>
                </a:ext>
              </a:extLst>
            </p:cNvPr>
            <p:cNvSpPr/>
            <p:nvPr/>
          </p:nvSpPr>
          <p:spPr>
            <a:xfrm>
              <a:off x="7439031" y="1585639"/>
              <a:ext cx="2143740" cy="996849"/>
            </a:xfrm>
            <a:custGeom>
              <a:avLst/>
              <a:gdLst/>
              <a:ahLst/>
              <a:cxnLst/>
              <a:rect l="l" t="t" r="r" b="b"/>
              <a:pathLst>
                <a:path w="1862733" h="866179">
                  <a:moveTo>
                    <a:pt x="794147" y="204787"/>
                  </a:moveTo>
                  <a:cubicBezTo>
                    <a:pt x="745605" y="204787"/>
                    <a:pt x="701637" y="218416"/>
                    <a:pt x="662244" y="245673"/>
                  </a:cubicBezTo>
                  <a:cubicBezTo>
                    <a:pt x="622851" y="272930"/>
                    <a:pt x="594798" y="309240"/>
                    <a:pt x="578086" y="354601"/>
                  </a:cubicBezTo>
                  <a:cubicBezTo>
                    <a:pt x="568536" y="380467"/>
                    <a:pt x="563761" y="406729"/>
                    <a:pt x="563761" y="433387"/>
                  </a:cubicBezTo>
                  <a:cubicBezTo>
                    <a:pt x="563761" y="488299"/>
                    <a:pt x="582064" y="537440"/>
                    <a:pt x="618670" y="580811"/>
                  </a:cubicBezTo>
                  <a:cubicBezTo>
                    <a:pt x="664031" y="634532"/>
                    <a:pt x="722524" y="661392"/>
                    <a:pt x="794147" y="661392"/>
                  </a:cubicBezTo>
                  <a:cubicBezTo>
                    <a:pt x="865771" y="661392"/>
                    <a:pt x="924462" y="634733"/>
                    <a:pt x="970220" y="581415"/>
                  </a:cubicBezTo>
                  <a:cubicBezTo>
                    <a:pt x="1006826" y="538838"/>
                    <a:pt x="1025128" y="489496"/>
                    <a:pt x="1025128" y="433387"/>
                  </a:cubicBezTo>
                  <a:cubicBezTo>
                    <a:pt x="1025128" y="376088"/>
                    <a:pt x="1006826" y="326547"/>
                    <a:pt x="970220" y="284764"/>
                  </a:cubicBezTo>
                  <a:cubicBezTo>
                    <a:pt x="923265" y="231446"/>
                    <a:pt x="864574" y="204787"/>
                    <a:pt x="794147" y="204787"/>
                  </a:cubicBezTo>
                  <a:close/>
                  <a:moveTo>
                    <a:pt x="1304330" y="24408"/>
                  </a:moveTo>
                  <a:lnTo>
                    <a:pt x="1862733" y="24408"/>
                  </a:lnTo>
                  <a:lnTo>
                    <a:pt x="1862733" y="200620"/>
                  </a:lnTo>
                  <a:lnTo>
                    <a:pt x="1687711" y="200620"/>
                  </a:lnTo>
                  <a:lnTo>
                    <a:pt x="1687711" y="837009"/>
                  </a:lnTo>
                  <a:lnTo>
                    <a:pt x="1476375" y="837009"/>
                  </a:lnTo>
                  <a:lnTo>
                    <a:pt x="1476375" y="200620"/>
                  </a:lnTo>
                  <a:lnTo>
                    <a:pt x="1304330" y="200620"/>
                  </a:lnTo>
                  <a:close/>
                  <a:moveTo>
                    <a:pt x="0" y="24408"/>
                  </a:moveTo>
                  <a:lnTo>
                    <a:pt x="211336" y="24408"/>
                  </a:lnTo>
                  <a:lnTo>
                    <a:pt x="211336" y="837009"/>
                  </a:lnTo>
                  <a:lnTo>
                    <a:pt x="0" y="837009"/>
                  </a:lnTo>
                  <a:close/>
                  <a:moveTo>
                    <a:pt x="794147" y="0"/>
                  </a:moveTo>
                  <a:cubicBezTo>
                    <a:pt x="937022" y="0"/>
                    <a:pt x="1050330" y="47426"/>
                    <a:pt x="1134071" y="142280"/>
                  </a:cubicBezTo>
                  <a:cubicBezTo>
                    <a:pt x="1207493" y="225623"/>
                    <a:pt x="1244204" y="322659"/>
                    <a:pt x="1244204" y="433387"/>
                  </a:cubicBezTo>
                  <a:cubicBezTo>
                    <a:pt x="1244204" y="543719"/>
                    <a:pt x="1207493" y="640556"/>
                    <a:pt x="1134071" y="723900"/>
                  </a:cubicBezTo>
                  <a:cubicBezTo>
                    <a:pt x="1050330" y="818753"/>
                    <a:pt x="937022" y="866179"/>
                    <a:pt x="794147" y="866179"/>
                  </a:cubicBezTo>
                  <a:cubicBezTo>
                    <a:pt x="651669" y="866179"/>
                    <a:pt x="538560" y="818753"/>
                    <a:pt x="454819" y="723900"/>
                  </a:cubicBezTo>
                  <a:cubicBezTo>
                    <a:pt x="381397" y="640556"/>
                    <a:pt x="344686" y="543719"/>
                    <a:pt x="344686" y="433387"/>
                  </a:cubicBezTo>
                  <a:cubicBezTo>
                    <a:pt x="344686" y="382984"/>
                    <a:pt x="354608" y="331291"/>
                    <a:pt x="374452" y="278308"/>
                  </a:cubicBezTo>
                  <a:cubicBezTo>
                    <a:pt x="394296" y="225326"/>
                    <a:pt x="420886" y="179983"/>
                    <a:pt x="454224" y="142280"/>
                  </a:cubicBezTo>
                  <a:cubicBezTo>
                    <a:pt x="537964" y="47426"/>
                    <a:pt x="651272" y="0"/>
                    <a:pt x="794147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133" dirty="0"/>
            </a:p>
          </p:txBody>
        </p:sp>
        <p:sp>
          <p:nvSpPr>
            <p:cNvPr id="12" name="Freeform: Shape 67">
              <a:extLst>
                <a:ext uri="{FF2B5EF4-FFF2-40B4-BE49-F238E27FC236}">
                  <a16:creationId xmlns:a16="http://schemas.microsoft.com/office/drawing/2014/main" id="{275D1FAA-C13F-4A6B-BA37-7704CFB7ADCD}"/>
                </a:ext>
              </a:extLst>
            </p:cNvPr>
            <p:cNvSpPr/>
            <p:nvPr/>
          </p:nvSpPr>
          <p:spPr>
            <a:xfrm>
              <a:off x="8174174" y="1963600"/>
              <a:ext cx="443936" cy="326799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624294 w 3738080"/>
                <a:gd name="connsiteY5" fmla="*/ 1992174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1858846 w 3738080"/>
                <a:gd name="connsiteY5" fmla="*/ 1306247 h 2751770"/>
                <a:gd name="connsiteX6" fmla="*/ 2645621 w 3738080"/>
                <a:gd name="connsiteY6" fmla="*/ 1504218 h 2751770"/>
                <a:gd name="connsiteX7" fmla="*/ 2795575 w 3738080"/>
                <a:gd name="connsiteY7" fmla="*/ 1757331 h 2751770"/>
                <a:gd name="connsiteX8" fmla="*/ 2539052 w 3738080"/>
                <a:gd name="connsiteY8" fmla="*/ 1841672 h 2751770"/>
                <a:gd name="connsiteX9" fmla="*/ 1353947 w 3738080"/>
                <a:gd name="connsiteY9" fmla="*/ 1778974 h 2751770"/>
                <a:gd name="connsiteX10" fmla="*/ 982333 w 3738080"/>
                <a:gd name="connsiteY10" fmla="*/ 1780833 h 2751770"/>
                <a:gd name="connsiteX11" fmla="*/ 966756 w 3738080"/>
                <a:gd name="connsiteY11" fmla="*/ 1667407 h 2751770"/>
                <a:gd name="connsiteX12" fmla="*/ 1217540 w 3738080"/>
                <a:gd name="connsiteY12" fmla="*/ 1445700 h 2751770"/>
                <a:gd name="connsiteX13" fmla="*/ 1858846 w 3738080"/>
                <a:gd name="connsiteY13" fmla="*/ 1306247 h 2751770"/>
                <a:gd name="connsiteX14" fmla="*/ 1828129 w 3738080"/>
                <a:gd name="connsiteY14" fmla="*/ 650059 h 2751770"/>
                <a:gd name="connsiteX15" fmla="*/ 3108200 w 3738080"/>
                <a:gd name="connsiteY15" fmla="*/ 1008980 h 2751770"/>
                <a:gd name="connsiteX16" fmla="*/ 3258155 w 3738080"/>
                <a:gd name="connsiteY16" fmla="*/ 1319033 h 2751770"/>
                <a:gd name="connsiteX17" fmla="*/ 2937692 w 3738080"/>
                <a:gd name="connsiteY17" fmla="*/ 1304637 h 2751770"/>
                <a:gd name="connsiteX18" fmla="*/ 763561 w 3738080"/>
                <a:gd name="connsiteY18" fmla="*/ 1325535 h 2751770"/>
                <a:gd name="connsiteX19" fmla="*/ 464412 w 3738080"/>
                <a:gd name="connsiteY19" fmla="*/ 1278813 h 2751770"/>
                <a:gd name="connsiteX20" fmla="*/ 450482 w 3738080"/>
                <a:gd name="connsiteY20" fmla="*/ 1202928 h 2751770"/>
                <a:gd name="connsiteX21" fmla="*/ 622892 w 3738080"/>
                <a:gd name="connsiteY21" fmla="*/ 1008979 h 2751770"/>
                <a:gd name="connsiteX22" fmla="*/ 1828129 w 3738080"/>
                <a:gd name="connsiteY22" fmla="*/ 650059 h 2751770"/>
                <a:gd name="connsiteX23" fmla="*/ 1764313 w 3738080"/>
                <a:gd name="connsiteY23" fmla="*/ 591 h 2751770"/>
                <a:gd name="connsiteX24" fmla="*/ 3559697 w 3738080"/>
                <a:gd name="connsiteY24" fmla="*/ 547180 h 2751770"/>
                <a:gd name="connsiteX25" fmla="*/ 3709650 w 3738080"/>
                <a:gd name="connsiteY25" fmla="*/ 882310 h 2751770"/>
                <a:gd name="connsiteX26" fmla="*/ 3367875 w 3738080"/>
                <a:gd name="connsiteY26" fmla="*/ 834477 h 2751770"/>
                <a:gd name="connsiteX27" fmla="*/ 318417 w 3738080"/>
                <a:gd name="connsiteY27" fmla="*/ 884635 h 2751770"/>
                <a:gd name="connsiteX28" fmla="*/ 19267 w 3738080"/>
                <a:gd name="connsiteY28" fmla="*/ 846272 h 2751770"/>
                <a:gd name="connsiteX29" fmla="*/ 275 w 3738080"/>
                <a:gd name="connsiteY29" fmla="*/ 760137 h 2751770"/>
                <a:gd name="connsiteX30" fmla="*/ 173484 w 3738080"/>
                <a:gd name="connsiteY30" fmla="*/ 547180 h 2751770"/>
                <a:gd name="connsiteX31" fmla="*/ 1764313 w 3738080"/>
                <a:gd name="connsiteY31" fmla="*/ 591 h 275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33"/>
            </a:p>
          </p:txBody>
        </p:sp>
      </p:grpSp>
      <p:sp>
        <p:nvSpPr>
          <p:cNvPr id="10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 txBox="1">
            <a:spLocks/>
          </p:cNvSpPr>
          <p:nvPr/>
        </p:nvSpPr>
        <p:spPr>
          <a:xfrm>
            <a:off x="469976" y="1256395"/>
            <a:ext cx="365801" cy="125217"/>
          </a:xfrm>
          <a:prstGeom prst="rect">
            <a:avLst/>
          </a:prstGeom>
        </p:spPr>
        <p:txBody>
          <a:bodyPr vert="horz" lIns="81280" tIns="40640" rIns="81280" bIns="4064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2" dirty="0">
                <a:solidFill>
                  <a:srgbClr val="7030A0"/>
                </a:solidFill>
              </a:rPr>
              <a:t>PDS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692" y="1368919"/>
            <a:ext cx="195549" cy="27874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64" y="1347118"/>
            <a:ext cx="268890" cy="2554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83" y="1380076"/>
            <a:ext cx="262872" cy="2531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 txBox="1">
            <a:spLocks/>
          </p:cNvSpPr>
          <p:nvPr/>
        </p:nvSpPr>
        <p:spPr>
          <a:xfrm>
            <a:off x="258279" y="1456524"/>
            <a:ext cx="1837447" cy="261117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1867" dirty="0">
                <a:solidFill>
                  <a:schemeClr val="accent1">
                    <a:lumMod val="75000"/>
                  </a:schemeClr>
                </a:solidFill>
              </a:rPr>
              <a:t>Computer </a:t>
            </a:r>
            <a:r>
              <a:rPr lang="en-US" sz="1867" dirty="0">
                <a:solidFill>
                  <a:srgbClr val="00B0F0"/>
                </a:solidFill>
              </a:rPr>
              <a:t>Vision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-849474" y="3326448"/>
            <a:ext cx="3825765" cy="451201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33" b="1" dirty="0">
                <a:solidFill>
                  <a:schemeClr val="bg1">
                    <a:lumMod val="75000"/>
                  </a:schemeClr>
                </a:solidFill>
              </a:rPr>
              <a:t>@ P. </a:t>
            </a:r>
            <a:r>
              <a:rPr lang="en-US" sz="2133" b="1" dirty="0" err="1">
                <a:solidFill>
                  <a:schemeClr val="bg1">
                    <a:lumMod val="75000"/>
                  </a:schemeClr>
                </a:solidFill>
              </a:rPr>
              <a:t>Siagian</a:t>
            </a:r>
            <a:endParaRPr lang="en-US" sz="2133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2331567" y="2132736"/>
            <a:ext cx="9347200" cy="771712"/>
          </a:xfrm>
          <a:prstGeom prst="rect">
            <a:avLst/>
          </a:prstGeom>
        </p:spPr>
        <p:txBody>
          <a:bodyPr vert="horz" lIns="81280" tIns="40640" rIns="81280" bIns="4064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Bridging and 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</a:rPr>
              <a:t>Switching</a:t>
            </a:r>
            <a:endParaRPr lang="en-US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463375" y="5949106"/>
            <a:ext cx="24878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https://www.youtube.com/@AmelOline/videos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52570" y="5810607"/>
            <a:ext cx="154523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37735" y="6087606"/>
            <a:ext cx="349050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https://github.com/amelcharolinesgn2/IoT_simulator-mqtt-NodeRed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5775" y="6226105"/>
            <a:ext cx="27466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1267" y="6341521"/>
            <a:ext cx="32868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https://github.com/amelcharolinesgn2/ClouD-Infrastructure-SISKA-2025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2935" y="6472372"/>
            <a:ext cx="377531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https://github.com/amelcharolinesgn2/Gyroscope-Sensor-Data-Accelerometer</a:t>
            </a:r>
          </a:p>
        </p:txBody>
      </p:sp>
    </p:spTree>
    <p:extLst>
      <p:ext uri="{BB962C8B-B14F-4D97-AF65-F5344CB8AC3E}">
        <p14:creationId xmlns:p14="http://schemas.microsoft.com/office/powerpoint/2010/main" val="3016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Satuan Acara Perkuliahan</a:t>
            </a:r>
            <a:endParaRPr lang="en-SG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738282" y="1600201"/>
          <a:ext cx="8715436" cy="4472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15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7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44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Minggu Ke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Pokok Bahasan dan TIU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Sub Pokok Bahasan dan Sasaran Belajar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Cara Pengajaran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Media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Tugas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>
                          <a:latin typeface="Franklin Gothic Book" pitchFamily="34" charset="0"/>
                        </a:rPr>
                        <a:t>Referensi 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VIII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Bridging dan Switching</a:t>
                      </a:r>
                      <a:endParaRPr lang="en-SG" sz="1400">
                        <a:latin typeface="Franklin Gothic Book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TIU :</a:t>
                      </a:r>
                      <a:endParaRPr lang="en-SG" sz="1400">
                        <a:latin typeface="Franklin Gothic Book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Mahasiswa dapat memahami dan menjelaskan tentang Pengaturan traffic dengan menggunakan bridge dan switch pada suatu Local Area Network berdasarkan MAC Address dan makin memahami pentingnya belajar sistem bilangan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memahami dan menjelaskan filtering traffic berdasarkan MAC Address yang dilakukan bridges.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Contoh jaringan yang di bridging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Protocol independent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Spanning tree Protocol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Eliminasi bridging loops dengan spanning tree protocol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Memonitor traffic pada network yang di bridging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 startAt="2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memahami dan menjelaskan filtering traffic berdasarkan MAC Address yang dilakukan Switch.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Full duplex operation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Mode of operation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Cut Trough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Store and forward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Fragment free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VLAN Technology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Trunking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742950" lvl="1" indent="-285750">
                        <a:spcAft>
                          <a:spcPts val="0"/>
                        </a:spcAft>
                        <a:buFont typeface="Symbol"/>
                        <a:buChar char=""/>
                        <a:tabLst>
                          <a:tab pos="91440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Monitoring traffic</a:t>
                      </a:r>
                      <a:endParaRPr lang="en-SG" sz="1400" dirty="0">
                        <a:latin typeface="Franklin Gothic Book" pitchFamily="34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rabicPeriod" startAt="2"/>
                        <a:tabLst>
                          <a:tab pos="502920" algn="l"/>
                        </a:tabLs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Mahasiswa dapat mendesign suatu bentuk Local Area Network sederhana dengan menggunakan bridge dan switch 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Kuliah Mimbar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Papan Tulis dan </a:t>
                      </a:r>
                      <a:r>
                        <a:rPr lang="id-ID" sz="900">
                          <a:latin typeface="Franklin Gothic Book" pitchFamily="34" charset="0"/>
                        </a:rPr>
                        <a:t>MULTIMEDIA PROJECTOR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>
                          <a:latin typeface="Franklin Gothic Book" pitchFamily="34" charset="0"/>
                        </a:rPr>
                        <a:t>Latihan</a:t>
                      </a:r>
                      <a:endParaRPr lang="en-SG" sz="140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050" dirty="0">
                          <a:latin typeface="Franklin Gothic Book" pitchFamily="34" charset="0"/>
                        </a:rPr>
                        <a:t>1-6</a:t>
                      </a:r>
                      <a:endParaRPr lang="en-SG" sz="1400" dirty="0">
                        <a:latin typeface="Franklin Gothic Book" pitchFamily="34" charset="0"/>
                        <a:ea typeface="Times New Roman"/>
                      </a:endParaRPr>
                    </a:p>
                  </a:txBody>
                  <a:tcPr marL="65760" marR="6576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520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Memperluas Jangkauan LAN</a:t>
            </a:r>
            <a:endParaRPr lang="en-SG" sz="4000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AB5C7E35-6EC7-470F-9FE0-D372CEE4B509}" type="slidenum">
              <a:rPr lang="en-US"/>
              <a:pPr/>
              <a:t>3</a:t>
            </a:fld>
            <a:endParaRPr lang="en-US"/>
          </a:p>
        </p:txBody>
      </p:sp>
      <p:pic>
        <p:nvPicPr>
          <p:cNvPr id="421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2579704"/>
            <a:ext cx="8839200" cy="306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3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2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Repeater (Hub)</a:t>
            </a:r>
            <a:endParaRPr lang="en-SG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SzPct val="75000"/>
              <a:buNone/>
            </a:pPr>
            <a:r>
              <a:rPr lang="en-US" sz="2400" dirty="0"/>
              <a:t>	</a:t>
            </a:r>
            <a:r>
              <a:rPr lang="en-US" sz="2400" dirty="0" err="1"/>
              <a:t>Seluruh</a:t>
            </a:r>
            <a:r>
              <a:rPr lang="en-US" sz="2400" dirty="0"/>
              <a:t> DTE </a:t>
            </a:r>
            <a:r>
              <a:rPr lang="en-US" sz="2400" dirty="0" err="1"/>
              <a:t>pada</a:t>
            </a:r>
            <a:r>
              <a:rPr lang="en-US" sz="2400" dirty="0"/>
              <a:t> 10</a:t>
            </a:r>
            <a:r>
              <a:rPr lang="id-ID" sz="2400" dirty="0"/>
              <a:t>/100B</a:t>
            </a:r>
            <a:r>
              <a:rPr lang="en-US" sz="2400" dirty="0" err="1"/>
              <a:t>ase</a:t>
            </a:r>
            <a:r>
              <a:rPr lang="en-US" sz="2400" dirty="0"/>
              <a:t>-T </a:t>
            </a:r>
            <a:r>
              <a:rPr lang="en-US" sz="2400" dirty="0" err="1"/>
              <a:t>dihubungkan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repeater (hub), </a:t>
            </a:r>
            <a:r>
              <a:rPr lang="en-US" sz="2400" dirty="0" err="1"/>
              <a:t>maka</a:t>
            </a:r>
            <a:r>
              <a:rPr lang="en-US" sz="2400" dirty="0"/>
              <a:t> repeater </a:t>
            </a:r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sedemikian</a:t>
            </a:r>
            <a:r>
              <a:rPr lang="en-US" sz="2400" dirty="0"/>
              <a:t> </a:t>
            </a:r>
            <a:r>
              <a:rPr lang="en-US" sz="2400" dirty="0" err="1"/>
              <a:t>rupa</a:t>
            </a:r>
            <a:r>
              <a:rPr lang="en-US" sz="2400" dirty="0"/>
              <a:t> agar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dipandang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i="1" dirty="0"/>
              <a:t>shared network </a:t>
            </a:r>
            <a:r>
              <a:rPr lang="en-US" sz="2400" dirty="0"/>
              <a:t>(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halnya</a:t>
            </a:r>
            <a:r>
              <a:rPr lang="en-US" sz="2400" dirty="0"/>
              <a:t> 10base-5 </a:t>
            </a:r>
            <a:r>
              <a:rPr lang="en-US" sz="2400" dirty="0" err="1"/>
              <a:t>atau</a:t>
            </a:r>
            <a:r>
              <a:rPr lang="en-US" sz="2400" dirty="0"/>
              <a:t> 10base-2)</a:t>
            </a:r>
          </a:p>
          <a:p>
            <a:pPr>
              <a:buSzPct val="75000"/>
              <a:buFont typeface="Webdings" pitchFamily="18" charset="2"/>
              <a:buChar char="8"/>
            </a:pPr>
            <a:endParaRPr lang="en-US" sz="2400" dirty="0"/>
          </a:p>
          <a:p>
            <a:endParaRPr lang="en-SG" sz="2400" dirty="0"/>
          </a:p>
        </p:txBody>
      </p:sp>
      <p:sp>
        <p:nvSpPr>
          <p:cNvPr id="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</a:t>
            </a:fld>
            <a:endParaRPr lang="en-SG" dirty="0"/>
          </a:p>
        </p:txBody>
      </p:sp>
      <p:graphicFrame>
        <p:nvGraphicFramePr>
          <p:cNvPr id="466949" name="Object 5"/>
          <p:cNvGraphicFramePr>
            <a:graphicFrameLocks noChangeAspect="1"/>
          </p:cNvGraphicFramePr>
          <p:nvPr/>
        </p:nvGraphicFramePr>
        <p:xfrm>
          <a:off x="4238612" y="3357562"/>
          <a:ext cx="4229112" cy="2777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3" imgW="4580952" imgH="3010320" progId="MSPhotoEd.3">
                  <p:embed/>
                </p:oleObj>
              </mc:Choice>
              <mc:Fallback>
                <p:oleObj name="Photo Editor Photo" r:id="rId3" imgW="4580952" imgH="3010320" progId="MSPhotoEd.3">
                  <p:embed/>
                  <p:pic>
                    <p:nvPicPr>
                      <p:cNvPr id="466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12" y="3357562"/>
                        <a:ext cx="4229112" cy="27778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5164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8888" y="457201"/>
            <a:ext cx="7148512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2915" name="Text Box 3"/>
          <p:cNvSpPr txBox="1">
            <a:spLocks noChangeArrowheads="1"/>
          </p:cNvSpPr>
          <p:nvPr/>
        </p:nvSpPr>
        <p:spPr bwMode="auto">
          <a:xfrm>
            <a:off x="5089526" y="0"/>
            <a:ext cx="2073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Repeater</a:t>
            </a:r>
          </a:p>
        </p:txBody>
      </p:sp>
      <p:sp>
        <p:nvSpPr>
          <p:cNvPr id="422916" name="Text Box 4"/>
          <p:cNvSpPr txBox="1">
            <a:spLocks noChangeArrowheads="1"/>
          </p:cNvSpPr>
          <p:nvPr/>
        </p:nvSpPr>
        <p:spPr bwMode="auto">
          <a:xfrm>
            <a:off x="2041526" y="5257800"/>
            <a:ext cx="771326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Menghubungkan </a:t>
            </a:r>
            <a:r>
              <a:rPr lang="en-US" dirty="0">
                <a:latin typeface="Franklin Gothic Book" pitchFamily="34" charset="0"/>
              </a:rPr>
              <a:t>dua segmen LAN</a:t>
            </a:r>
            <a:r>
              <a:rPr lang="id-ID" dirty="0">
                <a:latin typeface="Franklin Gothic Book" pitchFamily="34" charset="0"/>
              </a:rPr>
              <a:t> yang setipe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>
                <a:latin typeface="Franklin Gothic Book" pitchFamily="34" charset="0"/>
              </a:rPr>
              <a:t>Memperkuat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sinyal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dari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satu</a:t>
            </a:r>
            <a:r>
              <a:rPr lang="en-US" dirty="0">
                <a:latin typeface="Franklin Gothic Book" pitchFamily="34" charset="0"/>
              </a:rPr>
              <a:t> segmen </a:t>
            </a:r>
            <a:r>
              <a:rPr lang="en-US" dirty="0" err="1">
                <a:latin typeface="Franklin Gothic Book" pitchFamily="34" charset="0"/>
              </a:rPr>
              <a:t>ke</a:t>
            </a:r>
            <a:r>
              <a:rPr lang="en-US" dirty="0">
                <a:latin typeface="Franklin Gothic Book" pitchFamily="34" charset="0"/>
              </a:rPr>
              <a:t> segmen yang lain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Noise </a:t>
            </a:r>
            <a:r>
              <a:rPr lang="en-US" dirty="0">
                <a:latin typeface="Franklin Gothic Book" pitchFamily="34" charset="0"/>
              </a:rPr>
              <a:t>dan collision </a:t>
            </a:r>
            <a:r>
              <a:rPr lang="en-US" dirty="0" err="1">
                <a:latin typeface="Franklin Gothic Book" pitchFamily="34" charset="0"/>
              </a:rPr>
              <a:t>ikut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disebarkan</a:t>
            </a:r>
            <a:r>
              <a:rPr lang="id-ID" dirty="0">
                <a:latin typeface="Franklin Gothic Book" pitchFamily="34" charset="0"/>
              </a:rPr>
              <a:t> (tdk dapat memecah collision domain)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 err="1">
                <a:latin typeface="Franklin Gothic Book" pitchFamily="34" charset="0"/>
              </a:rPr>
              <a:t>Tidak</a:t>
            </a:r>
            <a:r>
              <a:rPr lang="en-US" dirty="0">
                <a:latin typeface="Franklin Gothic Book" pitchFamily="34" charset="0"/>
              </a:rPr>
              <a:t> </a:t>
            </a:r>
            <a:r>
              <a:rPr lang="en-US" dirty="0" err="1">
                <a:latin typeface="Franklin Gothic Book" pitchFamily="34" charset="0"/>
              </a:rPr>
              <a:t>mengerti</a:t>
            </a:r>
            <a:r>
              <a:rPr lang="en-US" dirty="0">
                <a:latin typeface="Franklin Gothic Book" pitchFamily="34" charset="0"/>
              </a:rPr>
              <a:t> format </a:t>
            </a:r>
            <a:r>
              <a:rPr lang="en-US" dirty="0" err="1">
                <a:latin typeface="Franklin Gothic Book" pitchFamily="34" charset="0"/>
              </a:rPr>
              <a:t>paket</a:t>
            </a:r>
            <a:endParaRPr lang="en-US" dirty="0">
              <a:latin typeface="Franklin Gothic Book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dirty="0">
                <a:latin typeface="Franklin Gothic Book" pitchFamily="34" charset="0"/>
              </a:rPr>
              <a:t>Known </a:t>
            </a:r>
            <a:r>
              <a:rPr lang="en-US" dirty="0">
                <a:latin typeface="Franklin Gothic Book" pitchFamily="34" charset="0"/>
              </a:rPr>
              <a:t>as hub</a:t>
            </a:r>
          </a:p>
        </p:txBody>
      </p:sp>
    </p:spTree>
    <p:extLst>
      <p:ext uri="{BB962C8B-B14F-4D97-AF65-F5344CB8AC3E}">
        <p14:creationId xmlns:p14="http://schemas.microsoft.com/office/powerpoint/2010/main" val="42821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Bridge</a:t>
            </a:r>
          </a:p>
        </p:txBody>
      </p:sp>
      <p:sp>
        <p:nvSpPr>
          <p:cNvPr id="107" name="Content Placeholder 10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2400" dirty="0"/>
              <a:t>Perangkat layer 2</a:t>
            </a:r>
          </a:p>
          <a:p>
            <a:r>
              <a:rPr lang="en-US" sz="2400" dirty="0"/>
              <a:t>Menghubungkan dua segmen LAN (bisa berbeda </a:t>
            </a:r>
            <a:r>
              <a:rPr lang="id-ID" sz="2400" dirty="0"/>
              <a:t>tipe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Mem</a:t>
            </a:r>
            <a:r>
              <a:rPr lang="en-US" sz="2400" dirty="0"/>
              <a:t>-forward frame </a:t>
            </a:r>
            <a:r>
              <a:rPr lang="id-ID" sz="2400" dirty="0"/>
              <a:t>bila perlu</a:t>
            </a:r>
            <a:endParaRPr lang="en-US" sz="2400" dirty="0"/>
          </a:p>
          <a:p>
            <a:pPr lvl="1"/>
            <a:r>
              <a:rPr lang="en-US" sz="2000" dirty="0"/>
              <a:t>Dapat mengenal alamat</a:t>
            </a:r>
            <a:r>
              <a:rPr lang="id-ID" sz="2000" dirty="0"/>
              <a:t> hardware</a:t>
            </a:r>
            <a:r>
              <a:rPr lang="en-US" sz="2000" dirty="0"/>
              <a:t> dan melakukan filtering</a:t>
            </a:r>
            <a:r>
              <a:rPr lang="id-ID" sz="2000" dirty="0"/>
              <a:t> terhadapnya</a:t>
            </a:r>
          </a:p>
          <a:p>
            <a:pPr lvl="2"/>
            <a:r>
              <a:rPr lang="fr-FR" sz="1800" dirty="0"/>
              <a:t>Noise dan collision tidak ikut disebarkan</a:t>
            </a:r>
            <a:r>
              <a:rPr lang="id-ID" sz="1800" dirty="0"/>
              <a:t> (tidak diforward)</a:t>
            </a:r>
          </a:p>
          <a:p>
            <a:pPr lvl="2"/>
            <a:r>
              <a:rPr lang="id-ID" sz="1800" dirty="0"/>
              <a:t>Broadcast/multicast traffic diforward ke seluruh port</a:t>
            </a:r>
            <a:endParaRPr lang="en-US" sz="1800" dirty="0"/>
          </a:p>
          <a:p>
            <a:r>
              <a:rPr lang="en-US" sz="2400" dirty="0"/>
              <a:t>Memungkinkan transmisi beberapa frame secara independent</a:t>
            </a:r>
            <a:endParaRPr lang="id-ID" sz="2400" dirty="0"/>
          </a:p>
          <a:p>
            <a:r>
              <a:rPr lang="id-ID" sz="2400" dirty="0"/>
              <a:t>Bisa memecah </a:t>
            </a:r>
            <a:r>
              <a:rPr lang="id-ID" sz="2400" i="1" dirty="0"/>
              <a:t>collision domain</a:t>
            </a:r>
            <a:r>
              <a:rPr lang="id-ID" sz="2400" dirty="0"/>
              <a:t> tetapi tidak dapat memecah </a:t>
            </a:r>
            <a:r>
              <a:rPr lang="id-ID" sz="2400" i="1" dirty="0"/>
              <a:t>broadcast domain</a:t>
            </a:r>
            <a:endParaRPr lang="en-US" sz="2400" dirty="0"/>
          </a:p>
        </p:txBody>
      </p:sp>
      <p:sp>
        <p:nvSpPr>
          <p:cNvPr id="11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1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10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007E69F6-BFE5-48A9-9A2D-BE258A1414F7}" type="slidenum">
              <a:rPr lang="en-US"/>
              <a:pPr/>
              <a:t>6</a:t>
            </a:fld>
            <a:endParaRPr lang="en-US"/>
          </a:p>
        </p:txBody>
      </p:sp>
      <p:sp>
        <p:nvSpPr>
          <p:cNvPr id="109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6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11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Bridges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Local bridges</a:t>
            </a:r>
            <a:r>
              <a:rPr lang="en-US"/>
              <a:t> provide a direct connection between multiple LAN segments in the same area. </a:t>
            </a:r>
            <a:endParaRPr lang="nb-NO"/>
          </a:p>
          <a:p>
            <a:r>
              <a:rPr lang="en-US" i="1"/>
              <a:t>Remote bridges</a:t>
            </a:r>
            <a:r>
              <a:rPr lang="en-US"/>
              <a:t> connect multiple LAN segments in different areas, usually over telecommunications lines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879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Bridges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5334000"/>
            <a:ext cx="7772400" cy="7620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b="1"/>
              <a:t>Local and Remote Bridges Connect LAN</a:t>
            </a:r>
            <a:r>
              <a:rPr lang="nb-NO" sz="2000" b="1"/>
              <a:t> </a:t>
            </a:r>
            <a:r>
              <a:rPr lang="en-US" sz="2000" b="1"/>
              <a:t>Segments in Specific Areas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8</a:t>
            </a:fld>
            <a:endParaRPr lang="en-SG" dirty="0"/>
          </a:p>
        </p:txBody>
      </p:sp>
      <p:pic>
        <p:nvPicPr>
          <p:cNvPr id="7173" name="Picture 5" descr="E:\mybook\JaringanKomputer\cisco\Bridging Basics_files\ct84040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981201"/>
            <a:ext cx="6248400" cy="25320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45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0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11" name="Content Placeholder 1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400" dirty="0" err="1"/>
              <a:t>Sebuah</a:t>
            </a:r>
            <a:r>
              <a:rPr lang="en-SG" sz="2400" dirty="0"/>
              <a:t> bridge </a:t>
            </a:r>
            <a:r>
              <a:rPr lang="en-SG" sz="2400" dirty="0" err="1"/>
              <a:t>dapat</a:t>
            </a:r>
            <a:r>
              <a:rPr lang="en-SG" sz="2400" dirty="0"/>
              <a:t>:</a:t>
            </a:r>
          </a:p>
          <a:p>
            <a:pPr lvl="1"/>
            <a:r>
              <a:rPr lang="en-SG" sz="2000" dirty="0" err="1"/>
              <a:t>menghubungkan</a:t>
            </a:r>
            <a:r>
              <a:rPr lang="en-SG" sz="2000" dirty="0"/>
              <a:t> </a:t>
            </a:r>
            <a:r>
              <a:rPr lang="en-SG" sz="2000" dirty="0" err="1"/>
              <a:t>segmen</a:t>
            </a:r>
            <a:r>
              <a:rPr lang="en-SG" sz="2000" dirty="0"/>
              <a:t> network </a:t>
            </a:r>
          </a:p>
          <a:p>
            <a:pPr lvl="1"/>
            <a:r>
              <a:rPr lang="en-SG" sz="2000" dirty="0" err="1"/>
              <a:t>memfilter</a:t>
            </a:r>
            <a:r>
              <a:rPr lang="en-SG" sz="2000" dirty="0"/>
              <a:t> traffic </a:t>
            </a:r>
            <a:r>
              <a:rPr lang="en-SG" sz="2000" dirty="0" err="1"/>
              <a:t>dengan</a:t>
            </a:r>
            <a:r>
              <a:rPr lang="en-SG" sz="2000" dirty="0"/>
              <a:t> </a:t>
            </a:r>
            <a:r>
              <a:rPr lang="en-SG" sz="2000" dirty="0" err="1"/>
              <a:t>membaca</a:t>
            </a:r>
            <a:r>
              <a:rPr lang="en-SG" sz="2000" dirty="0"/>
              <a:t> packet </a:t>
            </a:r>
            <a:r>
              <a:rPr lang="en-SG" sz="2000" dirty="0" err="1"/>
              <a:t>addressnya</a:t>
            </a:r>
            <a:r>
              <a:rPr lang="en-SG" sz="2000" dirty="0"/>
              <a:t> </a:t>
            </a:r>
          </a:p>
          <a:p>
            <a:pPr lvl="1"/>
            <a:r>
              <a:rPr lang="en-SG" sz="2000" dirty="0" err="1"/>
              <a:t>menghubungkan</a:t>
            </a:r>
            <a:r>
              <a:rPr lang="en-SG" sz="2000" dirty="0"/>
              <a:t> network yang </a:t>
            </a:r>
            <a:r>
              <a:rPr lang="en-SG" sz="2000" dirty="0" err="1"/>
              <a:t>berbeda</a:t>
            </a:r>
            <a:r>
              <a:rPr lang="en-SG" sz="2000" dirty="0"/>
              <a:t> (Ethernet </a:t>
            </a:r>
            <a:r>
              <a:rPr lang="en-SG" sz="2000" dirty="0" err="1"/>
              <a:t>dan</a:t>
            </a:r>
            <a:r>
              <a:rPr lang="en-SG" sz="2000" dirty="0"/>
              <a:t> Token Ring) </a:t>
            </a:r>
            <a:r>
              <a:rPr lang="en-SG" sz="2000" dirty="0" err="1"/>
              <a:t>jika</a:t>
            </a:r>
            <a:r>
              <a:rPr lang="en-SG" sz="2000" dirty="0"/>
              <a:t> level </a:t>
            </a:r>
            <a:r>
              <a:rPr lang="en-SG" sz="2000" dirty="0" err="1"/>
              <a:t>protokol</a:t>
            </a:r>
            <a:r>
              <a:rPr lang="en-SG" sz="2000" dirty="0"/>
              <a:t> yang </a:t>
            </a:r>
            <a:r>
              <a:rPr lang="en-SG" sz="2000" dirty="0" err="1"/>
              <a:t>lebih</a:t>
            </a:r>
            <a:r>
              <a:rPr lang="en-SG" sz="2000" dirty="0"/>
              <a:t> </a:t>
            </a:r>
            <a:r>
              <a:rPr lang="en-SG" sz="2000" dirty="0" err="1"/>
              <a:t>tingginya</a:t>
            </a:r>
            <a:r>
              <a:rPr lang="en-SG" sz="2000" dirty="0"/>
              <a:t> </a:t>
            </a:r>
            <a:r>
              <a:rPr lang="en-SG" sz="2000" dirty="0" err="1"/>
              <a:t>sama</a:t>
            </a:r>
            <a:r>
              <a:rPr lang="en-SG" sz="2000" dirty="0"/>
              <a:t> </a:t>
            </a:r>
            <a:r>
              <a:rPr lang="en-SG" sz="2000" dirty="0" err="1"/>
              <a:t>atau</a:t>
            </a:r>
            <a:r>
              <a:rPr lang="en-SG" sz="2000" dirty="0"/>
              <a:t> </a:t>
            </a:r>
            <a:r>
              <a:rPr lang="en-SG" sz="2000" dirty="0" err="1"/>
              <a:t>bisa</a:t>
            </a:r>
            <a:r>
              <a:rPr lang="en-SG" sz="2000" dirty="0"/>
              <a:t> </a:t>
            </a:r>
            <a:r>
              <a:rPr lang="en-SG" sz="2000" dirty="0" err="1"/>
              <a:t>ditranslasikan</a:t>
            </a:r>
            <a:endParaRPr lang="en-SG" sz="2000" dirty="0"/>
          </a:p>
          <a:p>
            <a:endParaRPr lang="en-SG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AA55-BABC-46C8-90B5-9C704A0AB885}" type="datetime1">
              <a:rPr lang="en-US" smtClean="0"/>
              <a:pPr/>
              <a:t>4/13/2026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9</a:t>
            </a:fld>
            <a:endParaRPr lang="en-SG" dirty="0"/>
          </a:p>
        </p:txBody>
      </p:sp>
      <p:grpSp>
        <p:nvGrpSpPr>
          <p:cNvPr id="7" name="Group 6"/>
          <p:cNvGrpSpPr/>
          <p:nvPr/>
        </p:nvGrpSpPr>
        <p:grpSpPr>
          <a:xfrm>
            <a:off x="2238349" y="3541734"/>
            <a:ext cx="8048625" cy="2816225"/>
            <a:chOff x="692150" y="3703638"/>
            <a:chExt cx="8048625" cy="2816225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 flipH="1">
              <a:off x="2584450" y="4445000"/>
              <a:ext cx="1574800" cy="12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692150" y="4394204"/>
              <a:ext cx="2846388" cy="1295402"/>
              <a:chOff x="658" y="1488"/>
              <a:chExt cx="1793" cy="816"/>
            </a:xfrm>
          </p:grpSpPr>
          <p:sp>
            <p:nvSpPr>
              <p:cNvPr id="97" name="Line 6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98" name="Line 7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99" name="Line 8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0" name="Line 9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1" name="Line 10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102" name="Line 11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103" name="Picture 12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4" name="Picture 13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5" name="Picture 14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6" name="Picture 15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7" name="Picture 16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8" name="Picture 17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09" name="Picture 18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0" name="Text Box 19"/>
            <p:cNvSpPr txBox="1">
              <a:spLocks noChangeArrowheads="1"/>
            </p:cNvSpPr>
            <p:nvPr/>
          </p:nvSpPr>
          <p:spPr bwMode="auto">
            <a:xfrm>
              <a:off x="1447800" y="3962400"/>
              <a:ext cx="14351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Ethernet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 flipH="1">
              <a:off x="1073150" y="47117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2" name="Group 21"/>
            <p:cNvGrpSpPr>
              <a:grpSpLocks/>
            </p:cNvGrpSpPr>
            <p:nvPr/>
          </p:nvGrpSpPr>
          <p:grpSpPr bwMode="auto">
            <a:xfrm>
              <a:off x="4041775" y="4368800"/>
              <a:ext cx="887413" cy="203200"/>
              <a:chOff x="4018" y="2032"/>
              <a:chExt cx="559" cy="128"/>
            </a:xfrm>
          </p:grpSpPr>
          <p:sp>
            <p:nvSpPr>
              <p:cNvPr id="45" name="Freeform 22"/>
              <p:cNvSpPr>
                <a:spLocks/>
              </p:cNvSpPr>
              <p:nvPr/>
            </p:nvSpPr>
            <p:spPr bwMode="auto">
              <a:xfrm>
                <a:off x="4018" y="2032"/>
                <a:ext cx="548" cy="36"/>
              </a:xfrm>
              <a:custGeom>
                <a:avLst/>
                <a:gdLst/>
                <a:ahLst/>
                <a:cxnLst>
                  <a:cxn ang="0">
                    <a:pos x="1098" y="71"/>
                  </a:cxn>
                  <a:cxn ang="0">
                    <a:pos x="79" y="71"/>
                  </a:cxn>
                  <a:cxn ang="0">
                    <a:pos x="0" y="0"/>
                  </a:cxn>
                  <a:cxn ang="0">
                    <a:pos x="1019" y="0"/>
                  </a:cxn>
                  <a:cxn ang="0">
                    <a:pos x="1098" y="71"/>
                  </a:cxn>
                </a:cxnLst>
                <a:rect l="0" t="0" r="r" b="b"/>
                <a:pathLst>
                  <a:path w="1098" h="71">
                    <a:moveTo>
                      <a:pt x="1098" y="71"/>
                    </a:moveTo>
                    <a:lnTo>
                      <a:pt x="79" y="71"/>
                    </a:lnTo>
                    <a:lnTo>
                      <a:pt x="0" y="0"/>
                    </a:lnTo>
                    <a:lnTo>
                      <a:pt x="1019" y="0"/>
                    </a:lnTo>
                    <a:lnTo>
                      <a:pt x="1098" y="71"/>
                    </a:lnTo>
                    <a:close/>
                  </a:path>
                </a:pathLst>
              </a:custGeom>
              <a:solidFill>
                <a:srgbClr val="E9E7D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6" name="Freeform 23"/>
              <p:cNvSpPr>
                <a:spLocks/>
              </p:cNvSpPr>
              <p:nvPr/>
            </p:nvSpPr>
            <p:spPr bwMode="auto">
              <a:xfrm>
                <a:off x="4019" y="2032"/>
                <a:ext cx="43" cy="128"/>
              </a:xfrm>
              <a:custGeom>
                <a:avLst/>
                <a:gdLst/>
                <a:ahLst/>
                <a:cxnLst>
                  <a:cxn ang="0">
                    <a:pos x="87" y="67"/>
                  </a:cxn>
                  <a:cxn ang="0">
                    <a:pos x="87" y="256"/>
                  </a:cxn>
                  <a:cxn ang="0">
                    <a:pos x="0" y="189"/>
                  </a:cxn>
                  <a:cxn ang="0">
                    <a:pos x="0" y="0"/>
                  </a:cxn>
                  <a:cxn ang="0">
                    <a:pos x="87" y="67"/>
                  </a:cxn>
                </a:cxnLst>
                <a:rect l="0" t="0" r="r" b="b"/>
                <a:pathLst>
                  <a:path w="87" h="256">
                    <a:moveTo>
                      <a:pt x="87" y="67"/>
                    </a:moveTo>
                    <a:lnTo>
                      <a:pt x="87" y="256"/>
                    </a:lnTo>
                    <a:lnTo>
                      <a:pt x="0" y="189"/>
                    </a:lnTo>
                    <a:lnTo>
                      <a:pt x="0" y="0"/>
                    </a:lnTo>
                    <a:lnTo>
                      <a:pt x="87" y="67"/>
                    </a:lnTo>
                    <a:close/>
                  </a:path>
                </a:pathLst>
              </a:custGeom>
              <a:solidFill>
                <a:srgbClr val="71675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4049" y="2064"/>
                <a:ext cx="528" cy="96"/>
              </a:xfrm>
              <a:prstGeom prst="rect">
                <a:avLst/>
              </a:prstGeom>
              <a:solidFill>
                <a:srgbClr val="BCB7A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grpSp>
            <p:nvGrpSpPr>
              <p:cNvPr id="48" name="Group 25"/>
              <p:cNvGrpSpPr>
                <a:grpSpLocks/>
              </p:cNvGrpSpPr>
              <p:nvPr/>
            </p:nvGrpSpPr>
            <p:grpSpPr bwMode="auto">
              <a:xfrm>
                <a:off x="4443" y="2075"/>
                <a:ext cx="102" cy="75"/>
                <a:chOff x="4381" y="2372"/>
                <a:chExt cx="102" cy="75"/>
              </a:xfrm>
            </p:grpSpPr>
            <p:grpSp>
              <p:nvGrpSpPr>
                <p:cNvPr id="49" name="Group 26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grpSp>
                <p:nvGrpSpPr>
                  <p:cNvPr id="90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4381" y="2372"/>
                    <a:ext cx="28" cy="35"/>
                    <a:chOff x="4381" y="2372"/>
                    <a:chExt cx="28" cy="35"/>
                  </a:xfrm>
                </p:grpSpPr>
                <p:sp>
                  <p:nvSpPr>
                    <p:cNvPr id="95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3" y="2373"/>
                      <a:ext cx="23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96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1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91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4384" y="2375"/>
                    <a:ext cx="22" cy="14"/>
                    <a:chOff x="4384" y="2375"/>
                    <a:chExt cx="22" cy="14"/>
                  </a:xfrm>
                </p:grpSpPr>
                <p:sp>
                  <p:nvSpPr>
                    <p:cNvPr id="93" name="Rectangle 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7" y="2377"/>
                      <a:ext cx="17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94" name="Rectangle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4" y="2375"/>
                      <a:ext cx="22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92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386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" name="Group 34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grpSp>
                <p:nvGrpSpPr>
                  <p:cNvPr id="83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4381" y="2412"/>
                    <a:ext cx="28" cy="35"/>
                    <a:chOff x="4381" y="2412"/>
                    <a:chExt cx="28" cy="35"/>
                  </a:xfrm>
                </p:grpSpPr>
                <p:sp>
                  <p:nvSpPr>
                    <p:cNvPr id="88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3" y="2413"/>
                      <a:ext cx="23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9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1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84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4384" y="2415"/>
                    <a:ext cx="22" cy="15"/>
                    <a:chOff x="4384" y="2415"/>
                    <a:chExt cx="22" cy="15"/>
                  </a:xfrm>
                </p:grpSpPr>
                <p:sp>
                  <p:nvSpPr>
                    <p:cNvPr id="86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7" y="2416"/>
                      <a:ext cx="17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7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84" y="2415"/>
                      <a:ext cx="22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85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4386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grpSp>
                <p:nvGrpSpPr>
                  <p:cNvPr id="76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4418" y="2372"/>
                    <a:ext cx="28" cy="35"/>
                    <a:chOff x="4418" y="2372"/>
                    <a:chExt cx="28" cy="35"/>
                  </a:xfrm>
                </p:grpSpPr>
                <p:sp>
                  <p:nvSpPr>
                    <p:cNvPr id="81" name="Rectangle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0" y="2373"/>
                      <a:ext cx="24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2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18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77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4422" y="2375"/>
                    <a:ext cx="21" cy="14"/>
                    <a:chOff x="4422" y="2375"/>
                    <a:chExt cx="21" cy="14"/>
                  </a:xfrm>
                </p:grpSpPr>
                <p:sp>
                  <p:nvSpPr>
                    <p:cNvPr id="79" name="Rectangle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4" y="2377"/>
                      <a:ext cx="16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80" name="Rectangle 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2" y="2375"/>
                      <a:ext cx="21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78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4423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2" name="Group 50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grpSp>
                <p:nvGrpSpPr>
                  <p:cNvPr id="69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4418" y="2412"/>
                    <a:ext cx="28" cy="35"/>
                    <a:chOff x="4418" y="2412"/>
                    <a:chExt cx="28" cy="35"/>
                  </a:xfrm>
                </p:grpSpPr>
                <p:sp>
                  <p:nvSpPr>
                    <p:cNvPr id="74" name="Rectangle 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0" y="2413"/>
                      <a:ext cx="24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75" name="Rectangle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18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70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4422" y="2415"/>
                    <a:ext cx="21" cy="15"/>
                    <a:chOff x="4422" y="2415"/>
                    <a:chExt cx="21" cy="15"/>
                  </a:xfrm>
                </p:grpSpPr>
                <p:sp>
                  <p:nvSpPr>
                    <p:cNvPr id="72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4" y="2416"/>
                      <a:ext cx="16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73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22" y="2415"/>
                      <a:ext cx="21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7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4423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3" name="Group 58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grpSp>
                <p:nvGrpSpPr>
                  <p:cNvPr id="62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4455" y="2372"/>
                    <a:ext cx="28" cy="35"/>
                    <a:chOff x="4455" y="2372"/>
                    <a:chExt cx="28" cy="35"/>
                  </a:xfrm>
                </p:grpSpPr>
                <p:sp>
                  <p:nvSpPr>
                    <p:cNvPr id="67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8" y="2373"/>
                      <a:ext cx="23" cy="3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8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5" y="237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63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4459" y="2375"/>
                    <a:ext cx="21" cy="14"/>
                    <a:chOff x="4459" y="2375"/>
                    <a:chExt cx="21" cy="14"/>
                  </a:xfrm>
                </p:grpSpPr>
                <p:sp>
                  <p:nvSpPr>
                    <p:cNvPr id="65" name="Rectangle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1" y="2377"/>
                      <a:ext cx="17" cy="1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6" name="Rectangle 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9" y="2375"/>
                      <a:ext cx="21" cy="14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64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4460" y="2376"/>
                    <a:ext cx="19" cy="18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4" name="Group 66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grpSp>
                <p:nvGrpSpPr>
                  <p:cNvPr id="55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4455" y="2412"/>
                    <a:ext cx="28" cy="35"/>
                    <a:chOff x="4455" y="2412"/>
                    <a:chExt cx="28" cy="35"/>
                  </a:xfrm>
                </p:grpSpPr>
                <p:sp>
                  <p:nvSpPr>
                    <p:cNvPr id="60" name="Rectangle 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8" y="2413"/>
                      <a:ext cx="23" cy="31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61" name="Rectangl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5" y="2412"/>
                      <a:ext cx="28" cy="3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grpSp>
                <p:nvGrpSpPr>
                  <p:cNvPr id="56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4459" y="2415"/>
                    <a:ext cx="21" cy="15"/>
                    <a:chOff x="4459" y="2415"/>
                    <a:chExt cx="21" cy="15"/>
                  </a:xfrm>
                </p:grpSpPr>
                <p:sp>
                  <p:nvSpPr>
                    <p:cNvPr id="58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1" y="2416"/>
                      <a:ext cx="17" cy="12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  <p:sp>
                  <p:nvSpPr>
                    <p:cNvPr id="59" name="Rectangle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59" y="2415"/>
                      <a:ext cx="21" cy="15"/>
                    </a:xfrm>
                    <a:prstGeom prst="rect">
                      <a:avLst/>
                    </a:prstGeom>
                    <a:solidFill>
                      <a:srgbClr val="322D26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SG"/>
                    </a:p>
                  </p:txBody>
                </p:sp>
              </p:grpSp>
              <p:sp>
                <p:nvSpPr>
                  <p:cNvPr id="57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4460" y="2415"/>
                    <a:ext cx="19" cy="19"/>
                  </a:xfrm>
                  <a:prstGeom prst="rect">
                    <a:avLst/>
                  </a:prstGeom>
                  <a:solidFill>
                    <a:srgbClr val="E9E7D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</p:grpSp>
        </p:grpSp>
        <p:sp>
          <p:nvSpPr>
            <p:cNvPr id="13" name="Line 74"/>
            <p:cNvSpPr>
              <a:spLocks noChangeShapeType="1"/>
            </p:cNvSpPr>
            <p:nvPr/>
          </p:nvSpPr>
          <p:spPr bwMode="auto">
            <a:xfrm flipH="1">
              <a:off x="4940300" y="4438650"/>
              <a:ext cx="1644650" cy="12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4" name="Text Box 75"/>
            <p:cNvSpPr txBox="1">
              <a:spLocks noChangeArrowheads="1"/>
            </p:cNvSpPr>
            <p:nvPr/>
          </p:nvSpPr>
          <p:spPr bwMode="auto">
            <a:xfrm>
              <a:off x="3962400" y="3987800"/>
              <a:ext cx="95885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latin typeface="Arial" pitchFamily="34" charset="0"/>
                </a:rPr>
                <a:t>bridge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15" name="Line 76"/>
            <p:cNvSpPr>
              <a:spLocks noChangeShapeType="1"/>
            </p:cNvSpPr>
            <p:nvPr/>
          </p:nvSpPr>
          <p:spPr bwMode="auto">
            <a:xfrm>
              <a:off x="3200400" y="4330700"/>
              <a:ext cx="533400" cy="22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16" name="Group 77"/>
            <p:cNvGrpSpPr>
              <a:grpSpLocks noChangeAspect="1"/>
            </p:cNvGrpSpPr>
            <p:nvPr/>
          </p:nvGrpSpPr>
          <p:grpSpPr bwMode="auto">
            <a:xfrm>
              <a:off x="6329367" y="4138611"/>
              <a:ext cx="1939927" cy="1938337"/>
              <a:chOff x="3613" y="1317"/>
              <a:chExt cx="1627" cy="1626"/>
            </a:xfrm>
          </p:grpSpPr>
          <p:sp>
            <p:nvSpPr>
              <p:cNvPr id="28" name="Freeform 78"/>
              <p:cNvSpPr>
                <a:spLocks noChangeAspect="1"/>
              </p:cNvSpPr>
              <p:nvPr/>
            </p:nvSpPr>
            <p:spPr bwMode="auto">
              <a:xfrm>
                <a:off x="3765" y="1461"/>
                <a:ext cx="1338" cy="1338"/>
              </a:xfrm>
              <a:custGeom>
                <a:avLst/>
                <a:gdLst/>
                <a:ahLst/>
                <a:cxnLst>
                  <a:cxn ang="0">
                    <a:pos x="667" y="1334"/>
                  </a:cxn>
                  <a:cxn ang="0">
                    <a:pos x="778" y="1329"/>
                  </a:cxn>
                  <a:cxn ang="0">
                    <a:pos x="880" y="1304"/>
                  </a:cxn>
                  <a:cxn ang="0">
                    <a:pos x="977" y="1261"/>
                  </a:cxn>
                  <a:cxn ang="0">
                    <a:pos x="1062" y="1206"/>
                  </a:cxn>
                  <a:cxn ang="0">
                    <a:pos x="1143" y="1143"/>
                  </a:cxn>
                  <a:cxn ang="0">
                    <a:pos x="1207" y="1062"/>
                  </a:cxn>
                  <a:cxn ang="0">
                    <a:pos x="1262" y="977"/>
                  </a:cxn>
                  <a:cxn ang="0">
                    <a:pos x="1304" y="879"/>
                  </a:cxn>
                  <a:cxn ang="0">
                    <a:pos x="1330" y="777"/>
                  </a:cxn>
                  <a:cxn ang="0">
                    <a:pos x="1338" y="671"/>
                  </a:cxn>
                  <a:cxn ang="0">
                    <a:pos x="1330" y="561"/>
                  </a:cxn>
                  <a:cxn ang="0">
                    <a:pos x="1304" y="459"/>
                  </a:cxn>
                  <a:cxn ang="0">
                    <a:pos x="1262" y="361"/>
                  </a:cxn>
                  <a:cxn ang="0">
                    <a:pos x="1207" y="276"/>
                  </a:cxn>
                  <a:cxn ang="0">
                    <a:pos x="1143" y="196"/>
                  </a:cxn>
                  <a:cxn ang="0">
                    <a:pos x="1062" y="132"/>
                  </a:cxn>
                  <a:cxn ang="0">
                    <a:pos x="977" y="77"/>
                  </a:cxn>
                  <a:cxn ang="0">
                    <a:pos x="880" y="34"/>
                  </a:cxn>
                  <a:cxn ang="0">
                    <a:pos x="778" y="9"/>
                  </a:cxn>
                  <a:cxn ang="0">
                    <a:pos x="667" y="0"/>
                  </a:cxn>
                  <a:cxn ang="0">
                    <a:pos x="561" y="9"/>
                  </a:cxn>
                  <a:cxn ang="0">
                    <a:pos x="459" y="34"/>
                  </a:cxn>
                  <a:cxn ang="0">
                    <a:pos x="361" y="77"/>
                  </a:cxn>
                  <a:cxn ang="0">
                    <a:pos x="276" y="132"/>
                  </a:cxn>
                  <a:cxn ang="0">
                    <a:pos x="196" y="196"/>
                  </a:cxn>
                  <a:cxn ang="0">
                    <a:pos x="132" y="276"/>
                  </a:cxn>
                  <a:cxn ang="0">
                    <a:pos x="77" y="361"/>
                  </a:cxn>
                  <a:cxn ang="0">
                    <a:pos x="34" y="459"/>
                  </a:cxn>
                  <a:cxn ang="0">
                    <a:pos x="9" y="561"/>
                  </a:cxn>
                  <a:cxn ang="0">
                    <a:pos x="0" y="671"/>
                  </a:cxn>
                  <a:cxn ang="0">
                    <a:pos x="9" y="777"/>
                  </a:cxn>
                  <a:cxn ang="0">
                    <a:pos x="34" y="879"/>
                  </a:cxn>
                  <a:cxn ang="0">
                    <a:pos x="77" y="977"/>
                  </a:cxn>
                  <a:cxn ang="0">
                    <a:pos x="132" y="1062"/>
                  </a:cxn>
                  <a:cxn ang="0">
                    <a:pos x="196" y="1143"/>
                  </a:cxn>
                  <a:cxn ang="0">
                    <a:pos x="276" y="1206"/>
                  </a:cxn>
                  <a:cxn ang="0">
                    <a:pos x="361" y="1261"/>
                  </a:cxn>
                  <a:cxn ang="0">
                    <a:pos x="459" y="1304"/>
                  </a:cxn>
                  <a:cxn ang="0">
                    <a:pos x="561" y="1329"/>
                  </a:cxn>
                  <a:cxn ang="0">
                    <a:pos x="667" y="1338"/>
                  </a:cxn>
                  <a:cxn ang="0">
                    <a:pos x="667" y="1338"/>
                  </a:cxn>
                </a:cxnLst>
                <a:rect l="0" t="0" r="r" b="b"/>
                <a:pathLst>
                  <a:path w="1338" h="1338">
                    <a:moveTo>
                      <a:pt x="667" y="1334"/>
                    </a:moveTo>
                    <a:lnTo>
                      <a:pt x="778" y="1329"/>
                    </a:lnTo>
                    <a:lnTo>
                      <a:pt x="880" y="1304"/>
                    </a:lnTo>
                    <a:lnTo>
                      <a:pt x="977" y="1261"/>
                    </a:lnTo>
                    <a:lnTo>
                      <a:pt x="1062" y="1206"/>
                    </a:lnTo>
                    <a:lnTo>
                      <a:pt x="1143" y="1143"/>
                    </a:lnTo>
                    <a:lnTo>
                      <a:pt x="1207" y="1062"/>
                    </a:lnTo>
                    <a:lnTo>
                      <a:pt x="1262" y="977"/>
                    </a:lnTo>
                    <a:lnTo>
                      <a:pt x="1304" y="879"/>
                    </a:lnTo>
                    <a:lnTo>
                      <a:pt x="1330" y="777"/>
                    </a:lnTo>
                    <a:lnTo>
                      <a:pt x="1338" y="671"/>
                    </a:lnTo>
                    <a:lnTo>
                      <a:pt x="1330" y="561"/>
                    </a:lnTo>
                    <a:lnTo>
                      <a:pt x="1304" y="459"/>
                    </a:lnTo>
                    <a:lnTo>
                      <a:pt x="1262" y="361"/>
                    </a:lnTo>
                    <a:lnTo>
                      <a:pt x="1207" y="276"/>
                    </a:lnTo>
                    <a:lnTo>
                      <a:pt x="1143" y="196"/>
                    </a:lnTo>
                    <a:lnTo>
                      <a:pt x="1062" y="132"/>
                    </a:lnTo>
                    <a:lnTo>
                      <a:pt x="977" y="77"/>
                    </a:lnTo>
                    <a:lnTo>
                      <a:pt x="880" y="34"/>
                    </a:lnTo>
                    <a:lnTo>
                      <a:pt x="778" y="9"/>
                    </a:lnTo>
                    <a:lnTo>
                      <a:pt x="667" y="0"/>
                    </a:lnTo>
                    <a:lnTo>
                      <a:pt x="561" y="9"/>
                    </a:lnTo>
                    <a:lnTo>
                      <a:pt x="459" y="34"/>
                    </a:lnTo>
                    <a:lnTo>
                      <a:pt x="361" y="77"/>
                    </a:lnTo>
                    <a:lnTo>
                      <a:pt x="276" y="132"/>
                    </a:lnTo>
                    <a:lnTo>
                      <a:pt x="196" y="196"/>
                    </a:lnTo>
                    <a:lnTo>
                      <a:pt x="132" y="276"/>
                    </a:lnTo>
                    <a:lnTo>
                      <a:pt x="77" y="361"/>
                    </a:lnTo>
                    <a:lnTo>
                      <a:pt x="34" y="459"/>
                    </a:lnTo>
                    <a:lnTo>
                      <a:pt x="9" y="561"/>
                    </a:lnTo>
                    <a:lnTo>
                      <a:pt x="0" y="671"/>
                    </a:lnTo>
                    <a:lnTo>
                      <a:pt x="9" y="777"/>
                    </a:lnTo>
                    <a:lnTo>
                      <a:pt x="34" y="879"/>
                    </a:lnTo>
                    <a:lnTo>
                      <a:pt x="77" y="977"/>
                    </a:lnTo>
                    <a:lnTo>
                      <a:pt x="132" y="1062"/>
                    </a:lnTo>
                    <a:lnTo>
                      <a:pt x="196" y="1143"/>
                    </a:lnTo>
                    <a:lnTo>
                      <a:pt x="276" y="1206"/>
                    </a:lnTo>
                    <a:lnTo>
                      <a:pt x="361" y="1261"/>
                    </a:lnTo>
                    <a:lnTo>
                      <a:pt x="459" y="1304"/>
                    </a:lnTo>
                    <a:lnTo>
                      <a:pt x="561" y="1329"/>
                    </a:lnTo>
                    <a:lnTo>
                      <a:pt x="667" y="1338"/>
                    </a:lnTo>
                    <a:lnTo>
                      <a:pt x="667" y="1338"/>
                    </a:lnTo>
                  </a:path>
                </a:pathLst>
              </a:custGeom>
              <a:noFill/>
              <a:ln w="26988">
                <a:solidFill>
                  <a:srgbClr val="008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29" name="Line 79"/>
              <p:cNvSpPr>
                <a:spLocks noChangeAspect="1" noChangeShapeType="1"/>
              </p:cNvSpPr>
              <p:nvPr/>
            </p:nvSpPr>
            <p:spPr bwMode="auto">
              <a:xfrm>
                <a:off x="4424" y="1317"/>
                <a:ext cx="1" cy="102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0" name="Freeform 80"/>
              <p:cNvSpPr>
                <a:spLocks noChangeAspect="1"/>
              </p:cNvSpPr>
              <p:nvPr/>
            </p:nvSpPr>
            <p:spPr bwMode="auto">
              <a:xfrm>
                <a:off x="4382" y="1415"/>
                <a:ext cx="85" cy="89"/>
              </a:xfrm>
              <a:custGeom>
                <a:avLst/>
                <a:gdLst/>
                <a:ahLst/>
                <a:cxnLst>
                  <a:cxn ang="0">
                    <a:pos x="85" y="89"/>
                  </a:cxn>
                  <a:cxn ang="0">
                    <a:pos x="85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5" y="89"/>
                  </a:cxn>
                  <a:cxn ang="0">
                    <a:pos x="85" y="89"/>
                  </a:cxn>
                </a:cxnLst>
                <a:rect l="0" t="0" r="r" b="b"/>
                <a:pathLst>
                  <a:path w="85" h="89">
                    <a:moveTo>
                      <a:pt x="85" y="89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5" y="89"/>
                    </a:lnTo>
                    <a:lnTo>
                      <a:pt x="85" y="8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1" name="Line 81"/>
              <p:cNvSpPr>
                <a:spLocks noChangeAspect="1" noChangeShapeType="1"/>
              </p:cNvSpPr>
              <p:nvPr/>
            </p:nvSpPr>
            <p:spPr bwMode="auto">
              <a:xfrm>
                <a:off x="5138" y="2128"/>
                <a:ext cx="102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" name="Freeform 82"/>
              <p:cNvSpPr>
                <a:spLocks noChangeAspect="1"/>
              </p:cNvSpPr>
              <p:nvPr/>
            </p:nvSpPr>
            <p:spPr bwMode="auto">
              <a:xfrm>
                <a:off x="5053" y="2086"/>
                <a:ext cx="89" cy="89"/>
              </a:xfrm>
              <a:custGeom>
                <a:avLst/>
                <a:gdLst/>
                <a:ahLst/>
                <a:cxnLst>
                  <a:cxn ang="0">
                    <a:pos x="85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5" y="84"/>
                  </a:cxn>
                </a:cxnLst>
                <a:rect l="0" t="0" r="r" b="b"/>
                <a:pathLst>
                  <a:path w="89" h="89">
                    <a:moveTo>
                      <a:pt x="85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5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3" name="Line 83"/>
              <p:cNvSpPr>
                <a:spLocks noChangeAspect="1" noChangeShapeType="1"/>
              </p:cNvSpPr>
              <p:nvPr/>
            </p:nvSpPr>
            <p:spPr bwMode="auto">
              <a:xfrm>
                <a:off x="3613" y="2128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4" name="Freeform 84"/>
              <p:cNvSpPr>
                <a:spLocks noChangeAspect="1"/>
              </p:cNvSpPr>
              <p:nvPr/>
            </p:nvSpPr>
            <p:spPr bwMode="auto">
              <a:xfrm>
                <a:off x="3711" y="2086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5" name="Line 85"/>
              <p:cNvSpPr>
                <a:spLocks noChangeAspect="1" noChangeShapeType="1"/>
              </p:cNvSpPr>
              <p:nvPr/>
            </p:nvSpPr>
            <p:spPr bwMode="auto">
              <a:xfrm>
                <a:off x="4424" y="2841"/>
                <a:ext cx="1" cy="102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6" name="Freeform 86"/>
              <p:cNvSpPr>
                <a:spLocks noChangeAspect="1"/>
              </p:cNvSpPr>
              <p:nvPr/>
            </p:nvSpPr>
            <p:spPr bwMode="auto">
              <a:xfrm>
                <a:off x="4382" y="2756"/>
                <a:ext cx="85" cy="90"/>
              </a:xfrm>
              <a:custGeom>
                <a:avLst/>
                <a:gdLst/>
                <a:ahLst/>
                <a:cxnLst>
                  <a:cxn ang="0">
                    <a:pos x="85" y="85"/>
                  </a:cxn>
                  <a:cxn ang="0">
                    <a:pos x="85" y="0"/>
                  </a:cxn>
                  <a:cxn ang="0">
                    <a:pos x="0" y="0"/>
                  </a:cxn>
                  <a:cxn ang="0">
                    <a:pos x="0" y="90"/>
                  </a:cxn>
                  <a:cxn ang="0">
                    <a:pos x="85" y="90"/>
                  </a:cxn>
                  <a:cxn ang="0">
                    <a:pos x="85" y="90"/>
                  </a:cxn>
                  <a:cxn ang="0">
                    <a:pos x="85" y="85"/>
                  </a:cxn>
                </a:cxnLst>
                <a:rect l="0" t="0" r="r" b="b"/>
                <a:pathLst>
                  <a:path w="85" h="90">
                    <a:moveTo>
                      <a:pt x="85" y="85"/>
                    </a:moveTo>
                    <a:lnTo>
                      <a:pt x="85" y="0"/>
                    </a:lnTo>
                    <a:lnTo>
                      <a:pt x="0" y="0"/>
                    </a:lnTo>
                    <a:lnTo>
                      <a:pt x="0" y="90"/>
                    </a:lnTo>
                    <a:lnTo>
                      <a:pt x="85" y="90"/>
                    </a:lnTo>
                    <a:lnTo>
                      <a:pt x="85" y="90"/>
                    </a:lnTo>
                    <a:lnTo>
                      <a:pt x="85" y="85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7" name="Line 87"/>
              <p:cNvSpPr>
                <a:spLocks noChangeAspect="1" noChangeShapeType="1"/>
              </p:cNvSpPr>
              <p:nvPr/>
            </p:nvSpPr>
            <p:spPr bwMode="auto">
              <a:xfrm rot="-2298302">
                <a:off x="3831" y="2638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8" name="Freeform 88"/>
              <p:cNvSpPr>
                <a:spLocks noChangeAspect="1"/>
              </p:cNvSpPr>
              <p:nvPr/>
            </p:nvSpPr>
            <p:spPr bwMode="auto">
              <a:xfrm rot="-2298302">
                <a:off x="3910" y="2538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9" name="Line 89"/>
              <p:cNvSpPr>
                <a:spLocks noChangeAspect="1" noChangeShapeType="1"/>
              </p:cNvSpPr>
              <p:nvPr/>
            </p:nvSpPr>
            <p:spPr bwMode="auto">
              <a:xfrm rot="2298302" flipV="1">
                <a:off x="3806" y="1615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0" name="Freeform 90"/>
              <p:cNvSpPr>
                <a:spLocks noChangeAspect="1"/>
              </p:cNvSpPr>
              <p:nvPr/>
            </p:nvSpPr>
            <p:spPr bwMode="auto">
              <a:xfrm rot="2298302" flipV="1">
                <a:off x="3885" y="1628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1" name="Line 91"/>
              <p:cNvSpPr>
                <a:spLocks noChangeAspect="1" noChangeShapeType="1"/>
              </p:cNvSpPr>
              <p:nvPr/>
            </p:nvSpPr>
            <p:spPr bwMode="auto">
              <a:xfrm rot="8352490" flipV="1">
                <a:off x="4921" y="1594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2" name="Freeform 92"/>
              <p:cNvSpPr>
                <a:spLocks noChangeAspect="1"/>
              </p:cNvSpPr>
              <p:nvPr/>
            </p:nvSpPr>
            <p:spPr bwMode="auto">
              <a:xfrm rot="8352490" flipV="1">
                <a:off x="4855" y="1613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3" name="Line 93"/>
              <p:cNvSpPr>
                <a:spLocks noChangeAspect="1" noChangeShapeType="1"/>
              </p:cNvSpPr>
              <p:nvPr/>
            </p:nvSpPr>
            <p:spPr bwMode="auto">
              <a:xfrm rot="-7932795">
                <a:off x="4911" y="2677"/>
                <a:ext cx="98" cy="1"/>
              </a:xfrm>
              <a:prstGeom prst="line">
                <a:avLst/>
              </a:prstGeom>
              <a:noFill/>
              <a:ln w="127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4" name="Freeform 94"/>
              <p:cNvSpPr>
                <a:spLocks noChangeAspect="1"/>
              </p:cNvSpPr>
              <p:nvPr/>
            </p:nvSpPr>
            <p:spPr bwMode="auto">
              <a:xfrm rot="-7932795">
                <a:off x="4853" y="2562"/>
                <a:ext cx="89" cy="89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9" y="0"/>
                  </a:cxn>
                  <a:cxn ang="0">
                    <a:pos x="0" y="0"/>
                  </a:cxn>
                  <a:cxn ang="0">
                    <a:pos x="0" y="89"/>
                  </a:cxn>
                  <a:cxn ang="0">
                    <a:pos x="89" y="89"/>
                  </a:cxn>
                  <a:cxn ang="0">
                    <a:pos x="89" y="89"/>
                  </a:cxn>
                  <a:cxn ang="0">
                    <a:pos x="89" y="84"/>
                  </a:cxn>
                </a:cxnLst>
                <a:rect l="0" t="0" r="r" b="b"/>
                <a:pathLst>
                  <a:path w="89" h="89">
                    <a:moveTo>
                      <a:pt x="89" y="84"/>
                    </a:moveTo>
                    <a:lnTo>
                      <a:pt x="89" y="0"/>
                    </a:lnTo>
                    <a:lnTo>
                      <a:pt x="0" y="0"/>
                    </a:lnTo>
                    <a:lnTo>
                      <a:pt x="0" y="89"/>
                    </a:lnTo>
                    <a:lnTo>
                      <a:pt x="89" y="89"/>
                    </a:lnTo>
                    <a:lnTo>
                      <a:pt x="89" y="89"/>
                    </a:lnTo>
                    <a:lnTo>
                      <a:pt x="89" y="84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SG"/>
              </a:p>
            </p:txBody>
          </p:sp>
        </p:grpSp>
        <p:pic>
          <p:nvPicPr>
            <p:cNvPr id="17" name="Picture 95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48500" y="37036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8" name="Picture 96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937500" y="40592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9" name="Picture 97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8216900" y="48466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" name="Picture 98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924800" y="57610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1" name="Picture 99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210300" y="55705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" name="Picture 100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5981700" y="487203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Text Box 101"/>
            <p:cNvSpPr txBox="1">
              <a:spLocks noChangeArrowheads="1"/>
            </p:cNvSpPr>
            <p:nvPr/>
          </p:nvSpPr>
          <p:spPr bwMode="auto">
            <a:xfrm>
              <a:off x="6594475" y="4943475"/>
              <a:ext cx="14351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rgbClr val="008000"/>
                  </a:solidFill>
                  <a:latin typeface="Arial" pitchFamily="34" charset="0"/>
                </a:rPr>
                <a:t>Token Ring</a:t>
              </a:r>
              <a:endParaRPr lang="th-TH" sz="28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24" name="Line 102"/>
            <p:cNvSpPr>
              <a:spLocks noChangeShapeType="1"/>
            </p:cNvSpPr>
            <p:nvPr/>
          </p:nvSpPr>
          <p:spPr bwMode="auto">
            <a:xfrm>
              <a:off x="6562725" y="4445000"/>
              <a:ext cx="95250" cy="85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5" name="Arc 103"/>
            <p:cNvSpPr>
              <a:spLocks/>
            </p:cNvSpPr>
            <p:nvPr/>
          </p:nvSpPr>
          <p:spPr bwMode="auto">
            <a:xfrm rot="856184" flipH="1">
              <a:off x="6789738" y="4452938"/>
              <a:ext cx="863600" cy="842962"/>
            </a:xfrm>
            <a:custGeom>
              <a:avLst/>
              <a:gdLst>
                <a:gd name="G0" fmla="+- 0 0 0"/>
                <a:gd name="G1" fmla="+- 17974 0 0"/>
                <a:gd name="G2" fmla="+- 21600 0 0"/>
                <a:gd name="T0" fmla="*/ 11979 w 17370"/>
                <a:gd name="T1" fmla="*/ 0 h 17974"/>
                <a:gd name="T2" fmla="*/ 17370 w 17370"/>
                <a:gd name="T3" fmla="*/ 5134 h 17974"/>
                <a:gd name="T4" fmla="*/ 0 w 17370"/>
                <a:gd name="T5" fmla="*/ 17974 h 17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370" h="17974" fill="none" extrusionOk="0">
                  <a:moveTo>
                    <a:pt x="11978" y="0"/>
                  </a:moveTo>
                  <a:cubicBezTo>
                    <a:pt x="14059" y="1386"/>
                    <a:pt x="15883" y="3123"/>
                    <a:pt x="17369" y="5134"/>
                  </a:cubicBezTo>
                </a:path>
                <a:path w="17370" h="17974" stroke="0" extrusionOk="0">
                  <a:moveTo>
                    <a:pt x="11978" y="0"/>
                  </a:moveTo>
                  <a:cubicBezTo>
                    <a:pt x="14059" y="1386"/>
                    <a:pt x="15883" y="3123"/>
                    <a:pt x="17369" y="5134"/>
                  </a:cubicBezTo>
                  <a:lnTo>
                    <a:pt x="0" y="17974"/>
                  </a:lnTo>
                  <a:close/>
                </a:path>
              </a:pathLst>
            </a:custGeom>
            <a:noFill/>
            <a:ln w="57150">
              <a:solidFill>
                <a:srgbClr val="008000"/>
              </a:solidFill>
              <a:round/>
              <a:headEnd/>
              <a:tailEnd type="triangle" w="sm" len="sm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6" name="Line 104"/>
            <p:cNvSpPr>
              <a:spLocks noChangeShapeType="1"/>
            </p:cNvSpPr>
            <p:nvPr/>
          </p:nvSpPr>
          <p:spPr bwMode="auto">
            <a:xfrm flipH="1">
              <a:off x="5102225" y="4368800"/>
              <a:ext cx="657225" cy="317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pic>
          <p:nvPicPr>
            <p:cNvPr id="27" name="Picture 105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96125" y="6034088"/>
              <a:ext cx="523875" cy="485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8856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SG" dirty="0" err="1" smtClean="0"/>
              <a:t>Sebuah</a:t>
            </a:r>
            <a:r>
              <a:rPr lang="en-SG" dirty="0" smtClean="0"/>
              <a:t> bridge </a:t>
            </a:r>
            <a:r>
              <a:rPr lang="en-SG" dirty="0" err="1" smtClean="0"/>
              <a:t>tidak</a:t>
            </a:r>
            <a:r>
              <a:rPr lang="en-SG" dirty="0" smtClean="0"/>
              <a:t> </a:t>
            </a:r>
            <a:r>
              <a:rPr lang="en-SG" dirty="0" err="1" smtClean="0"/>
              <a:t>dapat</a:t>
            </a:r>
            <a:r>
              <a:rPr lang="en-SG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en-SG" dirty="0" err="1" smtClean="0"/>
              <a:t>menentukan</a:t>
            </a:r>
            <a:r>
              <a:rPr lang="en-SG" dirty="0" smtClean="0"/>
              <a:t> </a:t>
            </a:r>
            <a:r>
              <a:rPr lang="en-SG" dirty="0" err="1" smtClean="0"/>
              <a:t>jalur</a:t>
            </a:r>
            <a:r>
              <a:rPr lang="en-SG" dirty="0" smtClean="0"/>
              <a:t> </a:t>
            </a:r>
            <a:r>
              <a:rPr lang="en-SG" dirty="0" err="1" smtClean="0"/>
              <a:t>mana</a:t>
            </a:r>
            <a:r>
              <a:rPr lang="en-SG" dirty="0" smtClean="0"/>
              <a:t> yang paling </a:t>
            </a:r>
            <a:r>
              <a:rPr lang="en-SG" dirty="0" err="1" smtClean="0"/>
              <a:t>efisien</a:t>
            </a:r>
            <a:r>
              <a:rPr lang="en-SG" dirty="0" smtClean="0"/>
              <a:t> </a:t>
            </a:r>
            <a:r>
              <a:rPr lang="en-SG" dirty="0" err="1" smtClean="0"/>
              <a:t>untuk</a:t>
            </a:r>
            <a:r>
              <a:rPr lang="en-SG" dirty="0" smtClean="0"/>
              <a:t> </a:t>
            </a:r>
            <a:r>
              <a:rPr lang="en-SG" dirty="0" err="1" smtClean="0"/>
              <a:t>mentransmisikan</a:t>
            </a:r>
            <a:r>
              <a:rPr lang="en-SG" dirty="0" smtClean="0"/>
              <a:t> data</a:t>
            </a:r>
          </a:p>
          <a:p>
            <a:pPr lvl="1">
              <a:lnSpc>
                <a:spcPct val="120000"/>
              </a:lnSpc>
            </a:pPr>
            <a:r>
              <a:rPr lang="en-SG" dirty="0" err="1" smtClean="0"/>
              <a:t>menyediakan</a:t>
            </a:r>
            <a:r>
              <a:rPr lang="en-SG" dirty="0" smtClean="0"/>
              <a:t> </a:t>
            </a:r>
            <a:r>
              <a:rPr lang="en-SG" dirty="0" err="1" smtClean="0"/>
              <a:t>fungsi</a:t>
            </a:r>
            <a:r>
              <a:rPr lang="en-SG" dirty="0" smtClean="0"/>
              <a:t> traffic management (</a:t>
            </a:r>
            <a:r>
              <a:rPr lang="en-SG" dirty="0" err="1" smtClean="0"/>
              <a:t>melewatkan</a:t>
            </a:r>
            <a:r>
              <a:rPr lang="en-SG" dirty="0" smtClean="0"/>
              <a:t> </a:t>
            </a:r>
            <a:r>
              <a:rPr lang="en-SG" dirty="0" err="1" smtClean="0"/>
              <a:t>kemacetan</a:t>
            </a:r>
            <a:r>
              <a:rPr lang="en-SG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en-SG" dirty="0" err="1" smtClean="0"/>
              <a:t>Fungsi-fungsi</a:t>
            </a:r>
            <a:r>
              <a:rPr lang="en-SG" dirty="0" smtClean="0"/>
              <a:t> bridge </a:t>
            </a:r>
            <a:r>
              <a:rPr lang="en-SG" dirty="0" err="1" smtClean="0"/>
              <a:t>dapat</a:t>
            </a:r>
            <a:r>
              <a:rPr lang="en-SG" dirty="0" smtClean="0"/>
              <a:t> </a:t>
            </a:r>
            <a:r>
              <a:rPr lang="en-SG" dirty="0" err="1" smtClean="0"/>
              <a:t>dilakukan</a:t>
            </a:r>
            <a:r>
              <a:rPr lang="en-SG" dirty="0" smtClean="0"/>
              <a:t> </a:t>
            </a:r>
            <a:r>
              <a:rPr lang="en-SG" dirty="0" err="1" smtClean="0"/>
              <a:t>oleh</a:t>
            </a:r>
            <a:r>
              <a:rPr lang="en-SG" dirty="0" smtClean="0"/>
              <a:t> </a:t>
            </a:r>
            <a:r>
              <a:rPr lang="en-SG" dirty="0" err="1" smtClean="0"/>
              <a:t>sebuah</a:t>
            </a:r>
            <a:r>
              <a:rPr lang="en-SG" dirty="0" smtClean="0"/>
              <a:t> server </a:t>
            </a:r>
            <a:r>
              <a:rPr lang="en-SG" dirty="0" err="1" smtClean="0"/>
              <a:t>atau</a:t>
            </a:r>
            <a:r>
              <a:rPr lang="en-SG" dirty="0" smtClean="0"/>
              <a:t> device bridge </a:t>
            </a:r>
            <a:r>
              <a:rPr lang="en-SG" dirty="0" err="1" smtClean="0"/>
              <a:t>mandiri</a:t>
            </a:r>
            <a:r>
              <a:rPr lang="en-SG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en-SG" dirty="0" err="1" smtClean="0"/>
              <a:t>Aturan</a:t>
            </a:r>
            <a:r>
              <a:rPr lang="en-SG" dirty="0" smtClean="0"/>
              <a:t> </a:t>
            </a:r>
            <a:r>
              <a:rPr lang="en-SG" dirty="0" err="1" smtClean="0"/>
              <a:t>umumnya</a:t>
            </a:r>
            <a:r>
              <a:rPr lang="en-SG" dirty="0" smtClean="0"/>
              <a:t> </a:t>
            </a:r>
            <a:r>
              <a:rPr lang="en-SG" dirty="0" err="1" smtClean="0"/>
              <a:t>adalah</a:t>
            </a:r>
            <a:r>
              <a:rPr lang="en-SG" dirty="0" smtClean="0"/>
              <a:t> </a:t>
            </a:r>
            <a:r>
              <a:rPr lang="en-SG" dirty="0" err="1" smtClean="0"/>
              <a:t>tidak</a:t>
            </a:r>
            <a:r>
              <a:rPr lang="en-SG" dirty="0" smtClean="0"/>
              <a:t> </a:t>
            </a:r>
            <a:r>
              <a:rPr lang="en-SG" dirty="0" err="1" smtClean="0"/>
              <a:t>boleh</a:t>
            </a:r>
            <a:r>
              <a:rPr lang="en-SG" dirty="0" smtClean="0"/>
              <a:t> </a:t>
            </a:r>
            <a:r>
              <a:rPr lang="en-SG" dirty="0" err="1" smtClean="0"/>
              <a:t>ada</a:t>
            </a:r>
            <a:r>
              <a:rPr lang="en-SG" dirty="0" smtClean="0"/>
              <a:t> </a:t>
            </a:r>
            <a:r>
              <a:rPr lang="en-SG" dirty="0" err="1" smtClean="0"/>
              <a:t>lebih</a:t>
            </a:r>
            <a:r>
              <a:rPr lang="en-SG" dirty="0" smtClean="0"/>
              <a:t> </a:t>
            </a:r>
            <a:r>
              <a:rPr lang="en-SG" dirty="0" err="1" smtClean="0"/>
              <a:t>dari</a:t>
            </a:r>
            <a:r>
              <a:rPr lang="en-SG" dirty="0" smtClean="0"/>
              <a:t> </a:t>
            </a:r>
            <a:r>
              <a:rPr lang="en-SG" dirty="0" err="1" smtClean="0"/>
              <a:t>empat</a:t>
            </a:r>
            <a:r>
              <a:rPr lang="en-SG" dirty="0" smtClean="0"/>
              <a:t> bridge </a:t>
            </a:r>
            <a:r>
              <a:rPr lang="en-SG" dirty="0" err="1" smtClean="0"/>
              <a:t>pada</a:t>
            </a:r>
            <a:r>
              <a:rPr lang="en-SG" dirty="0" smtClean="0"/>
              <a:t> </a:t>
            </a:r>
            <a:r>
              <a:rPr lang="en-SG" dirty="0" err="1" smtClean="0"/>
              <a:t>satu</a:t>
            </a:r>
            <a:r>
              <a:rPr lang="en-SG" dirty="0" smtClean="0"/>
              <a:t> LAN.</a:t>
            </a:r>
          </a:p>
          <a:p>
            <a:pPr>
              <a:lnSpc>
                <a:spcPct val="120000"/>
              </a:lnSpc>
            </a:pPr>
            <a:endParaRPr lang="en-SG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958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pic>
        <p:nvPicPr>
          <p:cNvPr id="424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1356" y="1643051"/>
            <a:ext cx="5305436" cy="460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11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Algoritma pada Bridge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Listen in promiscuous mode</a:t>
            </a:r>
            <a:endParaRPr lang="id-ID" dirty="0"/>
          </a:p>
          <a:p>
            <a:pPr marL="857250" lvl="1" indent="-400050"/>
            <a:r>
              <a:rPr lang="id-ID" dirty="0"/>
              <a:t>It learns all of the traffics that come to its ports</a:t>
            </a:r>
            <a:endParaRPr lang="en-US" dirty="0"/>
          </a:p>
          <a:p>
            <a:r>
              <a:rPr lang="en-US" dirty="0" err="1"/>
              <a:t>Mengamati</a:t>
            </a:r>
            <a:r>
              <a:rPr lang="en-US" dirty="0"/>
              <a:t> </a:t>
            </a:r>
            <a:r>
              <a:rPr lang="en-US" i="1" dirty="0"/>
              <a:t>source address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frame yang </a:t>
            </a:r>
            <a:r>
              <a:rPr lang="en-US" dirty="0" err="1"/>
              <a:t>masuk</a:t>
            </a:r>
            <a:endParaRPr lang="en-US" dirty="0"/>
          </a:p>
          <a:p>
            <a:pPr marL="857250" lvl="1" indent="-400050"/>
            <a:r>
              <a:rPr lang="en-US" dirty="0"/>
              <a:t>Bridge </a:t>
            </a:r>
            <a:r>
              <a:rPr lang="en-US" dirty="0" err="1"/>
              <a:t>menggunakan</a:t>
            </a:r>
            <a:r>
              <a:rPr lang="en-US" dirty="0"/>
              <a:t> source address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komputer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8543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Ilustrasi</a:t>
            </a:r>
            <a:r>
              <a:rPr lang="en-US" dirty="0" smtClean="0"/>
              <a:t> </a:t>
            </a:r>
            <a:r>
              <a:rPr lang="en-US" dirty="0" err="1" smtClean="0"/>
              <a:t>pembelajaran</a:t>
            </a:r>
            <a:r>
              <a:rPr lang="en-US" dirty="0" smtClean="0"/>
              <a:t> 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Bridge</a:t>
            </a:r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13</a:t>
            </a:fld>
            <a:endParaRPr lang="en-SG" dirty="0"/>
          </a:p>
        </p:txBody>
      </p:sp>
      <p:pic>
        <p:nvPicPr>
          <p:cNvPr id="4270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52" y="1665366"/>
            <a:ext cx="6391292" cy="447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4602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Satellite Bridging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14</a:t>
            </a:fld>
            <a:endParaRPr lang="en-SG" dirty="0"/>
          </a:p>
        </p:txBody>
      </p:sp>
      <p:pic>
        <p:nvPicPr>
          <p:cNvPr id="4280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4950" y="1690706"/>
            <a:ext cx="91821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88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Beberapa </a:t>
            </a:r>
            <a:r>
              <a:rPr lang="en-US" sz="2400" dirty="0" err="1"/>
              <a:t>jenis</a:t>
            </a:r>
            <a:r>
              <a:rPr lang="en-US" sz="2400" dirty="0"/>
              <a:t> bridge: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Transparent (learning) bridge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Biasa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Ethernet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Bridge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mengisi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forwarding-</a:t>
            </a:r>
            <a:r>
              <a:rPr lang="en-US" sz="1800" dirty="0" err="1"/>
              <a:t>nya</a:t>
            </a:r>
            <a:r>
              <a:rPr lang="en-US" sz="1800" dirty="0"/>
              <a:t> </a:t>
            </a:r>
            <a:r>
              <a:rPr lang="en-US" sz="1800" dirty="0" err="1"/>
              <a:t>melalui</a:t>
            </a:r>
            <a:r>
              <a:rPr lang="en-US" sz="1800" dirty="0"/>
              <a:t> </a:t>
            </a:r>
            <a:r>
              <a:rPr lang="en-US" sz="1800" dirty="0" err="1"/>
              <a:t>pembelajaran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 (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mengamati</a:t>
            </a:r>
            <a:r>
              <a:rPr lang="en-US" sz="1800" dirty="0"/>
              <a:t> alamat </a:t>
            </a:r>
            <a:r>
              <a:rPr lang="en-US" sz="1800" dirty="0" err="1"/>
              <a:t>sumber</a:t>
            </a:r>
            <a:r>
              <a:rPr lang="en-US" sz="1800" dirty="0"/>
              <a:t>)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Rawan</a:t>
            </a:r>
            <a:r>
              <a:rPr lang="en-US" sz="1800" dirty="0"/>
              <a:t> </a:t>
            </a:r>
            <a:r>
              <a:rPr lang="en-US" sz="1800" dirty="0" err="1"/>
              <a:t>terhadap</a:t>
            </a:r>
            <a:r>
              <a:rPr lang="en-US" sz="1800" dirty="0"/>
              <a:t> </a:t>
            </a:r>
            <a:r>
              <a:rPr lang="en-US" sz="1800" dirty="0" err="1"/>
              <a:t>masalah</a:t>
            </a:r>
            <a:r>
              <a:rPr lang="en-US" sz="1800" dirty="0"/>
              <a:t> loop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2000" dirty="0"/>
              <a:t>Source-routing bridge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Biasa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Token Ring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Bridge </a:t>
            </a:r>
            <a:r>
              <a:rPr lang="en-US" sz="1800" dirty="0" err="1"/>
              <a:t>sumber</a:t>
            </a:r>
            <a:r>
              <a:rPr lang="en-US" sz="1800" dirty="0"/>
              <a:t> </a:t>
            </a:r>
            <a:r>
              <a:rPr lang="en-US" sz="1800" dirty="0" err="1"/>
              <a:t>paket</a:t>
            </a:r>
            <a:r>
              <a:rPr lang="en-US" sz="1800" dirty="0"/>
              <a:t> </a:t>
            </a:r>
            <a:r>
              <a:rPr lang="en-US" sz="1800" dirty="0" err="1"/>
              <a:t>menentukan</a:t>
            </a:r>
            <a:r>
              <a:rPr lang="en-US" sz="1800" dirty="0"/>
              <a:t> </a:t>
            </a:r>
            <a:r>
              <a:rPr lang="en-US" sz="1800" dirty="0" err="1"/>
              <a:t>sendiri</a:t>
            </a:r>
            <a:r>
              <a:rPr lang="en-US" sz="1800" dirty="0"/>
              <a:t> bridge dan LAN </a:t>
            </a:r>
            <a:r>
              <a:rPr lang="en-US" sz="1800" dirty="0" err="1"/>
              <a:t>mana</a:t>
            </a:r>
            <a:r>
              <a:rPr lang="en-US" sz="1800" dirty="0"/>
              <a:t> yang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ditempuh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paket</a:t>
            </a:r>
            <a:r>
              <a:rPr lang="en-US" sz="1800" dirty="0"/>
              <a:t> agar </a:t>
            </a:r>
            <a:r>
              <a:rPr lang="en-US" sz="1800" dirty="0" err="1"/>
              <a:t>sampai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tujuan</a:t>
            </a:r>
            <a:r>
              <a:rPr lang="en-US" sz="1800" dirty="0"/>
              <a:t> </a:t>
            </a:r>
          </a:p>
          <a:p>
            <a:pPr lvl="3">
              <a:lnSpc>
                <a:spcPct val="80000"/>
              </a:lnSpc>
            </a:pPr>
            <a:r>
              <a:rPr lang="en-US" sz="1600" dirty="0"/>
              <a:t>Bisa </a:t>
            </a:r>
            <a:r>
              <a:rPr lang="en-US" sz="1600" dirty="0" err="1"/>
              <a:t>digunakan</a:t>
            </a:r>
            <a:r>
              <a:rPr lang="en-US" sz="1600" dirty="0"/>
              <a:t> pula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mencegah</a:t>
            </a:r>
            <a:r>
              <a:rPr lang="en-US" sz="1600" dirty="0"/>
              <a:t> loop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jaringan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bridge</a:t>
            </a:r>
          </a:p>
          <a:p>
            <a:pPr lvl="3">
              <a:lnSpc>
                <a:spcPct val="80000"/>
              </a:lnSpc>
            </a:pPr>
            <a:r>
              <a:rPr lang="id-ID" sz="1600" dirty="0"/>
              <a:t>C</a:t>
            </a:r>
            <a:r>
              <a:rPr lang="en-US" sz="1600" dirty="0" err="1"/>
              <a:t>ara</a:t>
            </a:r>
            <a:r>
              <a:rPr lang="en-US" sz="1600" dirty="0"/>
              <a:t> lain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mencegah</a:t>
            </a:r>
            <a:r>
              <a:rPr lang="en-US" sz="1600" dirty="0"/>
              <a:t> loop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menerapkan</a:t>
            </a:r>
            <a:r>
              <a:rPr lang="en-US" sz="1600" dirty="0"/>
              <a:t> Spanning Three Algorithm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Translation Bridge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Menghubungkan dua </a:t>
            </a:r>
            <a:r>
              <a:rPr lang="en-US" sz="1800" dirty="0" err="1"/>
              <a:t>jaringan</a:t>
            </a:r>
            <a:r>
              <a:rPr lang="en-US" sz="1800" dirty="0"/>
              <a:t> yang berbeda </a:t>
            </a:r>
            <a:r>
              <a:rPr lang="en-US" sz="1800" dirty="0" err="1"/>
              <a:t>arsitektur</a:t>
            </a:r>
            <a:endParaRPr lang="en-US" sz="1800" dirty="0"/>
          </a:p>
          <a:p>
            <a:pPr lvl="3">
              <a:lnSpc>
                <a:spcPct val="80000"/>
              </a:lnSpc>
            </a:pPr>
            <a:r>
              <a:rPr lang="en-US" sz="1600" dirty="0" err="1"/>
              <a:t>Misalnya</a:t>
            </a:r>
            <a:r>
              <a:rPr lang="en-US" sz="1600" dirty="0"/>
              <a:t> </a:t>
            </a:r>
            <a:r>
              <a:rPr lang="en-US" sz="1600" dirty="0" err="1"/>
              <a:t>antara</a:t>
            </a:r>
            <a:r>
              <a:rPr lang="en-US" sz="1600" dirty="0"/>
              <a:t> Token Ring </a:t>
            </a:r>
            <a:r>
              <a:rPr lang="en-US" sz="1600" dirty="0" err="1"/>
              <a:t>dengan</a:t>
            </a:r>
            <a:r>
              <a:rPr lang="en-US" sz="1600" dirty="0"/>
              <a:t> Ethernet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650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27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Spanning Tree Algorithm </a:t>
            </a:r>
            <a:br>
              <a:rPr lang="en-US" dirty="0" smtClean="0"/>
            </a:br>
            <a:r>
              <a:rPr lang="en-US" dirty="0" err="1" smtClean="0"/>
              <a:t>pada</a:t>
            </a:r>
            <a:r>
              <a:rPr lang="en-US" dirty="0" smtClean="0"/>
              <a:t> Bridge</a:t>
            </a:r>
            <a:endParaRPr lang="en-SG" dirty="0"/>
          </a:p>
        </p:txBody>
      </p:sp>
      <p:sp>
        <p:nvSpPr>
          <p:cNvPr id="278" name="Content Placeholder 277"/>
          <p:cNvSpPr>
            <a:spLocks noGrp="1"/>
          </p:cNvSpPr>
          <p:nvPr>
            <p:ph idx="1"/>
          </p:nvPr>
        </p:nvSpPr>
        <p:spPr>
          <a:xfrm>
            <a:off x="1881158" y="1600201"/>
            <a:ext cx="5429288" cy="4525963"/>
          </a:xfrm>
        </p:spPr>
        <p:txBody>
          <a:bodyPr>
            <a:normAutofit/>
          </a:bodyPr>
          <a:lstStyle/>
          <a:p>
            <a:pPr>
              <a:buSzPct val="75000"/>
              <a:buFont typeface="Webdings" pitchFamily="18" charset="2"/>
              <a:buChar char="8"/>
            </a:pPr>
            <a:r>
              <a:rPr lang="en-US" dirty="0" err="1"/>
              <a:t>Jaringan</a:t>
            </a:r>
            <a:r>
              <a:rPr lang="en-US" dirty="0"/>
              <a:t> yang </a:t>
            </a:r>
            <a:r>
              <a:rPr lang="en-US" dirty="0" err="1"/>
              <a:t>menggunakan</a:t>
            </a:r>
            <a:r>
              <a:rPr lang="en-US" dirty="0"/>
              <a:t> bridge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cycle</a:t>
            </a:r>
            <a:r>
              <a:rPr lang="id-ID" dirty="0"/>
              <a:t> (loop tertutup)</a:t>
            </a:r>
            <a:endParaRPr lang="en-US" dirty="0"/>
          </a:p>
          <a:p>
            <a:pPr>
              <a:buSzPct val="75000"/>
              <a:buFont typeface="Webdings" pitchFamily="18" charset="2"/>
              <a:buChar char="8"/>
            </a:pPr>
            <a:r>
              <a:rPr lang="id-ID" dirty="0"/>
              <a:t>Untuk mencegah adanya cycle, p</a:t>
            </a:r>
            <a:r>
              <a:rPr lang="en-US" dirty="0" err="1"/>
              <a:t>ada</a:t>
            </a:r>
            <a:r>
              <a:rPr lang="en-US" dirty="0"/>
              <a:t> bridge </a:t>
            </a:r>
            <a:r>
              <a:rPr lang="en-US" dirty="0" err="1"/>
              <a:t>diterapkan</a:t>
            </a:r>
            <a:r>
              <a:rPr lang="en-US" dirty="0"/>
              <a:t> spanning tree algorithm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/>
              <a:t>Memungkinkan </a:t>
            </a:r>
            <a:r>
              <a:rPr lang="en-US" dirty="0" err="1"/>
              <a:t>suatu</a:t>
            </a:r>
            <a:r>
              <a:rPr lang="en-US" dirty="0"/>
              <a:t> bridge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mengenali</a:t>
            </a:r>
            <a:r>
              <a:rPr lang="en-US" dirty="0"/>
              <a:t> bridge yang lain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/>
              <a:t>Dapat </a:t>
            </a:r>
            <a:r>
              <a:rPr lang="en-US" dirty="0" err="1"/>
              <a:t>memutuskan</a:t>
            </a:r>
            <a:r>
              <a:rPr lang="en-US" dirty="0"/>
              <a:t> </a:t>
            </a:r>
            <a:r>
              <a:rPr lang="en-US" dirty="0" err="1"/>
              <a:t>cyles</a:t>
            </a:r>
            <a:endParaRPr lang="en-US" dirty="0"/>
          </a:p>
          <a:p>
            <a:pPr lvl="2">
              <a:buFontTx/>
              <a:buChar char="•"/>
            </a:pPr>
            <a:r>
              <a:rPr lang="id-ID" dirty="0" smtClean="0"/>
              <a:t>Walaupun s</a:t>
            </a:r>
            <a:r>
              <a:rPr lang="en-US" dirty="0" err="1" smtClean="0"/>
              <a:t>ecara</a:t>
            </a:r>
            <a:r>
              <a:rPr lang="en-US" dirty="0" smtClean="0"/>
              <a:t> </a:t>
            </a:r>
            <a:r>
              <a:rPr lang="en-US" dirty="0" err="1" smtClean="0"/>
              <a:t>fisik</a:t>
            </a:r>
            <a:r>
              <a:rPr lang="en-US" dirty="0" smtClean="0"/>
              <a:t> </a:t>
            </a:r>
            <a:r>
              <a:rPr lang="id-ID" dirty="0" smtClean="0"/>
              <a:t>topologinya bisa berbentuk loop tertutup</a:t>
            </a:r>
            <a:endParaRPr lang="en-US" dirty="0" smtClean="0"/>
          </a:p>
          <a:p>
            <a:pPr lvl="1">
              <a:buFont typeface="Webdings" pitchFamily="18" charset="2"/>
              <a:buChar char="ò"/>
            </a:pPr>
            <a:endParaRPr lang="en-US" dirty="0"/>
          </a:p>
          <a:p>
            <a:pPr>
              <a:buSzPct val="75000"/>
              <a:buFont typeface="Webdings" pitchFamily="18" charset="2"/>
              <a:buChar char="8"/>
            </a:pPr>
            <a:endParaRPr lang="en-US" dirty="0"/>
          </a:p>
          <a:p>
            <a:endParaRPr lang="en-SG" dirty="0"/>
          </a:p>
        </p:txBody>
      </p:sp>
      <p:sp>
        <p:nvSpPr>
          <p:cNvPr id="28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28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27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16</a:t>
            </a:fld>
            <a:endParaRPr lang="en-SG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623301" y="2070100"/>
            <a:ext cx="887413" cy="203200"/>
            <a:chOff x="4018" y="2032"/>
            <a:chExt cx="559" cy="128"/>
          </a:xfrm>
        </p:grpSpPr>
        <p:sp>
          <p:nvSpPr>
            <p:cNvPr id="502791" name="Freeform 7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792" name="Freeform 8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793" name="Rectangle 9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797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79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6" name="Group 15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800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02" name="Rectangle 18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7" name="Group 19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8" name="Group 20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805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6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9" name="Group 23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80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09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10" name="Rectangle 26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11" name="Group 28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81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14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2" name="Group 31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816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17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18" name="Rectangle 34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3" name="Group 35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14" name="Group 36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821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22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5" name="Group 39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824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25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26" name="Rectangle 42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6" name="Group 43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17" name="Group 44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829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0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18" name="Group 47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832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3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34" name="Rectangle 50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19" name="Group 51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20" name="Group 52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837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38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1" name="Group 55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840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41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42" name="Rectangle 58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22" name="Group 59"/>
          <p:cNvGrpSpPr>
            <a:grpSpLocks/>
          </p:cNvGrpSpPr>
          <p:nvPr/>
        </p:nvGrpSpPr>
        <p:grpSpPr bwMode="auto">
          <a:xfrm>
            <a:off x="8001001" y="3479800"/>
            <a:ext cx="887413" cy="203200"/>
            <a:chOff x="4018" y="2032"/>
            <a:chExt cx="559" cy="128"/>
          </a:xfrm>
        </p:grpSpPr>
        <p:sp>
          <p:nvSpPr>
            <p:cNvPr id="502844" name="Freeform 60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45" name="Freeform 61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46" name="Rectangle 62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23" name="Group 63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24" name="Group 64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25" name="Group 65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850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1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6" name="Group 68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853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4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55" name="Rectangle 71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7" name="Group 72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28" name="Group 73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858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59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9" name="Group 76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861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6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63" name="Rectangle 79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30" name="Group 80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31" name="Group 81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866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67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84" name="Group 84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869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0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71" name="Rectangle 87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85" name="Group 88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786" name="Group 89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874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87" name="Group 92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877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78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79" name="Rectangle 95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90" name="Group 96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794" name="Group 97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882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83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795" name="Group 100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885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86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87" name="Rectangle 103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796" name="Group 104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799" name="Group 105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890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91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03" name="Group 108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893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894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895" name="Rectangle 111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804" name="Group 112"/>
          <p:cNvGrpSpPr>
            <a:grpSpLocks/>
          </p:cNvGrpSpPr>
          <p:nvPr/>
        </p:nvGrpSpPr>
        <p:grpSpPr bwMode="auto">
          <a:xfrm>
            <a:off x="9245601" y="4000500"/>
            <a:ext cx="887413" cy="203200"/>
            <a:chOff x="4018" y="2032"/>
            <a:chExt cx="559" cy="128"/>
          </a:xfrm>
        </p:grpSpPr>
        <p:sp>
          <p:nvSpPr>
            <p:cNvPr id="502897" name="Freeform 113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98" name="Freeform 114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899" name="Rectangle 115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807" name="Group 116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811" name="Group 117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812" name="Group 118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903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04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15" name="Group 121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906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07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08" name="Rectangle 124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19" name="Group 125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820" name="Group 126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911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12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23" name="Group 129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914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15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16" name="Rectangle 132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27" name="Group 133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828" name="Group 134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919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0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31" name="Group 137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92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3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24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35" name="Group 141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836" name="Group 142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927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28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39" name="Group 145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930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1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32" name="Rectangle 148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43" name="Group 149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847" name="Group 150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93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6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48" name="Group 153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938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39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40" name="Rectangle 156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49" name="Group 157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852" name="Group 158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943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44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56" name="Group 161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946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47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48" name="Rectangle 164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857" name="Group 165"/>
          <p:cNvGrpSpPr>
            <a:grpSpLocks/>
          </p:cNvGrpSpPr>
          <p:nvPr/>
        </p:nvGrpSpPr>
        <p:grpSpPr bwMode="auto">
          <a:xfrm>
            <a:off x="9296401" y="2667000"/>
            <a:ext cx="887413" cy="203200"/>
            <a:chOff x="4018" y="2032"/>
            <a:chExt cx="559" cy="128"/>
          </a:xfrm>
        </p:grpSpPr>
        <p:sp>
          <p:nvSpPr>
            <p:cNvPr id="502950" name="Freeform 166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951" name="Freeform 167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2952" name="Rectangle 168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860" name="Group 169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864" name="Group 170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865" name="Group 171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2956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57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68" name="Group 174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2959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61" name="Rectangle 177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72" name="Group 178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873" name="Group 179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2964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5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76" name="Group 182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2967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68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69" name="Rectangle 185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80" name="Group 186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881" name="Group 187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2972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73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84" name="Group 190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2975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76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77" name="Rectangle 193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88" name="Group 194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889" name="Group 195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2980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1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892" name="Group 198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2983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4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85" name="Rectangle 201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896" name="Group 202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502900" name="Group 203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2988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89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01" name="Group 206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2991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92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2993" name="Rectangle 209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02" name="Group 210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502905" name="Group 211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2996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2997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09" name="Group 214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2999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00" name="Rectangle 216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01" name="Rectangle 217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grpSp>
        <p:nvGrpSpPr>
          <p:cNvPr id="502910" name="Group 218"/>
          <p:cNvGrpSpPr>
            <a:grpSpLocks/>
          </p:cNvGrpSpPr>
          <p:nvPr/>
        </p:nvGrpSpPr>
        <p:grpSpPr bwMode="auto">
          <a:xfrm>
            <a:off x="7747001" y="2654300"/>
            <a:ext cx="887413" cy="203200"/>
            <a:chOff x="4018" y="2032"/>
            <a:chExt cx="559" cy="128"/>
          </a:xfrm>
        </p:grpSpPr>
        <p:sp>
          <p:nvSpPr>
            <p:cNvPr id="503003" name="Freeform 219"/>
            <p:cNvSpPr>
              <a:spLocks/>
            </p:cNvSpPr>
            <p:nvPr/>
          </p:nvSpPr>
          <p:spPr bwMode="auto">
            <a:xfrm>
              <a:off x="4018" y="2032"/>
              <a:ext cx="548" cy="36"/>
            </a:xfrm>
            <a:custGeom>
              <a:avLst/>
              <a:gdLst/>
              <a:ahLst/>
              <a:cxnLst>
                <a:cxn ang="0">
                  <a:pos x="1098" y="71"/>
                </a:cxn>
                <a:cxn ang="0">
                  <a:pos x="79" y="71"/>
                </a:cxn>
                <a:cxn ang="0">
                  <a:pos x="0" y="0"/>
                </a:cxn>
                <a:cxn ang="0">
                  <a:pos x="1019" y="0"/>
                </a:cxn>
                <a:cxn ang="0">
                  <a:pos x="1098" y="71"/>
                </a:cxn>
              </a:cxnLst>
              <a:rect l="0" t="0" r="r" b="b"/>
              <a:pathLst>
                <a:path w="1098" h="71">
                  <a:moveTo>
                    <a:pt x="1098" y="71"/>
                  </a:moveTo>
                  <a:lnTo>
                    <a:pt x="79" y="71"/>
                  </a:lnTo>
                  <a:lnTo>
                    <a:pt x="0" y="0"/>
                  </a:lnTo>
                  <a:lnTo>
                    <a:pt x="1019" y="0"/>
                  </a:lnTo>
                  <a:lnTo>
                    <a:pt x="1098" y="71"/>
                  </a:lnTo>
                  <a:close/>
                </a:path>
              </a:pathLst>
            </a:custGeom>
            <a:solidFill>
              <a:srgbClr val="E9E7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3004" name="Freeform 220"/>
            <p:cNvSpPr>
              <a:spLocks/>
            </p:cNvSpPr>
            <p:nvPr/>
          </p:nvSpPr>
          <p:spPr bwMode="auto">
            <a:xfrm>
              <a:off x="4019" y="2032"/>
              <a:ext cx="43" cy="128"/>
            </a:xfrm>
            <a:custGeom>
              <a:avLst/>
              <a:gdLst/>
              <a:ahLst/>
              <a:cxnLst>
                <a:cxn ang="0">
                  <a:pos x="87" y="67"/>
                </a:cxn>
                <a:cxn ang="0">
                  <a:pos x="87" y="256"/>
                </a:cxn>
                <a:cxn ang="0">
                  <a:pos x="0" y="189"/>
                </a:cxn>
                <a:cxn ang="0">
                  <a:pos x="0" y="0"/>
                </a:cxn>
                <a:cxn ang="0">
                  <a:pos x="87" y="67"/>
                </a:cxn>
              </a:cxnLst>
              <a:rect l="0" t="0" r="r" b="b"/>
              <a:pathLst>
                <a:path w="87" h="256">
                  <a:moveTo>
                    <a:pt x="87" y="67"/>
                  </a:moveTo>
                  <a:lnTo>
                    <a:pt x="87" y="256"/>
                  </a:lnTo>
                  <a:lnTo>
                    <a:pt x="0" y="189"/>
                  </a:lnTo>
                  <a:lnTo>
                    <a:pt x="0" y="0"/>
                  </a:lnTo>
                  <a:lnTo>
                    <a:pt x="87" y="67"/>
                  </a:lnTo>
                  <a:close/>
                </a:path>
              </a:pathLst>
            </a:custGeom>
            <a:solidFill>
              <a:srgbClr val="71675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sp>
          <p:nvSpPr>
            <p:cNvPr id="503005" name="Rectangle 221"/>
            <p:cNvSpPr>
              <a:spLocks noChangeArrowheads="1"/>
            </p:cNvSpPr>
            <p:nvPr/>
          </p:nvSpPr>
          <p:spPr bwMode="auto">
            <a:xfrm>
              <a:off x="4049" y="2064"/>
              <a:ext cx="528" cy="96"/>
            </a:xfrm>
            <a:prstGeom prst="rect">
              <a:avLst/>
            </a:prstGeom>
            <a:solidFill>
              <a:srgbClr val="BCB7A4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SG"/>
            </a:p>
          </p:txBody>
        </p:sp>
        <p:grpSp>
          <p:nvGrpSpPr>
            <p:cNvPr id="502913" name="Group 222"/>
            <p:cNvGrpSpPr>
              <a:grpSpLocks/>
            </p:cNvGrpSpPr>
            <p:nvPr/>
          </p:nvGrpSpPr>
          <p:grpSpPr bwMode="auto">
            <a:xfrm>
              <a:off x="4443" y="2075"/>
              <a:ext cx="102" cy="75"/>
              <a:chOff x="4381" y="2372"/>
              <a:chExt cx="102" cy="75"/>
            </a:xfrm>
          </p:grpSpPr>
          <p:grpSp>
            <p:nvGrpSpPr>
              <p:cNvPr id="502917" name="Group 223"/>
              <p:cNvGrpSpPr>
                <a:grpSpLocks/>
              </p:cNvGrpSpPr>
              <p:nvPr/>
            </p:nvGrpSpPr>
            <p:grpSpPr bwMode="auto">
              <a:xfrm>
                <a:off x="4381" y="2372"/>
                <a:ext cx="28" cy="35"/>
                <a:chOff x="4381" y="2372"/>
                <a:chExt cx="28" cy="35"/>
              </a:xfrm>
            </p:grpSpPr>
            <p:grpSp>
              <p:nvGrpSpPr>
                <p:cNvPr id="502918" name="Group 224"/>
                <p:cNvGrpSpPr>
                  <a:grpSpLocks/>
                </p:cNvGrpSpPr>
                <p:nvPr/>
              </p:nvGrpSpPr>
              <p:grpSpPr bwMode="auto">
                <a:xfrm>
                  <a:off x="4381" y="2372"/>
                  <a:ext cx="28" cy="35"/>
                  <a:chOff x="4381" y="2372"/>
                  <a:chExt cx="28" cy="35"/>
                </a:xfrm>
              </p:grpSpPr>
              <p:sp>
                <p:nvSpPr>
                  <p:cNvPr id="503009" name="Rectangle 225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0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21" name="Group 227"/>
                <p:cNvGrpSpPr>
                  <a:grpSpLocks/>
                </p:cNvGrpSpPr>
                <p:nvPr/>
              </p:nvGrpSpPr>
              <p:grpSpPr bwMode="auto">
                <a:xfrm>
                  <a:off x="4384" y="2375"/>
                  <a:ext cx="22" cy="14"/>
                  <a:chOff x="4384" y="2375"/>
                  <a:chExt cx="22" cy="14"/>
                </a:xfrm>
              </p:grpSpPr>
              <p:sp>
                <p:nvSpPr>
                  <p:cNvPr id="503012" name="Rectangle 228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3" name="Rectangle 229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375"/>
                    <a:ext cx="22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14" name="Rectangle 230"/>
                <p:cNvSpPr>
                  <a:spLocks noChangeArrowheads="1"/>
                </p:cNvSpPr>
                <p:nvPr/>
              </p:nvSpPr>
              <p:spPr bwMode="auto">
                <a:xfrm>
                  <a:off x="4386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25" name="Group 231"/>
              <p:cNvGrpSpPr>
                <a:grpSpLocks/>
              </p:cNvGrpSpPr>
              <p:nvPr/>
            </p:nvGrpSpPr>
            <p:grpSpPr bwMode="auto">
              <a:xfrm>
                <a:off x="4381" y="2412"/>
                <a:ext cx="28" cy="35"/>
                <a:chOff x="4381" y="2412"/>
                <a:chExt cx="28" cy="35"/>
              </a:xfrm>
            </p:grpSpPr>
            <p:grpSp>
              <p:nvGrpSpPr>
                <p:cNvPr id="502926" name="Group 232"/>
                <p:cNvGrpSpPr>
                  <a:grpSpLocks/>
                </p:cNvGrpSpPr>
                <p:nvPr/>
              </p:nvGrpSpPr>
              <p:grpSpPr bwMode="auto">
                <a:xfrm>
                  <a:off x="4381" y="2412"/>
                  <a:ext cx="28" cy="35"/>
                  <a:chOff x="4381" y="2412"/>
                  <a:chExt cx="28" cy="35"/>
                </a:xfrm>
              </p:grpSpPr>
              <p:sp>
                <p:nvSpPr>
                  <p:cNvPr id="503017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4383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18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4381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29" name="Group 235"/>
                <p:cNvGrpSpPr>
                  <a:grpSpLocks/>
                </p:cNvGrpSpPr>
                <p:nvPr/>
              </p:nvGrpSpPr>
              <p:grpSpPr bwMode="auto">
                <a:xfrm>
                  <a:off x="4384" y="2415"/>
                  <a:ext cx="22" cy="15"/>
                  <a:chOff x="4384" y="2415"/>
                  <a:chExt cx="22" cy="15"/>
                </a:xfrm>
              </p:grpSpPr>
              <p:sp>
                <p:nvSpPr>
                  <p:cNvPr id="503020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4387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1" name="Rectangle 237"/>
                  <p:cNvSpPr>
                    <a:spLocks noChangeArrowheads="1"/>
                  </p:cNvSpPr>
                  <p:nvPr/>
                </p:nvSpPr>
                <p:spPr bwMode="auto">
                  <a:xfrm>
                    <a:off x="4384" y="2415"/>
                    <a:ext cx="22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22" name="Rectangle 238"/>
                <p:cNvSpPr>
                  <a:spLocks noChangeArrowheads="1"/>
                </p:cNvSpPr>
                <p:nvPr/>
              </p:nvSpPr>
              <p:spPr bwMode="auto">
                <a:xfrm>
                  <a:off x="4386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33" name="Group 239"/>
              <p:cNvGrpSpPr>
                <a:grpSpLocks/>
              </p:cNvGrpSpPr>
              <p:nvPr/>
            </p:nvGrpSpPr>
            <p:grpSpPr bwMode="auto">
              <a:xfrm>
                <a:off x="4418" y="2372"/>
                <a:ext cx="28" cy="35"/>
                <a:chOff x="4418" y="2372"/>
                <a:chExt cx="28" cy="35"/>
              </a:xfrm>
            </p:grpSpPr>
            <p:grpSp>
              <p:nvGrpSpPr>
                <p:cNvPr id="502934" name="Group 240"/>
                <p:cNvGrpSpPr>
                  <a:grpSpLocks/>
                </p:cNvGrpSpPr>
                <p:nvPr/>
              </p:nvGrpSpPr>
              <p:grpSpPr bwMode="auto">
                <a:xfrm>
                  <a:off x="4418" y="2372"/>
                  <a:ext cx="28" cy="35"/>
                  <a:chOff x="4418" y="2372"/>
                  <a:chExt cx="28" cy="35"/>
                </a:xfrm>
              </p:grpSpPr>
              <p:sp>
                <p:nvSpPr>
                  <p:cNvPr id="503025" name="Rectangle 241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373"/>
                    <a:ext cx="24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6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502937" name="Group 243"/>
                <p:cNvGrpSpPr>
                  <a:grpSpLocks/>
                </p:cNvGrpSpPr>
                <p:nvPr/>
              </p:nvGrpSpPr>
              <p:grpSpPr bwMode="auto">
                <a:xfrm>
                  <a:off x="4422" y="2375"/>
                  <a:ext cx="21" cy="14"/>
                  <a:chOff x="4422" y="2375"/>
                  <a:chExt cx="21" cy="14"/>
                </a:xfrm>
              </p:grpSpPr>
              <p:sp>
                <p:nvSpPr>
                  <p:cNvPr id="503028" name="Rectangle 244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377"/>
                    <a:ext cx="16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29" name="Rectangle 245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30" name="Rectangle 246"/>
                <p:cNvSpPr>
                  <a:spLocks noChangeArrowheads="1"/>
                </p:cNvSpPr>
                <p:nvPr/>
              </p:nvSpPr>
              <p:spPr bwMode="auto">
                <a:xfrm>
                  <a:off x="4423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502941" name="Group 247"/>
              <p:cNvGrpSpPr>
                <a:grpSpLocks/>
              </p:cNvGrpSpPr>
              <p:nvPr/>
            </p:nvGrpSpPr>
            <p:grpSpPr bwMode="auto">
              <a:xfrm>
                <a:off x="4418" y="2412"/>
                <a:ext cx="28" cy="35"/>
                <a:chOff x="4418" y="2412"/>
                <a:chExt cx="28" cy="35"/>
              </a:xfrm>
            </p:grpSpPr>
            <p:grpSp>
              <p:nvGrpSpPr>
                <p:cNvPr id="502942" name="Group 248"/>
                <p:cNvGrpSpPr>
                  <a:grpSpLocks/>
                </p:cNvGrpSpPr>
                <p:nvPr/>
              </p:nvGrpSpPr>
              <p:grpSpPr bwMode="auto">
                <a:xfrm>
                  <a:off x="4418" y="2412"/>
                  <a:ext cx="28" cy="35"/>
                  <a:chOff x="4418" y="2412"/>
                  <a:chExt cx="28" cy="35"/>
                </a:xfrm>
              </p:grpSpPr>
              <p:sp>
                <p:nvSpPr>
                  <p:cNvPr id="503033" name="Rectangle 249"/>
                  <p:cNvSpPr>
                    <a:spLocks noChangeArrowheads="1"/>
                  </p:cNvSpPr>
                  <p:nvPr/>
                </p:nvSpPr>
                <p:spPr bwMode="auto">
                  <a:xfrm>
                    <a:off x="4420" y="2413"/>
                    <a:ext cx="24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34" name="Rectangle 250"/>
                  <p:cNvSpPr>
                    <a:spLocks noChangeArrowheads="1"/>
                  </p:cNvSpPr>
                  <p:nvPr/>
                </p:nvSpPr>
                <p:spPr bwMode="auto">
                  <a:xfrm>
                    <a:off x="4418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56" name="Group 251"/>
                <p:cNvGrpSpPr>
                  <a:grpSpLocks/>
                </p:cNvGrpSpPr>
                <p:nvPr/>
              </p:nvGrpSpPr>
              <p:grpSpPr bwMode="auto">
                <a:xfrm>
                  <a:off x="4422" y="2415"/>
                  <a:ext cx="21" cy="15"/>
                  <a:chOff x="4422" y="2415"/>
                  <a:chExt cx="21" cy="15"/>
                </a:xfrm>
              </p:grpSpPr>
              <p:sp>
                <p:nvSpPr>
                  <p:cNvPr id="503036" name="Rectangle 252"/>
                  <p:cNvSpPr>
                    <a:spLocks noChangeArrowheads="1"/>
                  </p:cNvSpPr>
                  <p:nvPr/>
                </p:nvSpPr>
                <p:spPr bwMode="auto">
                  <a:xfrm>
                    <a:off x="4424" y="2416"/>
                    <a:ext cx="16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37" name="Rectangle 253"/>
                  <p:cNvSpPr>
                    <a:spLocks noChangeArrowheads="1"/>
                  </p:cNvSpPr>
                  <p:nvPr/>
                </p:nvSpPr>
                <p:spPr bwMode="auto">
                  <a:xfrm>
                    <a:off x="4422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38" name="Rectangle 254"/>
                <p:cNvSpPr>
                  <a:spLocks noChangeArrowheads="1"/>
                </p:cNvSpPr>
                <p:nvPr/>
              </p:nvSpPr>
              <p:spPr bwMode="auto">
                <a:xfrm>
                  <a:off x="4423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57" name="Group 255"/>
              <p:cNvGrpSpPr>
                <a:grpSpLocks/>
              </p:cNvGrpSpPr>
              <p:nvPr/>
            </p:nvGrpSpPr>
            <p:grpSpPr bwMode="auto">
              <a:xfrm>
                <a:off x="4455" y="2372"/>
                <a:ext cx="28" cy="35"/>
                <a:chOff x="4455" y="2372"/>
                <a:chExt cx="28" cy="35"/>
              </a:xfrm>
            </p:grpSpPr>
            <p:grpSp>
              <p:nvGrpSpPr>
                <p:cNvPr id="258" name="Group 256"/>
                <p:cNvGrpSpPr>
                  <a:grpSpLocks/>
                </p:cNvGrpSpPr>
                <p:nvPr/>
              </p:nvGrpSpPr>
              <p:grpSpPr bwMode="auto">
                <a:xfrm>
                  <a:off x="4455" y="2372"/>
                  <a:ext cx="28" cy="35"/>
                  <a:chOff x="4455" y="2372"/>
                  <a:chExt cx="28" cy="35"/>
                </a:xfrm>
              </p:grpSpPr>
              <p:sp>
                <p:nvSpPr>
                  <p:cNvPr id="503041" name="Rectangle 257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373"/>
                    <a:ext cx="23" cy="3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42" name="Rectangle 258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37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59" name="Group 259"/>
                <p:cNvGrpSpPr>
                  <a:grpSpLocks/>
                </p:cNvGrpSpPr>
                <p:nvPr/>
              </p:nvGrpSpPr>
              <p:grpSpPr bwMode="auto">
                <a:xfrm>
                  <a:off x="4459" y="2375"/>
                  <a:ext cx="21" cy="14"/>
                  <a:chOff x="4459" y="2375"/>
                  <a:chExt cx="21" cy="14"/>
                </a:xfrm>
              </p:grpSpPr>
              <p:sp>
                <p:nvSpPr>
                  <p:cNvPr id="503044" name="Rectangle 260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377"/>
                    <a:ext cx="17" cy="1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45" name="Rectangle 261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375"/>
                    <a:ext cx="21" cy="14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46" name="Rectangle 262"/>
                <p:cNvSpPr>
                  <a:spLocks noChangeArrowheads="1"/>
                </p:cNvSpPr>
                <p:nvPr/>
              </p:nvSpPr>
              <p:spPr bwMode="auto">
                <a:xfrm>
                  <a:off x="4460" y="2376"/>
                  <a:ext cx="19" cy="18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  <p:grpSp>
            <p:nvGrpSpPr>
              <p:cNvPr id="260" name="Group 263"/>
              <p:cNvGrpSpPr>
                <a:grpSpLocks/>
              </p:cNvGrpSpPr>
              <p:nvPr/>
            </p:nvGrpSpPr>
            <p:grpSpPr bwMode="auto">
              <a:xfrm>
                <a:off x="4455" y="2412"/>
                <a:ext cx="28" cy="35"/>
                <a:chOff x="4455" y="2412"/>
                <a:chExt cx="28" cy="35"/>
              </a:xfrm>
            </p:grpSpPr>
            <p:grpSp>
              <p:nvGrpSpPr>
                <p:cNvPr id="261" name="Group 264"/>
                <p:cNvGrpSpPr>
                  <a:grpSpLocks/>
                </p:cNvGrpSpPr>
                <p:nvPr/>
              </p:nvGrpSpPr>
              <p:grpSpPr bwMode="auto">
                <a:xfrm>
                  <a:off x="4455" y="2412"/>
                  <a:ext cx="28" cy="35"/>
                  <a:chOff x="4455" y="2412"/>
                  <a:chExt cx="28" cy="35"/>
                </a:xfrm>
              </p:grpSpPr>
              <p:sp>
                <p:nvSpPr>
                  <p:cNvPr id="503049" name="Rectangle 265"/>
                  <p:cNvSpPr>
                    <a:spLocks noChangeArrowheads="1"/>
                  </p:cNvSpPr>
                  <p:nvPr/>
                </p:nvSpPr>
                <p:spPr bwMode="auto">
                  <a:xfrm>
                    <a:off x="4458" y="2413"/>
                    <a:ext cx="23" cy="31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50" name="Rectangle 266"/>
                  <p:cNvSpPr>
                    <a:spLocks noChangeArrowheads="1"/>
                  </p:cNvSpPr>
                  <p:nvPr/>
                </p:nvSpPr>
                <p:spPr bwMode="auto">
                  <a:xfrm>
                    <a:off x="4455" y="2412"/>
                    <a:ext cx="28" cy="3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grpSp>
              <p:nvGrpSpPr>
                <p:cNvPr id="262" name="Group 267"/>
                <p:cNvGrpSpPr>
                  <a:grpSpLocks/>
                </p:cNvGrpSpPr>
                <p:nvPr/>
              </p:nvGrpSpPr>
              <p:grpSpPr bwMode="auto">
                <a:xfrm>
                  <a:off x="4459" y="2415"/>
                  <a:ext cx="21" cy="15"/>
                  <a:chOff x="4459" y="2415"/>
                  <a:chExt cx="21" cy="15"/>
                </a:xfrm>
              </p:grpSpPr>
              <p:sp>
                <p:nvSpPr>
                  <p:cNvPr id="503052" name="Rectangle 268"/>
                  <p:cNvSpPr>
                    <a:spLocks noChangeArrowheads="1"/>
                  </p:cNvSpPr>
                  <p:nvPr/>
                </p:nvSpPr>
                <p:spPr bwMode="auto">
                  <a:xfrm>
                    <a:off x="4461" y="2416"/>
                    <a:ext cx="17" cy="12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  <p:sp>
                <p:nvSpPr>
                  <p:cNvPr id="503053" name="Rectangle 269"/>
                  <p:cNvSpPr>
                    <a:spLocks noChangeArrowheads="1"/>
                  </p:cNvSpPr>
                  <p:nvPr/>
                </p:nvSpPr>
                <p:spPr bwMode="auto">
                  <a:xfrm>
                    <a:off x="4459" y="2415"/>
                    <a:ext cx="21" cy="15"/>
                  </a:xfrm>
                  <a:prstGeom prst="rect">
                    <a:avLst/>
                  </a:prstGeom>
                  <a:solidFill>
                    <a:srgbClr val="322D26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SG"/>
                  </a:p>
                </p:txBody>
              </p:sp>
            </p:grpSp>
            <p:sp>
              <p:nvSpPr>
                <p:cNvPr id="503054" name="Rectangle 270"/>
                <p:cNvSpPr>
                  <a:spLocks noChangeArrowheads="1"/>
                </p:cNvSpPr>
                <p:nvPr/>
              </p:nvSpPr>
              <p:spPr bwMode="auto">
                <a:xfrm>
                  <a:off x="4460" y="2415"/>
                  <a:ext cx="19" cy="19"/>
                </a:xfrm>
                <a:prstGeom prst="rect">
                  <a:avLst/>
                </a:prstGeom>
                <a:solidFill>
                  <a:srgbClr val="E9E7D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SG"/>
                </a:p>
              </p:txBody>
            </p:sp>
          </p:grpSp>
        </p:grpSp>
      </p:grpSp>
      <p:sp>
        <p:nvSpPr>
          <p:cNvPr id="503055" name="Line 271"/>
          <p:cNvSpPr>
            <a:spLocks noChangeShapeType="1"/>
          </p:cNvSpPr>
          <p:nvPr/>
        </p:nvSpPr>
        <p:spPr bwMode="auto">
          <a:xfrm flipH="1">
            <a:off x="8296275" y="2260600"/>
            <a:ext cx="584200" cy="393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6" name="Line 272"/>
          <p:cNvSpPr>
            <a:spLocks noChangeShapeType="1"/>
          </p:cNvSpPr>
          <p:nvPr/>
        </p:nvSpPr>
        <p:spPr bwMode="auto">
          <a:xfrm>
            <a:off x="8258175" y="2844800"/>
            <a:ext cx="177800" cy="584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7" name="Line 273"/>
          <p:cNvSpPr>
            <a:spLocks noChangeShapeType="1"/>
          </p:cNvSpPr>
          <p:nvPr/>
        </p:nvSpPr>
        <p:spPr bwMode="auto">
          <a:xfrm>
            <a:off x="8626475" y="3657600"/>
            <a:ext cx="800100" cy="35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8" name="Line 274"/>
          <p:cNvSpPr>
            <a:spLocks noChangeShapeType="1"/>
          </p:cNvSpPr>
          <p:nvPr/>
        </p:nvSpPr>
        <p:spPr bwMode="auto">
          <a:xfrm flipV="1">
            <a:off x="8613775" y="275590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59" name="Line 275"/>
          <p:cNvSpPr>
            <a:spLocks noChangeShapeType="1"/>
          </p:cNvSpPr>
          <p:nvPr/>
        </p:nvSpPr>
        <p:spPr bwMode="auto">
          <a:xfrm flipV="1">
            <a:off x="9794875" y="2857500"/>
            <a:ext cx="0" cy="116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60" name="Arc 276"/>
          <p:cNvSpPr>
            <a:spLocks/>
          </p:cNvSpPr>
          <p:nvPr/>
        </p:nvSpPr>
        <p:spPr bwMode="auto">
          <a:xfrm>
            <a:off x="8818563" y="2935288"/>
            <a:ext cx="900112" cy="9001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600 w 43200"/>
              <a:gd name="T1" fmla="*/ 0 h 43200"/>
              <a:gd name="T2" fmla="*/ 390 w 43200"/>
              <a:gd name="T3" fmla="*/ 17514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228"/>
                  <a:pt x="130" y="18860"/>
                  <a:pt x="389" y="17513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228"/>
                  <a:pt x="130" y="18860"/>
                  <a:pt x="389" y="17513"/>
                </a:cubicBezTo>
                <a:lnTo>
                  <a:pt x="21600" y="2160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round/>
            <a:headEnd type="stealth" w="sm" len="med"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503061" name="Text Box 277"/>
          <p:cNvSpPr txBox="1">
            <a:spLocks noChangeArrowheads="1"/>
          </p:cNvSpPr>
          <p:nvPr/>
        </p:nvSpPr>
        <p:spPr bwMode="auto">
          <a:xfrm>
            <a:off x="8769350" y="4419600"/>
            <a:ext cx="6479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84184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problem</a:t>
            </a:r>
            <a:endParaRPr lang="en-SG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17</a:t>
            </a:fld>
            <a:endParaRPr lang="en-SG" dirty="0"/>
          </a:p>
        </p:txBody>
      </p:sp>
      <p:pic>
        <p:nvPicPr>
          <p:cNvPr id="4751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67108" y="1500175"/>
            <a:ext cx="4624390" cy="4712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1962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18</a:t>
            </a:fld>
            <a:endParaRPr lang="en-SG" dirty="0"/>
          </a:p>
        </p:txBody>
      </p:sp>
      <p:pic>
        <p:nvPicPr>
          <p:cNvPr id="476162" name="Picture 2"/>
          <p:cNvPicPr>
            <a:picLocks noChangeAspect="1" noChangeArrowheads="1"/>
          </p:cNvPicPr>
          <p:nvPr/>
        </p:nvPicPr>
        <p:blipFill>
          <a:blip r:embed="rId2"/>
          <a:srcRect r="401"/>
          <a:stretch>
            <a:fillRect/>
          </a:stretch>
        </p:blipFill>
        <p:spPr bwMode="auto">
          <a:xfrm>
            <a:off x="3952860" y="1614476"/>
            <a:ext cx="5572140" cy="4354524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143831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</a:t>
            </a:r>
            <a:endParaRPr lang="en-S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75000"/>
            </a:pP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mengenali</a:t>
            </a:r>
            <a:r>
              <a:rPr lang="en-US" dirty="0" smtClean="0"/>
              <a:t> frame</a:t>
            </a:r>
            <a:r>
              <a:rPr lang="id-ID" dirty="0" smtClean="0"/>
              <a:t> (perangkat layer 2)</a:t>
            </a:r>
            <a:endParaRPr lang="en-US" dirty="0" smtClean="0"/>
          </a:p>
          <a:p>
            <a:pPr>
              <a:buSzPct val="75000"/>
            </a:pPr>
            <a:r>
              <a:rPr lang="en-US" dirty="0" err="1" smtClean="0"/>
              <a:t>Mengenali</a:t>
            </a:r>
            <a:r>
              <a:rPr lang="en-US" dirty="0" smtClean="0"/>
              <a:t> alamat</a:t>
            </a:r>
          </a:p>
          <a:p>
            <a:pPr>
              <a:buSzPct val="75000"/>
            </a:pPr>
            <a:r>
              <a:rPr lang="en-US" dirty="0" err="1" smtClean="0"/>
              <a:t>Hanya</a:t>
            </a:r>
            <a:r>
              <a:rPr lang="en-US" dirty="0" smtClean="0"/>
              <a:t> </a:t>
            </a:r>
            <a:r>
              <a:rPr lang="en-US" dirty="0" err="1" smtClean="0"/>
              <a:t>mem</a:t>
            </a:r>
            <a:r>
              <a:rPr lang="en-US" dirty="0" smtClean="0"/>
              <a:t>-forward </a:t>
            </a:r>
            <a:r>
              <a:rPr lang="en-US" dirty="0" err="1" smtClean="0"/>
              <a:t>jika</a:t>
            </a:r>
            <a:r>
              <a:rPr lang="en-US" dirty="0" smtClean="0"/>
              <a:t> </a:t>
            </a:r>
            <a:r>
              <a:rPr lang="en-US" dirty="0" err="1" smtClean="0"/>
              <a:t>diperlukan</a:t>
            </a:r>
            <a:endParaRPr lang="en-US" dirty="0" smtClean="0"/>
          </a:p>
          <a:p>
            <a:pPr>
              <a:buSzPct val="75000"/>
            </a:pPr>
            <a:r>
              <a:rPr lang="en-US" dirty="0" smtClean="0"/>
              <a:t>Memungkinkan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satu</a:t>
            </a:r>
            <a:r>
              <a:rPr lang="en-US" dirty="0" smtClean="0"/>
              <a:t> </a:t>
            </a:r>
            <a:r>
              <a:rPr lang="en-US" dirty="0" err="1" smtClean="0"/>
              <a:t>pasang</a:t>
            </a:r>
            <a:r>
              <a:rPr lang="en-US" dirty="0" smtClean="0"/>
              <a:t> </a:t>
            </a:r>
            <a:r>
              <a:rPr lang="en-US" dirty="0" err="1" smtClean="0"/>
              <a:t>komputer</a:t>
            </a:r>
            <a:r>
              <a:rPr lang="en-US" dirty="0" smtClean="0"/>
              <a:t> </a:t>
            </a:r>
            <a:r>
              <a:rPr lang="en-US" dirty="0" err="1" smtClean="0"/>
              <a:t>berkomunikasi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yang </a:t>
            </a:r>
            <a:r>
              <a:rPr lang="en-US" dirty="0" err="1" smtClean="0"/>
              <a:t>bersamaan</a:t>
            </a:r>
            <a:endParaRPr lang="en-US" dirty="0" smtClean="0"/>
          </a:p>
          <a:p>
            <a:pPr>
              <a:buSzPct val="75000"/>
            </a:pPr>
            <a:endParaRPr lang="en-US" dirty="0" smtClean="0"/>
          </a:p>
          <a:p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827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4000" dirty="0"/>
              <a:t>P</a:t>
            </a:r>
            <a:r>
              <a:rPr lang="en-US" sz="4000" dirty="0" err="1"/>
              <a:t>erbedaan</a:t>
            </a:r>
            <a:r>
              <a:rPr lang="en-US" sz="4000" dirty="0"/>
              <a:t> </a:t>
            </a:r>
            <a:r>
              <a:rPr lang="en-US" sz="4000" dirty="0" err="1"/>
              <a:t>antara</a:t>
            </a:r>
            <a:r>
              <a:rPr lang="en-US" sz="4000" dirty="0"/>
              <a:t> hub dan switch</a:t>
            </a:r>
          </a:p>
        </p:txBody>
      </p:sp>
      <p:sp>
        <p:nvSpPr>
          <p:cNvPr id="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43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20</a:t>
            </a:fld>
            <a:endParaRPr lang="en-SG" dirty="0"/>
          </a:p>
        </p:txBody>
      </p:sp>
      <p:grpSp>
        <p:nvGrpSpPr>
          <p:cNvPr id="45" name="Group 44"/>
          <p:cNvGrpSpPr/>
          <p:nvPr/>
        </p:nvGrpSpPr>
        <p:grpSpPr>
          <a:xfrm>
            <a:off x="2155822" y="2214554"/>
            <a:ext cx="7512078" cy="2576522"/>
            <a:chOff x="1060450" y="2209800"/>
            <a:chExt cx="6997700" cy="1828800"/>
          </a:xfrm>
        </p:grpSpPr>
        <p:grpSp>
          <p:nvGrpSpPr>
            <p:cNvPr id="2" name="Group 3"/>
            <p:cNvGrpSpPr>
              <a:grpSpLocks/>
            </p:cNvGrpSpPr>
            <p:nvPr/>
          </p:nvGrpSpPr>
          <p:grpSpPr bwMode="auto">
            <a:xfrm>
              <a:off x="1231900" y="2743200"/>
              <a:ext cx="2846388" cy="1295400"/>
              <a:chOff x="658" y="1488"/>
              <a:chExt cx="1793" cy="816"/>
            </a:xfrm>
          </p:grpSpPr>
          <p:sp>
            <p:nvSpPr>
              <p:cNvPr id="478212" name="Line 4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3" name="Line 5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4" name="Line 6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5" name="Line 7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6" name="Line 8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17" name="Line 9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478218" name="Picture 10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19" name="Picture 11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0" name="Picture 12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1" name="Picture 13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2" name="Picture 14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3" name="Picture 15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24" name="Picture 16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478225" name="Text Box 17"/>
            <p:cNvSpPr txBox="1">
              <a:spLocks noChangeArrowheads="1"/>
            </p:cNvSpPr>
            <p:nvPr/>
          </p:nvSpPr>
          <p:spPr bwMode="auto">
            <a:xfrm>
              <a:off x="1060450" y="2235200"/>
              <a:ext cx="3111500" cy="24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Hub:  shared media access</a:t>
              </a:r>
              <a:endParaRPr lang="th-TH" sz="2800">
                <a:latin typeface="Times New Roman" pitchFamily="18" charset="0"/>
              </a:endParaRPr>
            </a:p>
          </p:txBody>
        </p:sp>
        <p:sp>
          <p:nvSpPr>
            <p:cNvPr id="478226" name="Line 18"/>
            <p:cNvSpPr>
              <a:spLocks noChangeShapeType="1"/>
            </p:cNvSpPr>
            <p:nvPr/>
          </p:nvSpPr>
          <p:spPr bwMode="auto">
            <a:xfrm flipH="1" flipV="1">
              <a:off x="3213100" y="3048000"/>
              <a:ext cx="4572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7" name="Line 19"/>
            <p:cNvSpPr>
              <a:spLocks noChangeShapeType="1"/>
            </p:cNvSpPr>
            <p:nvPr/>
          </p:nvSpPr>
          <p:spPr bwMode="auto">
            <a:xfrm flipH="1" flipV="1">
              <a:off x="2806700" y="3048000"/>
              <a:ext cx="1778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8" name="Line 20"/>
            <p:cNvSpPr>
              <a:spLocks noChangeShapeType="1"/>
            </p:cNvSpPr>
            <p:nvPr/>
          </p:nvSpPr>
          <p:spPr bwMode="auto">
            <a:xfrm flipH="1">
              <a:off x="1676400" y="30480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29" name="Line 21"/>
            <p:cNvSpPr>
              <a:spLocks noChangeShapeType="1"/>
            </p:cNvSpPr>
            <p:nvPr/>
          </p:nvSpPr>
          <p:spPr bwMode="auto">
            <a:xfrm flipH="1" flipV="1">
              <a:off x="2997200" y="3048000"/>
              <a:ext cx="3429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30" name="Line 22"/>
            <p:cNvSpPr>
              <a:spLocks noChangeShapeType="1"/>
            </p:cNvSpPr>
            <p:nvPr/>
          </p:nvSpPr>
          <p:spPr bwMode="auto">
            <a:xfrm flipV="1">
              <a:off x="2571750" y="3048000"/>
              <a:ext cx="1016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31" name="Line 23"/>
            <p:cNvSpPr>
              <a:spLocks noChangeShapeType="1"/>
            </p:cNvSpPr>
            <p:nvPr/>
          </p:nvSpPr>
          <p:spPr bwMode="auto">
            <a:xfrm flipV="1">
              <a:off x="2152650" y="3048000"/>
              <a:ext cx="3937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5137150" y="2743200"/>
              <a:ext cx="2846388" cy="1295400"/>
              <a:chOff x="658" y="1488"/>
              <a:chExt cx="1793" cy="816"/>
            </a:xfrm>
          </p:grpSpPr>
          <p:sp>
            <p:nvSpPr>
              <p:cNvPr id="478233" name="Line 25"/>
              <p:cNvSpPr>
                <a:spLocks noChangeShapeType="1"/>
              </p:cNvSpPr>
              <p:nvPr/>
            </p:nvSpPr>
            <p:spPr bwMode="auto">
              <a:xfrm flipV="1">
                <a:off x="802" y="1593"/>
                <a:ext cx="624" cy="48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4" name="Line 26"/>
              <p:cNvSpPr>
                <a:spLocks noChangeShapeType="1"/>
              </p:cNvSpPr>
              <p:nvPr/>
            </p:nvSpPr>
            <p:spPr bwMode="auto">
              <a:xfrm flipH="1" flipV="1">
                <a:off x="1714" y="1545"/>
                <a:ext cx="503" cy="511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5" name="Line 27"/>
              <p:cNvSpPr>
                <a:spLocks noChangeShapeType="1"/>
              </p:cNvSpPr>
              <p:nvPr/>
            </p:nvSpPr>
            <p:spPr bwMode="auto">
              <a:xfrm flipV="1">
                <a:off x="1125" y="1549"/>
                <a:ext cx="443" cy="4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6" name="Line 28"/>
              <p:cNvSpPr>
                <a:spLocks noChangeShapeType="1"/>
              </p:cNvSpPr>
              <p:nvPr/>
            </p:nvSpPr>
            <p:spPr bwMode="auto">
              <a:xfrm flipH="1" flipV="1">
                <a:off x="1666" y="1593"/>
                <a:ext cx="288" cy="432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7" name="Line 29"/>
              <p:cNvSpPr>
                <a:spLocks noChangeShapeType="1"/>
              </p:cNvSpPr>
              <p:nvPr/>
            </p:nvSpPr>
            <p:spPr bwMode="auto">
              <a:xfrm flipV="1">
                <a:off x="1423" y="1549"/>
                <a:ext cx="145" cy="478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78238" name="Line 30"/>
              <p:cNvSpPr>
                <a:spLocks noChangeShapeType="1"/>
              </p:cNvSpPr>
              <p:nvPr/>
            </p:nvSpPr>
            <p:spPr bwMode="auto">
              <a:xfrm flipH="1" flipV="1">
                <a:off x="1570" y="1549"/>
                <a:ext cx="164" cy="485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SG"/>
              </a:p>
            </p:txBody>
          </p:sp>
          <p:pic>
            <p:nvPicPr>
              <p:cNvPr id="478239" name="Picture 31"/>
              <p:cNvPicPr>
                <a:picLocks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3" y="2004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0" name="Picture 32"/>
              <p:cNvPicPr>
                <a:picLocks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277" y="2013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1" name="Picture 33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1570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2" name="Picture 34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1858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3" name="Picture 35"/>
              <p:cNvPicPr>
                <a:picLocks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58" y="1833"/>
                <a:ext cx="269" cy="4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4" name="Picture 36"/>
              <p:cNvPicPr>
                <a:picLocks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1248" y="1488"/>
                <a:ext cx="657" cy="1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478245" name="Picture 37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2146" y="2025"/>
                <a:ext cx="305" cy="2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478246" name="Line 38"/>
            <p:cNvSpPr>
              <a:spLocks noChangeShapeType="1"/>
            </p:cNvSpPr>
            <p:nvPr/>
          </p:nvSpPr>
          <p:spPr bwMode="auto">
            <a:xfrm flipH="1" flipV="1">
              <a:off x="6711950" y="3048000"/>
              <a:ext cx="177800" cy="4572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47" name="Line 39"/>
            <p:cNvSpPr>
              <a:spLocks noChangeShapeType="1"/>
            </p:cNvSpPr>
            <p:nvPr/>
          </p:nvSpPr>
          <p:spPr bwMode="auto">
            <a:xfrm flipH="1">
              <a:off x="5581650" y="3048000"/>
              <a:ext cx="514350" cy="3746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sm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78248" name="Text Box 40"/>
            <p:cNvSpPr txBox="1">
              <a:spLocks noChangeArrowheads="1"/>
            </p:cNvSpPr>
            <p:nvPr/>
          </p:nvSpPr>
          <p:spPr bwMode="auto">
            <a:xfrm>
              <a:off x="4946650" y="2209800"/>
              <a:ext cx="3111500" cy="24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h-TH" sz="1600" b="1">
                  <a:solidFill>
                    <a:schemeClr val="accent2"/>
                  </a:solidFill>
                  <a:latin typeface="Arial" pitchFamily="34" charset="0"/>
                </a:rPr>
                <a:t>Switch:  selective access  </a:t>
              </a:r>
              <a:endParaRPr lang="th-TH" sz="28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505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Beberapa </a:t>
            </a:r>
            <a:r>
              <a:rPr lang="en-US" dirty="0" err="1"/>
              <a:t>terminologi</a:t>
            </a:r>
            <a:endParaRPr lang="en-US" dirty="0"/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Layer-2 switch (two-layer switch) </a:t>
            </a:r>
            <a:r>
              <a:rPr lang="en-US" dirty="0" err="1"/>
              <a:t>adalah</a:t>
            </a:r>
            <a:r>
              <a:rPr lang="en-US" dirty="0"/>
              <a:t> bridge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interface (</a:t>
            </a:r>
            <a:r>
              <a:rPr lang="it-IT" dirty="0"/>
              <a:t>multiport bridge) dan dirancang agar memiliki kecepatan yang lebih baik daripada bridge</a:t>
            </a:r>
          </a:p>
          <a:p>
            <a:r>
              <a:rPr lang="it-IT" dirty="0"/>
              <a:t>Layer-3 switch </a:t>
            </a:r>
            <a:r>
              <a:rPr lang="en-US" dirty="0"/>
              <a:t>(three-layer switch) </a:t>
            </a:r>
            <a:r>
              <a:rPr lang="en-US" dirty="0" err="1"/>
              <a:t>adalah</a:t>
            </a:r>
            <a:r>
              <a:rPr lang="en-US" dirty="0"/>
              <a:t> router yang </a:t>
            </a:r>
            <a:r>
              <a:rPr lang="en-US" dirty="0" err="1"/>
              <a:t>rancangannya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ditingkatkan</a:t>
            </a:r>
            <a:r>
              <a:rPr lang="en-US" dirty="0"/>
              <a:t> agar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router </a:t>
            </a:r>
            <a:r>
              <a:rPr lang="en-US" dirty="0" err="1"/>
              <a:t>biasa</a:t>
            </a:r>
            <a:endParaRPr lang="en-US" dirty="0"/>
          </a:p>
          <a:p>
            <a:pPr lvl="1"/>
            <a:r>
              <a:rPr lang="en-US" dirty="0"/>
              <a:t>Layer-3 switch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menerima,mengolah</a:t>
            </a:r>
            <a:r>
              <a:rPr lang="en-US" dirty="0"/>
              <a:t> dan </a:t>
            </a:r>
            <a:r>
              <a:rPr lang="en-US" dirty="0" err="1"/>
              <a:t>mendistribusikan</a:t>
            </a:r>
            <a:r>
              <a:rPr lang="en-US" dirty="0"/>
              <a:t> (dispatch) </a:t>
            </a:r>
            <a:r>
              <a:rPr lang="en-US" dirty="0" err="1"/>
              <a:t>paket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router </a:t>
            </a:r>
            <a:r>
              <a:rPr lang="en-US" dirty="0" err="1"/>
              <a:t>biasa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436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Layer-2 switching?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900" indent="-469900">
              <a:tabLst>
                <a:tab pos="58738" algn="l"/>
              </a:tabLst>
            </a:pPr>
            <a:r>
              <a:rPr lang="en-US" sz="2200" i="1" dirty="0"/>
              <a:t>Hardware based</a:t>
            </a:r>
          </a:p>
          <a:p>
            <a:pPr marL="908050" lvl="1" indent="-436563">
              <a:tabLst>
                <a:tab pos="58738" algn="l"/>
              </a:tabLst>
            </a:pPr>
            <a:r>
              <a:rPr lang="en-US" dirty="0" err="1"/>
              <a:t>Menggunakan</a:t>
            </a:r>
            <a:r>
              <a:rPr lang="en-US" dirty="0"/>
              <a:t> MAC address </a:t>
            </a:r>
            <a:r>
              <a:rPr lang="en-US" dirty="0" err="1"/>
              <a:t>untuk</a:t>
            </a:r>
            <a:r>
              <a:rPr lang="en-US" dirty="0"/>
              <a:t> melakukan </a:t>
            </a:r>
            <a:r>
              <a:rPr lang="en-US" dirty="0" err="1"/>
              <a:t>penapisan</a:t>
            </a:r>
            <a:r>
              <a:rPr lang="en-US" dirty="0"/>
              <a:t> (filtering)</a:t>
            </a:r>
            <a:endParaRPr lang="en-US" sz="1900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/>
              <a:t>Switching </a:t>
            </a:r>
            <a:r>
              <a:rPr lang="en-US" sz="2200" dirty="0" err="1"/>
              <a:t>berlangsung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cepat</a:t>
            </a:r>
            <a:r>
              <a:rPr lang="en-US" sz="2200" dirty="0"/>
              <a:t> </a:t>
            </a:r>
            <a:r>
              <a:rPr lang="en-US" sz="2200" dirty="0" err="1"/>
              <a:t>karena</a:t>
            </a:r>
            <a:r>
              <a:rPr lang="en-US" sz="2200" dirty="0"/>
              <a:t> switch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memeriksa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header </a:t>
            </a:r>
            <a:r>
              <a:rPr lang="en-US" sz="2200" i="1" dirty="0"/>
              <a:t>network layer</a:t>
            </a:r>
            <a:endParaRPr lang="en-US" sz="2200" dirty="0"/>
          </a:p>
          <a:p>
            <a:pPr marL="908050" lvl="1" indent="-436563">
              <a:tabLst>
                <a:tab pos="58738" algn="l"/>
              </a:tabLst>
            </a:pP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i="1" dirty="0"/>
              <a:t>hardware address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memutuskan</a:t>
            </a:r>
            <a:r>
              <a:rPr lang="en-US" dirty="0"/>
              <a:t> </a:t>
            </a:r>
            <a:r>
              <a:rPr lang="en-US" dirty="0" err="1"/>
              <a:t>mem</a:t>
            </a:r>
            <a:r>
              <a:rPr lang="en-US" dirty="0"/>
              <a:t>-forward frame </a:t>
            </a:r>
            <a:r>
              <a:rPr lang="en-US" dirty="0" err="1"/>
              <a:t>atau</a:t>
            </a:r>
            <a:r>
              <a:rPr lang="en-US" dirty="0"/>
              <a:t> men-</a:t>
            </a:r>
            <a:r>
              <a:rPr lang="en-US" dirty="0" err="1"/>
              <a:t>dropnya</a:t>
            </a:r>
            <a:endParaRPr lang="en-US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/>
              <a:t>Dapat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memecah</a:t>
            </a:r>
            <a:r>
              <a:rPr lang="en-US" sz="2200" dirty="0"/>
              <a:t> </a:t>
            </a:r>
            <a:r>
              <a:rPr lang="en-US" sz="2200" i="1" dirty="0"/>
              <a:t>collision domain</a:t>
            </a:r>
            <a:endParaRPr lang="en-US" sz="2200" dirty="0"/>
          </a:p>
          <a:p>
            <a:pPr marL="469900" indent="-469900">
              <a:tabLst>
                <a:tab pos="58738" algn="l"/>
              </a:tabLst>
            </a:pPr>
            <a:r>
              <a:rPr lang="en-US" sz="2200" dirty="0" err="1"/>
              <a:t>Menaikkan</a:t>
            </a:r>
            <a:r>
              <a:rPr lang="en-US" sz="2200" dirty="0"/>
              <a:t> bandwidth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user </a:t>
            </a:r>
            <a:r>
              <a:rPr lang="en-US" sz="2200" dirty="0" err="1"/>
              <a:t>karena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</a:t>
            </a:r>
            <a:r>
              <a:rPr lang="en-US" sz="2200" dirty="0" err="1"/>
              <a:t>koneksi</a:t>
            </a:r>
            <a:r>
              <a:rPr lang="en-US" sz="2200" dirty="0"/>
              <a:t> (interface) </a:t>
            </a:r>
            <a:r>
              <a:rPr lang="en-US" sz="2200" dirty="0" err="1"/>
              <a:t>ke</a:t>
            </a:r>
            <a:r>
              <a:rPr lang="en-US" sz="2200" dirty="0"/>
              <a:t> switch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i="1" dirty="0"/>
              <a:t>collision domain</a:t>
            </a:r>
            <a:r>
              <a:rPr lang="en-US" sz="2200" dirty="0"/>
              <a:t> </a:t>
            </a:r>
            <a:r>
              <a:rPr lang="en-US" sz="2200" dirty="0" err="1"/>
              <a:t>sendiri</a:t>
            </a:r>
            <a:r>
              <a:rPr lang="en-US" sz="2200" dirty="0"/>
              <a:t> </a:t>
            </a:r>
            <a:r>
              <a:rPr lang="en-US" sz="2200" dirty="0" err="1"/>
              <a:t>sehingga</a:t>
            </a:r>
            <a:r>
              <a:rPr lang="en-US" sz="2200" dirty="0"/>
              <a:t> </a:t>
            </a:r>
            <a:r>
              <a:rPr lang="en-US" sz="2200" dirty="0" err="1"/>
              <a:t>kita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menghubungkan</a:t>
            </a:r>
            <a:r>
              <a:rPr lang="en-US" sz="2200" dirty="0"/>
              <a:t> beberapa </a:t>
            </a:r>
            <a:r>
              <a:rPr lang="en-US" sz="2200" dirty="0" err="1"/>
              <a:t>perangkat</a:t>
            </a:r>
            <a:r>
              <a:rPr lang="en-US" sz="2200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interface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86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Keterbatasan </a:t>
            </a:r>
            <a:r>
              <a:rPr lang="en-US" sz="4000" i="1"/>
              <a:t>Layer-2 Switching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memecah</a:t>
            </a:r>
            <a:r>
              <a:rPr lang="en-US" sz="2400" dirty="0"/>
              <a:t> </a:t>
            </a:r>
            <a:r>
              <a:rPr lang="en-US" sz="2400" i="1" dirty="0"/>
              <a:t>broadcast domain 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Switch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mem</a:t>
            </a:r>
            <a:r>
              <a:rPr lang="en-US" sz="2200" dirty="0"/>
              <a:t>-forward frame broadcast (</a:t>
            </a:r>
            <a:r>
              <a:rPr lang="en-US" sz="2200" dirty="0" err="1"/>
              <a:t>juga</a:t>
            </a:r>
            <a:r>
              <a:rPr lang="en-US" sz="2200" dirty="0"/>
              <a:t> multicast) </a:t>
            </a:r>
            <a:r>
              <a:rPr lang="en-US" sz="2200" dirty="0" err="1"/>
              <a:t>ke</a:t>
            </a:r>
            <a:r>
              <a:rPr lang="en-US" sz="2200" dirty="0"/>
              <a:t> </a:t>
            </a:r>
            <a:r>
              <a:rPr lang="en-US" sz="2200" dirty="0" err="1"/>
              <a:t>seluruh</a:t>
            </a:r>
            <a:r>
              <a:rPr lang="en-US" sz="2200" dirty="0"/>
              <a:t> port yang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switch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Agar switch </a:t>
            </a:r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id-ID" sz="2200" dirty="0"/>
              <a:t>m</a:t>
            </a:r>
            <a:r>
              <a:rPr lang="en-US" sz="2200" dirty="0" err="1"/>
              <a:t>em</a:t>
            </a:r>
            <a:r>
              <a:rPr lang="en-US" sz="2200" dirty="0"/>
              <a:t>-forward frame broadcast </a:t>
            </a:r>
            <a:r>
              <a:rPr lang="en-US" sz="2200" dirty="0" err="1"/>
              <a:t>kepada</a:t>
            </a:r>
            <a:r>
              <a:rPr lang="en-US" sz="2200" dirty="0"/>
              <a:t> port </a:t>
            </a:r>
            <a:r>
              <a:rPr lang="en-US" sz="2200" dirty="0" err="1"/>
              <a:t>tertentu</a:t>
            </a:r>
            <a:r>
              <a:rPr lang="en-US" sz="2200" dirty="0"/>
              <a:t>,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dibuat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Virtual LAN (VLAN) </a:t>
            </a:r>
            <a:endParaRPr lang="id-ID" sz="22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ukuran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semakin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menyebabkan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akibat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Trafik</a:t>
            </a:r>
            <a:r>
              <a:rPr lang="en-US" sz="2200" dirty="0"/>
              <a:t> broadcast dan multicast 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Konvergensi</a:t>
            </a:r>
            <a:r>
              <a:rPr lang="en-US" sz="2200" dirty="0"/>
              <a:t> </a:t>
            </a:r>
            <a:r>
              <a:rPr lang="en-US" sz="2200" i="1" dirty="0"/>
              <a:t>spanning tree </a:t>
            </a:r>
            <a:r>
              <a:rPr lang="en-US" sz="2200" dirty="0"/>
              <a:t>yang </a:t>
            </a:r>
            <a:r>
              <a:rPr lang="en-US" sz="2200" dirty="0" err="1"/>
              <a:t>lambat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600" dirty="0" err="1"/>
              <a:t>Karena</a:t>
            </a:r>
            <a:r>
              <a:rPr lang="en-US" sz="2600" dirty="0"/>
              <a:t> </a:t>
            </a:r>
            <a:r>
              <a:rPr lang="en-US" sz="2600" dirty="0" err="1"/>
              <a:t>masalah-masalah</a:t>
            </a:r>
            <a:r>
              <a:rPr lang="en-US" sz="2600" dirty="0"/>
              <a:t> </a:t>
            </a:r>
            <a:r>
              <a:rPr lang="en-US" sz="2600" dirty="0" err="1"/>
              <a:t>inilah</a:t>
            </a:r>
            <a:r>
              <a:rPr lang="en-US" sz="2600" dirty="0"/>
              <a:t> </a:t>
            </a:r>
            <a:r>
              <a:rPr lang="en-US" sz="2600" dirty="0" err="1"/>
              <a:t>maka</a:t>
            </a:r>
            <a:r>
              <a:rPr lang="en-US" sz="2600" dirty="0"/>
              <a:t> </a:t>
            </a:r>
            <a:r>
              <a:rPr lang="en-US" sz="2600" i="1" dirty="0"/>
              <a:t>layer-2 switching </a:t>
            </a:r>
            <a:r>
              <a:rPr lang="en-US" sz="2600" dirty="0" err="1"/>
              <a:t>tidak</a:t>
            </a:r>
            <a:r>
              <a:rPr lang="en-US" sz="2600" dirty="0"/>
              <a:t> </a:t>
            </a:r>
            <a:r>
              <a:rPr lang="en-US" sz="2600" dirty="0" err="1"/>
              <a:t>dapat</a:t>
            </a:r>
            <a:r>
              <a:rPr lang="en-US" sz="2600" dirty="0"/>
              <a:t> </a:t>
            </a:r>
            <a:r>
              <a:rPr lang="en-US" sz="2600" dirty="0" err="1"/>
              <a:t>menggantikan</a:t>
            </a:r>
            <a:r>
              <a:rPr lang="en-US" sz="2600" dirty="0"/>
              <a:t> </a:t>
            </a:r>
            <a:r>
              <a:rPr lang="en-US" sz="2600" dirty="0" err="1"/>
              <a:t>peran</a:t>
            </a:r>
            <a:r>
              <a:rPr lang="en-US" sz="2600" dirty="0"/>
              <a:t> router </a:t>
            </a:r>
            <a:r>
              <a:rPr lang="en-US" sz="2600" dirty="0" err="1"/>
              <a:t>dalam</a:t>
            </a:r>
            <a:r>
              <a:rPr lang="en-US" sz="2600" dirty="0"/>
              <a:t> </a:t>
            </a:r>
            <a:r>
              <a:rPr lang="en-US" sz="2600" dirty="0" err="1"/>
              <a:t>suatu</a:t>
            </a:r>
            <a:r>
              <a:rPr lang="en-US" sz="2600" dirty="0"/>
              <a:t> </a:t>
            </a:r>
            <a:r>
              <a:rPr lang="en-US" sz="2600" i="1" dirty="0"/>
              <a:t>internetwork</a:t>
            </a:r>
            <a:endParaRPr lang="en-US" sz="26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299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24</a:t>
            </a:fld>
            <a:endParaRPr lang="en-SG" dirty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81290" y="2214554"/>
            <a:ext cx="6386530" cy="3746510"/>
            <a:chOff x="480" y="288"/>
            <a:chExt cx="4848" cy="3332"/>
          </a:xfrm>
        </p:grpSpPr>
        <p:pic>
          <p:nvPicPr>
            <p:cNvPr id="48230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80" y="288"/>
              <a:ext cx="4848" cy="3332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</p:pic>
        <p:sp>
          <p:nvSpPr>
            <p:cNvPr id="482308" name="Rectangle 4"/>
            <p:cNvSpPr>
              <a:spLocks noChangeArrowheads="1"/>
            </p:cNvSpPr>
            <p:nvPr/>
          </p:nvSpPr>
          <p:spPr bwMode="auto">
            <a:xfrm>
              <a:off x="480" y="3024"/>
              <a:ext cx="4848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361907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Bridging vs Layer-2 Switching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Meskipun</a:t>
            </a:r>
            <a:r>
              <a:rPr lang="en-US" dirty="0"/>
              <a:t> </a:t>
            </a:r>
            <a:r>
              <a:rPr lang="en-US" i="1" dirty="0"/>
              <a:t>layer-2 switching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dianggap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multiport bridge,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mendasar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Bridge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i="1" dirty="0"/>
              <a:t>software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i="1" dirty="0"/>
              <a:t>layer-2 switch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i="1" dirty="0"/>
              <a:t>hardware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filtering</a:t>
            </a:r>
          </a:p>
          <a:p>
            <a:pPr lvl="1"/>
            <a:r>
              <a:rPr lang="en-US" dirty="0" err="1"/>
              <a:t>Setiap</a:t>
            </a:r>
            <a:r>
              <a:rPr lang="en-US" dirty="0"/>
              <a:t> bridge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spaning</a:t>
            </a:r>
            <a:r>
              <a:rPr lang="en-US" dirty="0"/>
              <a:t> tree </a:t>
            </a:r>
            <a:r>
              <a:rPr lang="en-US" dirty="0" err="1"/>
              <a:t>sedangkan</a:t>
            </a:r>
            <a:r>
              <a:rPr lang="en-US" dirty="0"/>
              <a:t> switch bisa </a:t>
            </a:r>
            <a:r>
              <a:rPr lang="en-US" dirty="0" err="1"/>
              <a:t>banyak</a:t>
            </a:r>
            <a:endParaRPr lang="en-US" dirty="0"/>
          </a:p>
          <a:p>
            <a:pPr lvl="1"/>
            <a:r>
              <a:rPr lang="en-US" dirty="0"/>
              <a:t>Bridge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16 port </a:t>
            </a:r>
            <a:r>
              <a:rPr lang="en-US" dirty="0" err="1"/>
              <a:t>sedangan</a:t>
            </a:r>
            <a:r>
              <a:rPr lang="en-US" dirty="0"/>
              <a:t> switch bisa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ratusan</a:t>
            </a:r>
            <a:r>
              <a:rPr lang="en-US" dirty="0"/>
              <a:t> port</a:t>
            </a:r>
          </a:p>
          <a:p>
            <a:pPr lvl="1"/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8109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Fungsi </a:t>
            </a:r>
            <a:r>
              <a:rPr lang="en-US" i="1"/>
              <a:t>Layer-2 Switching</a:t>
            </a:r>
            <a:endParaRPr lang="en-US"/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Address Learning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Mengingat</a:t>
            </a:r>
            <a:r>
              <a:rPr lang="en-US" sz="2200" dirty="0"/>
              <a:t> alamat </a:t>
            </a:r>
            <a:r>
              <a:rPr lang="en-US" sz="2200" i="1" dirty="0"/>
              <a:t>hardware </a:t>
            </a:r>
            <a:r>
              <a:rPr lang="en-US" sz="2200" dirty="0" err="1"/>
              <a:t>sumber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frame yang </a:t>
            </a:r>
            <a:r>
              <a:rPr lang="en-US" sz="2200" dirty="0" err="1"/>
              <a:t>diterima</a:t>
            </a:r>
            <a:r>
              <a:rPr lang="en-US" sz="2200" dirty="0"/>
              <a:t> interface-</a:t>
            </a:r>
            <a:r>
              <a:rPr lang="en-US" sz="2200" dirty="0" err="1"/>
              <a:t>nya</a:t>
            </a:r>
            <a:r>
              <a:rPr lang="en-US" sz="2200" dirty="0"/>
              <a:t> </a:t>
            </a:r>
            <a:r>
              <a:rPr lang="en-US" sz="2200" dirty="0" err="1"/>
              <a:t>serta</a:t>
            </a:r>
            <a:r>
              <a:rPr lang="en-US" sz="2200" dirty="0"/>
              <a:t> </a:t>
            </a:r>
            <a:r>
              <a:rPr lang="en-US" sz="2200" dirty="0" err="1"/>
              <a:t>memasukkan</a:t>
            </a:r>
            <a:r>
              <a:rPr lang="en-US" sz="2200" dirty="0"/>
              <a:t> </a:t>
            </a:r>
            <a:r>
              <a:rPr lang="en-US" sz="2200" dirty="0" err="1"/>
              <a:t>informasi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database MAC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Forward/filter decision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Ketika</a:t>
            </a:r>
            <a:r>
              <a:rPr lang="en-US" sz="2200" dirty="0"/>
              <a:t> frame </a:t>
            </a:r>
            <a:r>
              <a:rPr lang="en-US" sz="2200" dirty="0" err="1"/>
              <a:t>diterima</a:t>
            </a:r>
            <a:r>
              <a:rPr lang="en-US" sz="2200" dirty="0"/>
              <a:t> </a:t>
            </a:r>
            <a:r>
              <a:rPr lang="en-US" sz="2200" dirty="0" err="1"/>
              <a:t>sebuah</a:t>
            </a:r>
            <a:r>
              <a:rPr lang="en-US" sz="2200" dirty="0"/>
              <a:t> interface </a:t>
            </a:r>
            <a:r>
              <a:rPr lang="en-US" sz="2200" dirty="0" err="1"/>
              <a:t>pada</a:t>
            </a:r>
            <a:r>
              <a:rPr lang="en-US" sz="2200" dirty="0"/>
              <a:t> switch, switch </a:t>
            </a:r>
            <a:r>
              <a:rPr lang="en-US" sz="2200" dirty="0" err="1"/>
              <a:t>melihat</a:t>
            </a:r>
            <a:r>
              <a:rPr lang="en-US" sz="2200" dirty="0"/>
              <a:t> alamat </a:t>
            </a:r>
            <a:r>
              <a:rPr lang="en-US" sz="2200" i="1" dirty="0"/>
              <a:t>hardware </a:t>
            </a:r>
            <a:r>
              <a:rPr lang="en-US" sz="2200" dirty="0" err="1"/>
              <a:t>tujuan</a:t>
            </a:r>
            <a:r>
              <a:rPr lang="en-US" sz="2200" dirty="0"/>
              <a:t> </a:t>
            </a:r>
            <a:r>
              <a:rPr lang="en-US" sz="2200" dirty="0" err="1"/>
              <a:t>lalu</a:t>
            </a:r>
            <a:r>
              <a:rPr lang="en-US" sz="2200" dirty="0"/>
              <a:t> </a:t>
            </a:r>
            <a:r>
              <a:rPr lang="en-US" sz="2200" dirty="0" err="1"/>
              <a:t>mencari</a:t>
            </a:r>
            <a:r>
              <a:rPr lang="en-US" sz="2200" dirty="0"/>
              <a:t> interface </a:t>
            </a:r>
            <a:r>
              <a:rPr lang="en-US" sz="2200" dirty="0" err="1"/>
              <a:t>keluar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database MAC-</a:t>
            </a:r>
            <a:r>
              <a:rPr lang="en-US" sz="2200" dirty="0" err="1"/>
              <a:t>nya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400" dirty="0"/>
              <a:t>Loop avoidance</a:t>
            </a:r>
          </a:p>
          <a:p>
            <a:pPr lvl="1">
              <a:lnSpc>
                <a:spcPct val="90000"/>
              </a:lnSpc>
            </a:pPr>
            <a:r>
              <a:rPr lang="en-US" sz="2200" dirty="0" err="1"/>
              <a:t>Jika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i="1" dirty="0"/>
              <a:t>multiple connection</a:t>
            </a:r>
            <a:r>
              <a:rPr lang="en-US" sz="2200" dirty="0"/>
              <a:t> </a:t>
            </a:r>
            <a:r>
              <a:rPr lang="en-US" sz="2200" dirty="0" err="1"/>
              <a:t>antar</a:t>
            </a:r>
            <a:r>
              <a:rPr lang="en-US" sz="2200" dirty="0"/>
              <a:t> switch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keperluan</a:t>
            </a:r>
            <a:r>
              <a:rPr lang="en-US" sz="2200" dirty="0"/>
              <a:t> </a:t>
            </a:r>
            <a:r>
              <a:rPr lang="en-US" sz="2200" dirty="0" err="1"/>
              <a:t>redudancy</a:t>
            </a:r>
            <a:r>
              <a:rPr lang="en-US" sz="2200" dirty="0"/>
              <a:t>,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dirty="0" err="1"/>
              <a:t>dapat</a:t>
            </a:r>
            <a:r>
              <a:rPr lang="en-US" sz="2200" dirty="0"/>
              <a:t> </a:t>
            </a:r>
            <a:r>
              <a:rPr lang="en-US" sz="2200" dirty="0" err="1"/>
              <a:t>terjadi</a:t>
            </a:r>
            <a:r>
              <a:rPr lang="en-US" sz="2200" dirty="0"/>
              <a:t> loop,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mencegahnya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i="1" dirty="0"/>
              <a:t>spanning tree protocol (STP)</a:t>
            </a:r>
            <a:endParaRPr lang="en-US" sz="2200" dirty="0"/>
          </a:p>
          <a:p>
            <a:pPr lvl="1">
              <a:lnSpc>
                <a:spcPct val="90000"/>
              </a:lnSpc>
            </a:pPr>
            <a:endParaRPr lang="en-US" sz="2200" i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5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3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1827214"/>
            <a:ext cx="6553200" cy="4268787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Table</a:t>
            </a:r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219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</a:t>
            </a:r>
          </a:p>
        </p:txBody>
      </p:sp>
      <p:graphicFrame>
        <p:nvGraphicFramePr>
          <p:cNvPr id="48640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516314" y="1825625"/>
          <a:ext cx="5159375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3" imgW="5904586" imgH="4978908" progId="Visio.Drawing.11">
                  <p:embed/>
                </p:oleObj>
              </mc:Choice>
              <mc:Fallback>
                <p:oleObj name="Visio" r:id="rId3" imgW="5904586" imgH="4978908" progId="Visio.Drawing.11">
                  <p:embed/>
                  <p:pic>
                    <p:nvPicPr>
                      <p:cNvPr id="486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4" y="1825625"/>
                        <a:ext cx="5159375" cy="435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ACA41198-69F1-432A-B879-C31E9C29BB08}" type="slidenum">
              <a:rPr lang="en-US"/>
              <a:pPr/>
              <a:t>28</a:t>
            </a:fld>
            <a:endParaRPr lang="en-US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785938"/>
            <a:ext cx="3571875" cy="4614862"/>
          </a:xfrm>
        </p:spPr>
        <p:txBody>
          <a:bodyPr/>
          <a:lstStyle/>
          <a:p>
            <a:r>
              <a:rPr lang="en-US" sz="2200" dirty="0">
                <a:latin typeface="Franklin Gothic Book" pitchFamily="34" charset="0"/>
              </a:rPr>
              <a:t>Link </a:t>
            </a:r>
            <a:r>
              <a:rPr lang="en-US" sz="2200" dirty="0" err="1">
                <a:latin typeface="Franklin Gothic Book" pitchFamily="34" charset="0"/>
              </a:rPr>
              <a:t>redu</a:t>
            </a:r>
            <a:r>
              <a:rPr lang="id-ID" sz="2200" dirty="0">
                <a:latin typeface="Franklin Gothic Book" pitchFamily="34" charset="0"/>
              </a:rPr>
              <a:t>n</a:t>
            </a:r>
            <a:r>
              <a:rPr lang="en-US" sz="2200" dirty="0" err="1">
                <a:latin typeface="Franklin Gothic Book" pitchFamily="34" charset="0"/>
              </a:rPr>
              <a:t>dant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antar</a:t>
            </a:r>
            <a:r>
              <a:rPr lang="en-US" sz="2200" dirty="0">
                <a:latin typeface="Franklin Gothic Book" pitchFamily="34" charset="0"/>
              </a:rPr>
              <a:t> switch </a:t>
            </a:r>
            <a:r>
              <a:rPr lang="en-US" sz="2200" dirty="0" err="1">
                <a:latin typeface="Franklin Gothic Book" pitchFamily="34" charset="0"/>
              </a:rPr>
              <a:t>memang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bermanfaat</a:t>
            </a:r>
            <a:r>
              <a:rPr lang="en-US" sz="2200" dirty="0">
                <a:latin typeface="Franklin Gothic Book" pitchFamily="34" charset="0"/>
              </a:rPr>
              <a:t>, </a:t>
            </a:r>
            <a:r>
              <a:rPr lang="en-US" sz="2200" dirty="0" err="1">
                <a:latin typeface="Franklin Gothic Book" pitchFamily="34" charset="0"/>
              </a:rPr>
              <a:t>tetapi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ada</a:t>
            </a:r>
            <a:r>
              <a:rPr lang="en-US" sz="2200" dirty="0">
                <a:latin typeface="Franklin Gothic Book" pitchFamily="34" charset="0"/>
              </a:rPr>
              <a:t> beberapa </a:t>
            </a:r>
            <a:r>
              <a:rPr lang="en-US" sz="2200" dirty="0" err="1">
                <a:latin typeface="Franklin Gothic Book" pitchFamily="34" charset="0"/>
              </a:rPr>
              <a:t>masalah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serius</a:t>
            </a:r>
            <a:r>
              <a:rPr lang="en-US" sz="2200" dirty="0">
                <a:latin typeface="Franklin Gothic Book" pitchFamily="34" charset="0"/>
              </a:rPr>
              <a:t> yang bisa </a:t>
            </a:r>
            <a:r>
              <a:rPr lang="en-US" sz="2200" dirty="0" err="1">
                <a:latin typeface="Franklin Gothic Book" pitchFamily="34" charset="0"/>
              </a:rPr>
              <a:t>timbul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bila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tidak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mekanisme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i="1" dirty="0">
                <a:latin typeface="Franklin Gothic Book" pitchFamily="34" charset="0"/>
              </a:rPr>
              <a:t>loop avoidance</a:t>
            </a:r>
            <a:r>
              <a:rPr lang="en-US" sz="2200" dirty="0">
                <a:latin typeface="Franklin Gothic Book" pitchFamily="34" charset="0"/>
              </a:rPr>
              <a:t>:</a:t>
            </a:r>
          </a:p>
          <a:p>
            <a:pPr lvl="1"/>
            <a:r>
              <a:rPr lang="en-US" sz="1800" dirty="0">
                <a:latin typeface="Franklin Gothic Book" pitchFamily="34" charset="0"/>
              </a:rPr>
              <a:t>Switch bisa </a:t>
            </a:r>
            <a:r>
              <a:rPr lang="en-US" sz="1800" dirty="0" err="1">
                <a:latin typeface="Franklin Gothic Book" pitchFamily="34" charset="0"/>
              </a:rPr>
              <a:t>membanjiri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jaringan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oleh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trafik</a:t>
            </a:r>
            <a:r>
              <a:rPr lang="en-US" sz="1800" dirty="0">
                <a:latin typeface="Franklin Gothic Book" pitchFamily="34" charset="0"/>
              </a:rPr>
              <a:t> broadcast (broadcast storm)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>
              <a:defRPr/>
            </a:pPr>
            <a:fld id="{33FE6DC0-3D3F-452A-B58D-D3787DC8F01A}" type="slidenum">
              <a:rPr lang="en-SG" sz="1400">
                <a:solidFill>
                  <a:schemeClr val="bg1"/>
                </a:solidFill>
                <a:latin typeface="Franklin Gothic Book" pitchFamily="34" charset="0"/>
              </a:rPr>
              <a:pPr algn="r">
                <a:defRPr/>
              </a:pPr>
              <a:t>28</a:t>
            </a:fld>
            <a:endParaRPr lang="en-SG" sz="1400" dirty="0">
              <a:solidFill>
                <a:schemeClr val="bg1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73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 (2)</a:t>
            </a:r>
          </a:p>
        </p:txBody>
      </p:sp>
      <p:graphicFrame>
        <p:nvGraphicFramePr>
          <p:cNvPr id="48742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096125" y="1571626"/>
          <a:ext cx="3259138" cy="452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Image" r:id="rId3" imgW="12330159" imgH="17117460" progId="Photoshop.Image.6">
                  <p:embed/>
                </p:oleObj>
              </mc:Choice>
              <mc:Fallback>
                <p:oleObj name="Image" r:id="rId3" imgW="12330159" imgH="17117460" progId="Photoshop.Image.6">
                  <p:embed/>
                  <p:pic>
                    <p:nvPicPr>
                      <p:cNvPr id="48742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1571626"/>
                        <a:ext cx="3259138" cy="452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29</a:t>
            </a:fld>
            <a:endParaRPr lang="en-SG" dirty="0"/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1643063"/>
            <a:ext cx="4224338" cy="4686300"/>
          </a:xfrm>
        </p:spPr>
        <p:txBody>
          <a:bodyPr/>
          <a:lstStyle/>
          <a:p>
            <a:r>
              <a:rPr lang="en-US" sz="2200" dirty="0">
                <a:latin typeface="Franklin Gothic Book" pitchFamily="34" charset="0"/>
              </a:rPr>
              <a:t>Bisa </a:t>
            </a:r>
            <a:r>
              <a:rPr lang="en-US" sz="2200" dirty="0" err="1">
                <a:latin typeface="Franklin Gothic Book" pitchFamily="34" charset="0"/>
              </a:rPr>
              <a:t>terdapat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lebih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dari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satu</a:t>
            </a:r>
            <a:r>
              <a:rPr lang="en-US" sz="2200" dirty="0">
                <a:latin typeface="Franklin Gothic Book" pitchFamily="34" charset="0"/>
              </a:rPr>
              <a:t> frame yang </a:t>
            </a:r>
            <a:r>
              <a:rPr lang="en-US" sz="2200" dirty="0" err="1">
                <a:latin typeface="Franklin Gothic Book" pitchFamily="34" charset="0"/>
              </a:rPr>
              <a:t>sama</a:t>
            </a:r>
            <a:r>
              <a:rPr lang="en-US" sz="2200" dirty="0">
                <a:latin typeface="Franklin Gothic Book" pitchFamily="34" charset="0"/>
              </a:rPr>
              <a:t> yang </a:t>
            </a:r>
            <a:r>
              <a:rPr lang="en-US" sz="2200" dirty="0" err="1">
                <a:latin typeface="Franklin Gothic Book" pitchFamily="34" charset="0"/>
              </a:rPr>
              <a:t>beredar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jaringan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multisegment</a:t>
            </a:r>
            <a:endParaRPr lang="en-US" sz="2200" dirty="0">
              <a:latin typeface="Franklin Gothic Book" pitchFamily="34" charset="0"/>
            </a:endParaRPr>
          </a:p>
          <a:p>
            <a:r>
              <a:rPr lang="en-US" sz="2200" dirty="0" err="1">
                <a:latin typeface="Franklin Gothic Book" pitchFamily="34" charset="0"/>
              </a:rPr>
              <a:t>Menimbulkan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kebingungan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pada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pengisian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tabel</a:t>
            </a:r>
            <a:r>
              <a:rPr lang="en-US" sz="2200" dirty="0">
                <a:latin typeface="Franklin Gothic Book" pitchFamily="34" charset="0"/>
              </a:rPr>
              <a:t> MAC </a:t>
            </a:r>
            <a:r>
              <a:rPr lang="en-US" sz="2200" dirty="0" err="1">
                <a:latin typeface="Franklin Gothic Book" pitchFamily="34" charset="0"/>
              </a:rPr>
              <a:t>akibat</a:t>
            </a:r>
            <a:r>
              <a:rPr lang="en-US" sz="2200" dirty="0">
                <a:latin typeface="Franklin Gothic Book" pitchFamily="34" charset="0"/>
              </a:rPr>
              <a:t> switch </a:t>
            </a:r>
            <a:r>
              <a:rPr lang="en-US" sz="2200" dirty="0" err="1">
                <a:latin typeface="Franklin Gothic Book" pitchFamily="34" charset="0"/>
              </a:rPr>
              <a:t>dapat</a:t>
            </a:r>
            <a:r>
              <a:rPr lang="en-US" sz="2200" dirty="0">
                <a:latin typeface="Franklin Gothic Book" pitchFamily="34" charset="0"/>
              </a:rPr>
              <a:t> </a:t>
            </a:r>
            <a:r>
              <a:rPr lang="en-US" sz="2200" dirty="0" err="1">
                <a:latin typeface="Franklin Gothic Book" pitchFamily="34" charset="0"/>
              </a:rPr>
              <a:t>menerima</a:t>
            </a:r>
            <a:r>
              <a:rPr lang="en-US" sz="2200" dirty="0">
                <a:latin typeface="Franklin Gothic Book" pitchFamily="34" charset="0"/>
              </a:rPr>
              <a:t> frame </a:t>
            </a:r>
            <a:r>
              <a:rPr lang="en-US" sz="2200" dirty="0" err="1">
                <a:latin typeface="Franklin Gothic Book" pitchFamily="34" charset="0"/>
              </a:rPr>
              <a:t>dari</a:t>
            </a:r>
            <a:r>
              <a:rPr lang="en-US" sz="2200" dirty="0">
                <a:latin typeface="Franklin Gothic Book" pitchFamily="34" charset="0"/>
              </a:rPr>
              <a:t> beberapa link</a:t>
            </a:r>
          </a:p>
          <a:p>
            <a:pPr lvl="1"/>
            <a:r>
              <a:rPr lang="en-US" sz="1800" dirty="0">
                <a:latin typeface="Franklin Gothic Book" pitchFamily="34" charset="0"/>
              </a:rPr>
              <a:t>Switch </a:t>
            </a:r>
            <a:r>
              <a:rPr lang="en-US" sz="1800" dirty="0" err="1">
                <a:latin typeface="Franklin Gothic Book" pitchFamily="34" charset="0"/>
              </a:rPr>
              <a:t>jadi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tidak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mampu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mem</a:t>
            </a:r>
            <a:r>
              <a:rPr lang="en-US" sz="1800" dirty="0">
                <a:latin typeface="Franklin Gothic Book" pitchFamily="34" charset="0"/>
              </a:rPr>
              <a:t>-forward frame </a:t>
            </a:r>
            <a:r>
              <a:rPr lang="en-US" sz="1800" dirty="0" err="1">
                <a:latin typeface="Franklin Gothic Book" pitchFamily="34" charset="0"/>
              </a:rPr>
              <a:t>karena</a:t>
            </a:r>
            <a:r>
              <a:rPr lang="en-US" sz="1800" dirty="0">
                <a:latin typeface="Franklin Gothic Book" pitchFamily="34" charset="0"/>
              </a:rPr>
              <a:t> switch </a:t>
            </a:r>
            <a:r>
              <a:rPr lang="en-US" sz="1800" dirty="0" err="1">
                <a:latin typeface="Franklin Gothic Book" pitchFamily="34" charset="0"/>
              </a:rPr>
              <a:t>terus</a:t>
            </a:r>
            <a:r>
              <a:rPr lang="en-US" sz="1800" dirty="0">
                <a:latin typeface="Franklin Gothic Book" pitchFamily="34" charset="0"/>
              </a:rPr>
              <a:t> melakukan updating </a:t>
            </a:r>
            <a:r>
              <a:rPr lang="en-US" sz="1800" dirty="0" err="1">
                <a:latin typeface="Franklin Gothic Book" pitchFamily="34" charset="0"/>
              </a:rPr>
              <a:t>terhadap</a:t>
            </a:r>
            <a:r>
              <a:rPr lang="en-US" sz="1800" dirty="0">
                <a:latin typeface="Franklin Gothic Book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</a:rPr>
              <a:t>tabel</a:t>
            </a:r>
            <a:r>
              <a:rPr lang="en-US" sz="1800" dirty="0">
                <a:latin typeface="Franklin Gothic Book" pitchFamily="34" charset="0"/>
              </a:rPr>
              <a:t> MAC 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→ </a:t>
            </a:r>
            <a:r>
              <a:rPr lang="en-US" sz="1800" dirty="0" err="1">
                <a:latin typeface="Franklin Gothic Book" pitchFamily="34" charset="0"/>
                <a:cs typeface="Arial" pitchFamily="34" charset="0"/>
              </a:rPr>
              <a:t>ini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Franklin Gothic Book" pitchFamily="34" charset="0"/>
                <a:cs typeface="Arial" pitchFamily="34" charset="0"/>
              </a:rPr>
              <a:t>disebut</a:t>
            </a:r>
            <a:r>
              <a:rPr lang="en-US" sz="1800" dirty="0">
                <a:latin typeface="Franklin Gothic Book" pitchFamily="34" charset="0"/>
                <a:cs typeface="Arial" pitchFamily="34" charset="0"/>
              </a:rPr>
              <a:t> </a:t>
            </a:r>
            <a:r>
              <a:rPr lang="en-US" sz="1800" i="1" dirty="0">
                <a:latin typeface="Franklin Gothic Book" pitchFamily="34" charset="0"/>
                <a:cs typeface="Arial" pitchFamily="34" charset="0"/>
              </a:rPr>
              <a:t>thrashing the MAC table</a:t>
            </a:r>
            <a:endParaRPr lang="en-US" sz="1800" dirty="0">
              <a:latin typeface="Franklin Gothic Book" pitchFamily="34" charset="0"/>
              <a:cs typeface="Arial" pitchFamily="34" charset="0"/>
            </a:endParaRPr>
          </a:p>
          <a:p>
            <a:pPr lvl="1"/>
            <a:endParaRPr lang="en-US" sz="1800" dirty="0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9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Avoidance (3)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Bisa </a:t>
            </a:r>
            <a:r>
              <a:rPr lang="en-US" dirty="0" err="1"/>
              <a:t>terjadi</a:t>
            </a:r>
            <a:r>
              <a:rPr lang="en-US" dirty="0"/>
              <a:t> multiple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  <a:p>
            <a:pPr lvl="1"/>
            <a:r>
              <a:rPr lang="en-US" dirty="0" err="1"/>
              <a:t>Ada</a:t>
            </a:r>
            <a:r>
              <a:rPr lang="en-US" dirty="0"/>
              <a:t>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loop</a:t>
            </a:r>
          </a:p>
          <a:p>
            <a:pPr lvl="2"/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broadcast storm, </a:t>
            </a:r>
            <a:r>
              <a:rPr lang="en-US" dirty="0" err="1"/>
              <a:t>maka</a:t>
            </a:r>
            <a:r>
              <a:rPr lang="en-US" dirty="0"/>
              <a:t> switch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melakukan packet switching</a:t>
            </a:r>
          </a:p>
          <a:p>
            <a:r>
              <a:rPr lang="en-US" dirty="0"/>
              <a:t>Spanning-Tree Protocol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menanggulangi</a:t>
            </a:r>
            <a:r>
              <a:rPr lang="en-US" dirty="0"/>
              <a:t> </a:t>
            </a:r>
            <a:r>
              <a:rPr lang="en-US" dirty="0" err="1"/>
              <a:t>kemungkinan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loop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635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Spanning-Tree Protocol (STP)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kali </a:t>
            </a:r>
            <a:r>
              <a:rPr lang="en-US" sz="2400" dirty="0" err="1"/>
              <a:t>oleh</a:t>
            </a:r>
            <a:r>
              <a:rPr lang="en-US" sz="2400" dirty="0"/>
              <a:t> Digital Equipment Corporation (DEC) [</a:t>
            </a:r>
            <a:r>
              <a:rPr lang="en-US" sz="2400" dirty="0" err="1"/>
              <a:t>sekarang</a:t>
            </a:r>
            <a:r>
              <a:rPr lang="en-US" sz="2400" dirty="0"/>
              <a:t> Compaq]</a:t>
            </a:r>
          </a:p>
          <a:p>
            <a:r>
              <a:rPr lang="en-US" sz="2400" dirty="0" err="1"/>
              <a:t>Lalu</a:t>
            </a:r>
            <a:r>
              <a:rPr lang="en-US" sz="2400" dirty="0"/>
              <a:t> IEEE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versi</a:t>
            </a:r>
            <a:r>
              <a:rPr lang="en-US" sz="2400" dirty="0"/>
              <a:t>  STP yang </a:t>
            </a:r>
            <a:r>
              <a:rPr lang="en-US" sz="2400" dirty="0" err="1"/>
              <a:t>disebut</a:t>
            </a:r>
            <a:r>
              <a:rPr lang="en-US" sz="2400" dirty="0"/>
              <a:t> 802.1d</a:t>
            </a:r>
          </a:p>
          <a:p>
            <a:pPr lvl="1"/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kompatibel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versi</a:t>
            </a:r>
            <a:r>
              <a:rPr lang="en-US" sz="2200" dirty="0"/>
              <a:t> DEC</a:t>
            </a:r>
          </a:p>
          <a:p>
            <a:pPr lvl="1"/>
            <a:r>
              <a:rPr lang="en-US" sz="2200" dirty="0" err="1"/>
              <a:t>Seluruh</a:t>
            </a:r>
            <a:r>
              <a:rPr lang="en-US" sz="2200" dirty="0"/>
              <a:t> switch Cisco </a:t>
            </a:r>
            <a:r>
              <a:rPr lang="en-US" sz="2200" dirty="0" err="1"/>
              <a:t>menjalankan</a:t>
            </a:r>
            <a:r>
              <a:rPr lang="en-US" sz="2200" dirty="0"/>
              <a:t> STP </a:t>
            </a:r>
            <a:r>
              <a:rPr lang="en-US" sz="2200" dirty="0" err="1"/>
              <a:t>versi</a:t>
            </a:r>
            <a:r>
              <a:rPr lang="en-US" sz="2200" dirty="0"/>
              <a:t> IEEE802.1d</a:t>
            </a:r>
          </a:p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utama</a:t>
            </a:r>
            <a:r>
              <a:rPr lang="en-US" sz="2400" dirty="0"/>
              <a:t> STP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mencegah</a:t>
            </a:r>
            <a:r>
              <a:rPr lang="en-US" sz="2400" dirty="0"/>
              <a:t> </a:t>
            </a:r>
            <a:r>
              <a:rPr lang="en-US" sz="2400" dirty="0" err="1"/>
              <a:t>adanya</a:t>
            </a:r>
            <a:r>
              <a:rPr lang="en-US" sz="2400" dirty="0"/>
              <a:t> loop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layer-2 (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bridge </a:t>
            </a:r>
            <a:r>
              <a:rPr lang="en-US" sz="2400" dirty="0" err="1"/>
              <a:t>maupun</a:t>
            </a:r>
            <a:r>
              <a:rPr lang="en-US" sz="2400" dirty="0"/>
              <a:t> switch)</a:t>
            </a:r>
          </a:p>
          <a:p>
            <a:r>
              <a:rPr lang="en-US" sz="2400" dirty="0"/>
              <a:t>STP secara </a:t>
            </a:r>
            <a:r>
              <a:rPr lang="en-US" sz="2400" dirty="0" err="1"/>
              <a:t>terus</a:t>
            </a:r>
            <a:r>
              <a:rPr lang="en-US" sz="2400" dirty="0"/>
              <a:t> </a:t>
            </a:r>
            <a:r>
              <a:rPr lang="en-US" sz="2400" dirty="0" err="1"/>
              <a:t>menerus</a:t>
            </a:r>
            <a:r>
              <a:rPr lang="en-US" sz="2400" dirty="0"/>
              <a:t> </a:t>
            </a:r>
            <a:r>
              <a:rPr lang="en-US" sz="2400" dirty="0" err="1"/>
              <a:t>memantau</a:t>
            </a:r>
            <a:r>
              <a:rPr lang="en-US" sz="2400" dirty="0"/>
              <a:t> </a:t>
            </a:r>
            <a:r>
              <a:rPr lang="en-US" sz="2400" dirty="0" err="1"/>
              <a:t>seluruh</a:t>
            </a:r>
            <a:r>
              <a:rPr lang="en-US" sz="2400" dirty="0"/>
              <a:t> link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agar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loop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mematikan</a:t>
            </a:r>
            <a:r>
              <a:rPr lang="en-US" sz="2400" dirty="0"/>
              <a:t> link-link redundant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95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kerja STP</a:t>
            </a:r>
          </a:p>
        </p:txBody>
      </p:sp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STP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memutuskan</a:t>
            </a:r>
            <a:r>
              <a:rPr lang="en-US" sz="2400" dirty="0"/>
              <a:t> (shut down) link redundant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agar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loop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endParaRPr lang="en-US" sz="2400" dirty="0"/>
          </a:p>
          <a:p>
            <a:r>
              <a:rPr lang="en-US" sz="2400" dirty="0" err="1"/>
              <a:t>Caranya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terlebih</a:t>
            </a:r>
            <a:r>
              <a:rPr lang="en-US" sz="2400" dirty="0"/>
              <a:t> </a:t>
            </a:r>
            <a:r>
              <a:rPr lang="en-US" sz="2400" dirty="0" err="1"/>
              <a:t>dulu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i="1" dirty="0"/>
              <a:t>root bridge</a:t>
            </a:r>
            <a:endParaRPr lang="en-US" sz="2400" dirty="0"/>
          </a:p>
          <a:p>
            <a:pPr lvl="1"/>
            <a:r>
              <a:rPr lang="en-US" sz="2200" i="1" dirty="0"/>
              <a:t>Root bridge</a:t>
            </a:r>
            <a:r>
              <a:rPr lang="en-US" sz="2200" dirty="0"/>
              <a:t>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menentukan</a:t>
            </a:r>
            <a:r>
              <a:rPr lang="en-US" sz="2200" dirty="0"/>
              <a:t> </a:t>
            </a:r>
            <a:r>
              <a:rPr lang="en-US" sz="2200" dirty="0" err="1"/>
              <a:t>topologi</a:t>
            </a:r>
            <a:r>
              <a:rPr lang="en-US" sz="2200" dirty="0"/>
              <a:t> </a:t>
            </a:r>
            <a:r>
              <a:rPr lang="en-US" sz="2200" dirty="0" err="1"/>
              <a:t>jaringan</a:t>
            </a:r>
            <a:endParaRPr lang="en-US" sz="2200" dirty="0"/>
          </a:p>
          <a:p>
            <a:pPr lvl="1"/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boleh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 </a:t>
            </a:r>
            <a:r>
              <a:rPr lang="en-US" sz="2200" i="1" dirty="0"/>
              <a:t>root bridge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suatu</a:t>
            </a:r>
            <a:r>
              <a:rPr lang="en-US" sz="2200" dirty="0"/>
              <a:t> </a:t>
            </a:r>
            <a:r>
              <a:rPr lang="en-US" sz="2200" dirty="0" err="1"/>
              <a:t>jaringan</a:t>
            </a:r>
            <a:r>
              <a:rPr lang="en-US" sz="2200" dirty="0"/>
              <a:t> </a:t>
            </a:r>
            <a:r>
              <a:rPr lang="en-US" sz="2200" dirty="0" err="1"/>
              <a:t>tertentu</a:t>
            </a:r>
            <a:endParaRPr lang="en-US" sz="2200" dirty="0"/>
          </a:p>
          <a:p>
            <a:pPr lvl="1"/>
            <a:r>
              <a:rPr lang="en-US" sz="2200" dirty="0"/>
              <a:t>Port </a:t>
            </a:r>
            <a:r>
              <a:rPr lang="en-US" sz="2200" i="1" dirty="0"/>
              <a:t>root bridge </a:t>
            </a:r>
            <a:r>
              <a:rPr lang="en-US" sz="2200" dirty="0" err="1"/>
              <a:t>disebut</a:t>
            </a:r>
            <a:r>
              <a:rPr lang="en-US" sz="2200" dirty="0"/>
              <a:t> </a:t>
            </a:r>
            <a:r>
              <a:rPr lang="en-US" sz="2200" i="1" dirty="0"/>
              <a:t>designated ports</a:t>
            </a:r>
            <a:r>
              <a:rPr lang="en-US" sz="2200" dirty="0"/>
              <a:t> yang </a:t>
            </a:r>
            <a:r>
              <a:rPr lang="en-US" sz="2200" dirty="0" err="1"/>
              <a:t>disebut</a:t>
            </a:r>
            <a:r>
              <a:rPr lang="en-US" sz="2200" dirty="0"/>
              <a:t> </a:t>
            </a:r>
            <a:r>
              <a:rPr lang="en-US" sz="2200" dirty="0" err="1"/>
              <a:t>bekerja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keadaan</a:t>
            </a:r>
            <a:r>
              <a:rPr lang="en-US" sz="2200" dirty="0"/>
              <a:t> </a:t>
            </a:r>
            <a:r>
              <a:rPr lang="en-US" sz="2200" i="1" dirty="0"/>
              <a:t>forwarding-state</a:t>
            </a:r>
            <a:endParaRPr lang="en-US" sz="2200" dirty="0"/>
          </a:p>
          <a:p>
            <a:pPr lvl="2"/>
            <a:r>
              <a:rPr lang="en-US" sz="1700" dirty="0"/>
              <a:t>Port </a:t>
            </a:r>
            <a:r>
              <a:rPr lang="en-US" sz="1700" i="1" dirty="0" err="1"/>
              <a:t>fowading</a:t>
            </a:r>
            <a:r>
              <a:rPr lang="en-US" sz="1700" i="1" dirty="0"/>
              <a:t>-state </a:t>
            </a:r>
            <a:r>
              <a:rPr lang="en-US" sz="1700" dirty="0" err="1"/>
              <a:t>akan</a:t>
            </a:r>
            <a:r>
              <a:rPr lang="en-US" sz="1700" dirty="0"/>
              <a:t> </a:t>
            </a:r>
            <a:r>
              <a:rPr lang="en-US" sz="1700" dirty="0" err="1"/>
              <a:t>menerima</a:t>
            </a:r>
            <a:r>
              <a:rPr lang="en-US" sz="1700" dirty="0"/>
              <a:t> dan </a:t>
            </a:r>
            <a:r>
              <a:rPr lang="en-US" sz="1700" dirty="0" err="1"/>
              <a:t>mengirimkan</a:t>
            </a:r>
            <a:r>
              <a:rPr lang="en-US" sz="1700" dirty="0"/>
              <a:t> </a:t>
            </a:r>
            <a:r>
              <a:rPr lang="en-US" sz="1700" dirty="0" err="1"/>
              <a:t>trafik</a:t>
            </a:r>
            <a:endParaRPr lang="en-US" sz="1700" dirty="0"/>
          </a:p>
          <a:p>
            <a:r>
              <a:rPr lang="en-US" sz="2400" dirty="0"/>
              <a:t>Switch lain yang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i="1" dirty="0" err="1"/>
              <a:t>nonroot</a:t>
            </a:r>
            <a:r>
              <a:rPr lang="en-US" sz="2400" i="1" dirty="0"/>
              <a:t> bridge</a:t>
            </a:r>
            <a:endParaRPr lang="en-US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34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graphicFrame>
        <p:nvGraphicFramePr>
          <p:cNvPr id="49152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310188" y="2214563"/>
          <a:ext cx="5129212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3" imgW="6275832" imgH="3409188" progId="Visio.Drawing.11">
                  <p:embed/>
                </p:oleObj>
              </mc:Choice>
              <mc:Fallback>
                <p:oleObj name="Visio" r:id="rId3" imgW="6275832" imgH="3409188" progId="Visio.Drawing.11">
                  <p:embed/>
                  <p:pic>
                    <p:nvPicPr>
                      <p:cNvPr id="4915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2214563"/>
                        <a:ext cx="5129212" cy="278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33</a:t>
            </a:fld>
            <a:endParaRPr lang="en-SG" dirty="0"/>
          </a:p>
        </p:txBody>
      </p:sp>
      <p:sp>
        <p:nvSpPr>
          <p:cNvPr id="49152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571625"/>
            <a:ext cx="3929063" cy="45720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latin typeface="Franklin Gothic Book" pitchFamily="34" charset="0"/>
              </a:rPr>
              <a:t>Port </a:t>
            </a:r>
            <a:r>
              <a:rPr lang="en-US" sz="1600" dirty="0" err="1">
                <a:latin typeface="Franklin Gothic Book" pitchFamily="34" charset="0"/>
              </a:rPr>
              <a:t>pada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 err="1">
                <a:latin typeface="Franklin Gothic Book" pitchFamily="34" charset="0"/>
              </a:rPr>
              <a:t>nonroot</a:t>
            </a:r>
            <a:r>
              <a:rPr lang="en-US" sz="1600" i="1" dirty="0">
                <a:latin typeface="Franklin Gothic Book" pitchFamily="34" charset="0"/>
              </a:rPr>
              <a:t> bridge </a:t>
            </a:r>
            <a:r>
              <a:rPr lang="en-US" sz="1600" dirty="0">
                <a:latin typeface="Franklin Gothic Book" pitchFamily="34" charset="0"/>
              </a:rPr>
              <a:t>yang </a:t>
            </a:r>
            <a:r>
              <a:rPr lang="en-US" sz="1600" dirty="0" err="1">
                <a:latin typeface="Franklin Gothic Book" pitchFamily="34" charset="0"/>
              </a:rPr>
              <a:t>memiliki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jalur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ke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arah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root bridge</a:t>
            </a:r>
            <a:r>
              <a:rPr lang="en-US" sz="1600" dirty="0">
                <a:latin typeface="Franklin Gothic Book" pitchFamily="34" charset="0"/>
              </a:rPr>
              <a:t> paling </a:t>
            </a:r>
            <a:r>
              <a:rPr lang="en-US" sz="1600" dirty="0" err="1">
                <a:latin typeface="Franklin Gothic Book" pitchFamily="34" charset="0"/>
              </a:rPr>
              <a:t>murah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disebut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root port</a:t>
            </a:r>
            <a:r>
              <a:rPr lang="en-US" sz="1600" dirty="0">
                <a:latin typeface="Franklin Gothic Book" pitchFamily="34" charset="0"/>
              </a:rPr>
              <a:t> dan </a:t>
            </a:r>
            <a:r>
              <a:rPr lang="en-US" sz="1600" dirty="0" err="1">
                <a:latin typeface="Franklin Gothic Book" pitchFamily="34" charset="0"/>
              </a:rPr>
              <a:t>akan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digunakan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untuk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mengirim</a:t>
            </a:r>
            <a:r>
              <a:rPr lang="en-US" sz="1600" dirty="0">
                <a:latin typeface="Franklin Gothic Book" pitchFamily="34" charset="0"/>
              </a:rPr>
              <a:t> dan </a:t>
            </a:r>
            <a:r>
              <a:rPr lang="en-US" sz="1600" dirty="0" err="1">
                <a:latin typeface="Franklin Gothic Book" pitchFamily="34" charset="0"/>
              </a:rPr>
              <a:t>menerima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trafik</a:t>
            </a:r>
            <a:endParaRPr lang="en-US" sz="1600" dirty="0">
              <a:latin typeface="Franklin Gothic Book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sz="1400" dirty="0">
                <a:latin typeface="Franklin Gothic Book" pitchFamily="34" charset="0"/>
              </a:rPr>
              <a:t>Cost </a:t>
            </a:r>
            <a:r>
              <a:rPr lang="en-US" sz="1400" dirty="0" err="1">
                <a:latin typeface="Franklin Gothic Book" pitchFamily="34" charset="0"/>
              </a:rPr>
              <a:t>suatu</a:t>
            </a:r>
            <a:r>
              <a:rPr lang="en-US" sz="1400" dirty="0">
                <a:latin typeface="Franklin Gothic Book" pitchFamily="34" charset="0"/>
              </a:rPr>
              <a:t> link </a:t>
            </a:r>
            <a:r>
              <a:rPr lang="en-US" sz="1400" dirty="0" err="1">
                <a:latin typeface="Franklin Gothic Book" pitchFamily="34" charset="0"/>
              </a:rPr>
              <a:t>ditentukan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berdasarkan</a:t>
            </a:r>
            <a:r>
              <a:rPr lang="en-US" sz="1400" dirty="0">
                <a:latin typeface="Franklin Gothic Book" pitchFamily="34" charset="0"/>
              </a:rPr>
              <a:t> bandwidth link </a:t>
            </a:r>
            <a:r>
              <a:rPr lang="en-US" sz="1400" dirty="0" err="1">
                <a:latin typeface="Franklin Gothic Book" pitchFamily="34" charset="0"/>
              </a:rPr>
              <a:t>tersebut</a:t>
            </a:r>
            <a:endParaRPr lang="en-US" sz="1400" dirty="0">
              <a:latin typeface="Franklin Gothic Book" pitchFamily="34" charset="0"/>
            </a:endParaRPr>
          </a:p>
          <a:p>
            <a:pPr lvl="2">
              <a:lnSpc>
                <a:spcPct val="110000"/>
              </a:lnSpc>
            </a:pPr>
            <a:r>
              <a:rPr lang="en-US" sz="1200" dirty="0">
                <a:latin typeface="Franklin Gothic Book" pitchFamily="34" charset="0"/>
              </a:rPr>
              <a:t>Link yang </a:t>
            </a:r>
            <a:r>
              <a:rPr lang="en-US" sz="1200" dirty="0" err="1">
                <a:latin typeface="Franklin Gothic Book" pitchFamily="34" charset="0"/>
              </a:rPr>
              <a:t>berkecepatan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tinggi</a:t>
            </a:r>
            <a:r>
              <a:rPr lang="en-US" sz="1200" dirty="0">
                <a:latin typeface="Franklin Gothic Book" pitchFamily="34" charset="0"/>
              </a:rPr>
              <a:t> (bandwidth </a:t>
            </a:r>
            <a:r>
              <a:rPr lang="en-US" sz="1200" dirty="0" err="1">
                <a:latin typeface="Franklin Gothic Book" pitchFamily="34" charset="0"/>
              </a:rPr>
              <a:t>lebar</a:t>
            </a:r>
            <a:r>
              <a:rPr lang="en-US" sz="1200" dirty="0">
                <a:latin typeface="Franklin Gothic Book" pitchFamily="34" charset="0"/>
              </a:rPr>
              <a:t>) </a:t>
            </a:r>
            <a:r>
              <a:rPr lang="en-US" sz="1200" dirty="0" err="1">
                <a:latin typeface="Franklin Gothic Book" pitchFamily="34" charset="0"/>
              </a:rPr>
              <a:t>akan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memiliki</a:t>
            </a:r>
            <a:r>
              <a:rPr lang="en-US" sz="1200" dirty="0">
                <a:latin typeface="Franklin Gothic Book" pitchFamily="34" charset="0"/>
              </a:rPr>
              <a:t> cost yang </a:t>
            </a:r>
            <a:r>
              <a:rPr lang="en-US" sz="1200" dirty="0" err="1">
                <a:latin typeface="Franklin Gothic Book" pitchFamily="34" charset="0"/>
              </a:rPr>
              <a:t>lebih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murah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daripada</a:t>
            </a:r>
            <a:r>
              <a:rPr lang="en-US" sz="1200" dirty="0">
                <a:latin typeface="Franklin Gothic Book" pitchFamily="34" charset="0"/>
              </a:rPr>
              <a:t> link yang </a:t>
            </a:r>
            <a:r>
              <a:rPr lang="en-US" sz="1200" dirty="0" err="1">
                <a:latin typeface="Franklin Gothic Book" pitchFamily="34" charset="0"/>
              </a:rPr>
              <a:t>berkecepatan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lebih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rendah</a:t>
            </a:r>
            <a:endParaRPr lang="en-US" sz="1200" dirty="0">
              <a:latin typeface="Franklin Gothic Book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latin typeface="Franklin Gothic Book" pitchFamily="34" charset="0"/>
              </a:rPr>
              <a:t>Port yang </a:t>
            </a:r>
            <a:r>
              <a:rPr lang="en-US" sz="1600" dirty="0" err="1">
                <a:latin typeface="Franklin Gothic Book" pitchFamily="34" charset="0"/>
              </a:rPr>
              <a:t>jalur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menuju</a:t>
            </a:r>
            <a:r>
              <a:rPr lang="en-US" sz="1600" dirty="0">
                <a:latin typeface="Franklin Gothic Book" pitchFamily="34" charset="0"/>
              </a:rPr>
              <a:t> root bridge-</a:t>
            </a:r>
            <a:r>
              <a:rPr lang="en-US" sz="1600" dirty="0" err="1">
                <a:latin typeface="Franklin Gothic Book" pitchFamily="34" charset="0"/>
              </a:rPr>
              <a:t>nya</a:t>
            </a:r>
            <a:r>
              <a:rPr lang="en-US" sz="1600" dirty="0">
                <a:latin typeface="Franklin Gothic Book" pitchFamily="34" charset="0"/>
              </a:rPr>
              <a:t> paling </a:t>
            </a:r>
            <a:r>
              <a:rPr lang="en-US" sz="1600" dirty="0" err="1">
                <a:latin typeface="Franklin Gothic Book" pitchFamily="34" charset="0"/>
              </a:rPr>
              <a:t>murah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dirty="0" err="1">
                <a:latin typeface="Franklin Gothic Book" pitchFamily="34" charset="0"/>
              </a:rPr>
              <a:t>disebut</a:t>
            </a:r>
            <a:r>
              <a:rPr lang="en-US" sz="1600" dirty="0">
                <a:latin typeface="Franklin Gothic Book" pitchFamily="34" charset="0"/>
              </a:rPr>
              <a:t> </a:t>
            </a:r>
            <a:r>
              <a:rPr lang="en-US" sz="1600" i="1" dirty="0">
                <a:latin typeface="Franklin Gothic Book" pitchFamily="34" charset="0"/>
              </a:rPr>
              <a:t>designated port</a:t>
            </a:r>
            <a:r>
              <a:rPr lang="en-US" sz="1600" dirty="0">
                <a:latin typeface="Franklin Gothic Book" pitchFamily="34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en-US" sz="1400" dirty="0">
                <a:latin typeface="Franklin Gothic Book" pitchFamily="34" charset="0"/>
              </a:rPr>
              <a:t>Port </a:t>
            </a:r>
            <a:r>
              <a:rPr lang="en-US" sz="1400" dirty="0" err="1">
                <a:latin typeface="Franklin Gothic Book" pitchFamily="34" charset="0"/>
              </a:rPr>
              <a:t>lainnya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dianggap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i="1" dirty="0" err="1">
                <a:latin typeface="Franklin Gothic Book" pitchFamily="34" charset="0"/>
              </a:rPr>
              <a:t>nondesignated</a:t>
            </a:r>
            <a:r>
              <a:rPr lang="en-US" sz="1400" i="1" dirty="0">
                <a:latin typeface="Franklin Gothic Book" pitchFamily="34" charset="0"/>
              </a:rPr>
              <a:t> port</a:t>
            </a:r>
            <a:r>
              <a:rPr lang="en-US" sz="1400" dirty="0">
                <a:latin typeface="Franklin Gothic Book" pitchFamily="34" charset="0"/>
              </a:rPr>
              <a:t> dan </a:t>
            </a:r>
            <a:r>
              <a:rPr lang="en-US" sz="1400" dirty="0" err="1">
                <a:latin typeface="Franklin Gothic Book" pitchFamily="34" charset="0"/>
              </a:rPr>
              <a:t>tidak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akan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digunakan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untuk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menerima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maupun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mengirimkan</a:t>
            </a:r>
            <a:r>
              <a:rPr lang="en-US" sz="1400" dirty="0">
                <a:latin typeface="Franklin Gothic Book" pitchFamily="34" charset="0"/>
              </a:rPr>
              <a:t> </a:t>
            </a:r>
            <a:r>
              <a:rPr lang="en-US" sz="1400" dirty="0" err="1">
                <a:latin typeface="Franklin Gothic Book" pitchFamily="34" charset="0"/>
              </a:rPr>
              <a:t>trafik</a:t>
            </a:r>
            <a:endParaRPr lang="en-US" sz="1400" dirty="0">
              <a:latin typeface="Franklin Gothic Book" pitchFamily="34" charset="0"/>
            </a:endParaRPr>
          </a:p>
          <a:p>
            <a:pPr lvl="2">
              <a:lnSpc>
                <a:spcPct val="110000"/>
              </a:lnSpc>
            </a:pPr>
            <a:r>
              <a:rPr lang="en-US" sz="1200" dirty="0">
                <a:latin typeface="Franklin Gothic Book" pitchFamily="34" charset="0"/>
              </a:rPr>
              <a:t>Port </a:t>
            </a:r>
            <a:r>
              <a:rPr lang="en-US" sz="1200" dirty="0" err="1">
                <a:latin typeface="Franklin Gothic Book" pitchFamily="34" charset="0"/>
              </a:rPr>
              <a:t>ini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disebut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berada</a:t>
            </a:r>
            <a:r>
              <a:rPr lang="en-US" sz="1200" dirty="0">
                <a:latin typeface="Franklin Gothic Book" pitchFamily="34" charset="0"/>
              </a:rPr>
              <a:t> </a:t>
            </a:r>
            <a:r>
              <a:rPr lang="en-US" sz="1200" dirty="0" err="1">
                <a:latin typeface="Franklin Gothic Book" pitchFamily="34" charset="0"/>
              </a:rPr>
              <a:t>dalam</a:t>
            </a:r>
            <a:r>
              <a:rPr lang="en-US" sz="1200" dirty="0">
                <a:latin typeface="Franklin Gothic Book" pitchFamily="34" charset="0"/>
              </a:rPr>
              <a:t> mode </a:t>
            </a:r>
            <a:r>
              <a:rPr lang="en-US" sz="1200" i="1" dirty="0">
                <a:latin typeface="Franklin Gothic Book" pitchFamily="34" charset="0"/>
              </a:rPr>
              <a:t>blocking</a:t>
            </a:r>
          </a:p>
        </p:txBody>
      </p:sp>
    </p:spTree>
    <p:extLst>
      <p:ext uri="{BB962C8B-B14F-4D97-AF65-F5344CB8AC3E}">
        <p14:creationId xmlns:p14="http://schemas.microsoft.com/office/powerpoint/2010/main" val="28252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</a:t>
            </a: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00" dirty="0"/>
              <a:t>Switch </a:t>
            </a:r>
            <a:r>
              <a:rPr lang="en-US" sz="1900" dirty="0" err="1"/>
              <a:t>atau</a:t>
            </a:r>
            <a:r>
              <a:rPr lang="en-US" sz="1900" dirty="0"/>
              <a:t> bridge yang </a:t>
            </a:r>
            <a:r>
              <a:rPr lang="en-US" sz="1900" dirty="0" err="1"/>
              <a:t>menjalankan</a:t>
            </a:r>
            <a:r>
              <a:rPr lang="en-US" sz="1900" dirty="0"/>
              <a:t> STP </a:t>
            </a:r>
            <a:r>
              <a:rPr lang="en-US" sz="1900" dirty="0" err="1"/>
              <a:t>akan</a:t>
            </a:r>
            <a:r>
              <a:rPr lang="en-US" sz="1900" dirty="0"/>
              <a:t> </a:t>
            </a:r>
            <a:r>
              <a:rPr lang="en-US" sz="1900" dirty="0" err="1"/>
              <a:t>bertukar</a:t>
            </a:r>
            <a:r>
              <a:rPr lang="en-US" sz="1900" dirty="0"/>
              <a:t> </a:t>
            </a:r>
            <a:r>
              <a:rPr lang="en-US" sz="1900" dirty="0" err="1"/>
              <a:t>informasi</a:t>
            </a:r>
            <a:r>
              <a:rPr lang="en-US" sz="1900" dirty="0"/>
              <a:t> </a:t>
            </a:r>
            <a:r>
              <a:rPr lang="en-US" sz="1900" dirty="0" err="1"/>
              <a:t>menggunakan</a:t>
            </a:r>
            <a:r>
              <a:rPr lang="en-US" sz="1900" dirty="0"/>
              <a:t> </a:t>
            </a:r>
            <a:r>
              <a:rPr lang="en-US" sz="1900" i="1" dirty="0"/>
              <a:t>Bridge Protocol Data Units </a:t>
            </a:r>
            <a:r>
              <a:rPr lang="en-US" sz="1900" dirty="0"/>
              <a:t>(BPDU)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BPDU </a:t>
            </a:r>
            <a:r>
              <a:rPr lang="en-US" sz="1800" dirty="0" err="1"/>
              <a:t>mengirimkan</a:t>
            </a:r>
            <a:r>
              <a:rPr lang="en-US" sz="1800" dirty="0"/>
              <a:t> </a:t>
            </a:r>
            <a:r>
              <a:rPr lang="en-US" sz="1800" dirty="0" err="1"/>
              <a:t>pesan-pesan</a:t>
            </a:r>
            <a:r>
              <a:rPr lang="en-US" sz="1800" dirty="0"/>
              <a:t> </a:t>
            </a:r>
            <a:r>
              <a:rPr lang="en-US" sz="1800" dirty="0" err="1"/>
              <a:t>konfigurasi</a:t>
            </a:r>
            <a:r>
              <a:rPr lang="en-US" sz="1800" dirty="0"/>
              <a:t> (configuration message) </a:t>
            </a:r>
            <a:r>
              <a:rPr lang="en-US" sz="1800" dirty="0" err="1"/>
              <a:t>menggunakan</a:t>
            </a:r>
            <a:r>
              <a:rPr lang="en-US" sz="1800" dirty="0"/>
              <a:t> frame multicast</a:t>
            </a:r>
            <a:endParaRPr lang="en-US" sz="1800" i="1" dirty="0"/>
          </a:p>
          <a:p>
            <a:pPr lvl="1">
              <a:lnSpc>
                <a:spcPct val="150000"/>
              </a:lnSpc>
            </a:pPr>
            <a:r>
              <a:rPr lang="en-US" sz="1800" i="1" dirty="0"/>
              <a:t>Bridge ID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setiap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</a:t>
            </a:r>
            <a:r>
              <a:rPr lang="en-US" sz="1800" dirty="0" err="1"/>
              <a:t>dikirimkan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lain </a:t>
            </a:r>
            <a:r>
              <a:rPr lang="en-US" sz="1800" dirty="0" err="1"/>
              <a:t>menggunakan</a:t>
            </a:r>
            <a:r>
              <a:rPr lang="en-US" sz="1800" dirty="0"/>
              <a:t> BPDU</a:t>
            </a:r>
          </a:p>
          <a:p>
            <a:pPr>
              <a:lnSpc>
                <a:spcPct val="150000"/>
              </a:lnSpc>
            </a:pPr>
            <a:r>
              <a:rPr lang="en-US" sz="1900" i="1" dirty="0"/>
              <a:t>Bridge ID</a:t>
            </a:r>
            <a:r>
              <a:rPr lang="en-US" sz="1900" dirty="0"/>
              <a:t> </a:t>
            </a:r>
            <a:r>
              <a:rPr lang="en-US" sz="1900" dirty="0" err="1"/>
              <a:t>digunakan</a:t>
            </a:r>
            <a:r>
              <a:rPr lang="en-US" sz="1900" dirty="0"/>
              <a:t> </a:t>
            </a:r>
            <a:r>
              <a:rPr lang="en-US" sz="1900" dirty="0" err="1"/>
              <a:t>untuk</a:t>
            </a:r>
            <a:r>
              <a:rPr lang="en-US" sz="1900" dirty="0"/>
              <a:t> </a:t>
            </a:r>
            <a:r>
              <a:rPr lang="en-US" sz="1900" dirty="0" err="1"/>
              <a:t>menentukan</a:t>
            </a:r>
            <a:r>
              <a:rPr lang="en-US" sz="1900" dirty="0"/>
              <a:t> </a:t>
            </a:r>
            <a:r>
              <a:rPr lang="en-US" sz="1900" i="1" dirty="0"/>
              <a:t>root bridge </a:t>
            </a:r>
            <a:r>
              <a:rPr lang="en-US" sz="1900" dirty="0"/>
              <a:t>dan </a:t>
            </a:r>
            <a:r>
              <a:rPr lang="en-US" sz="1900" i="1" dirty="0"/>
              <a:t>root port</a:t>
            </a:r>
            <a:endParaRPr lang="en-US" sz="1900" dirty="0"/>
          </a:p>
          <a:p>
            <a:pPr lvl="1">
              <a:lnSpc>
                <a:spcPct val="150000"/>
              </a:lnSpc>
            </a:pPr>
            <a:r>
              <a:rPr lang="en-US" sz="1800" i="1" dirty="0"/>
              <a:t>Bridge ID</a:t>
            </a:r>
            <a:r>
              <a:rPr lang="en-US" sz="1800" dirty="0"/>
              <a:t> </a:t>
            </a:r>
            <a:r>
              <a:rPr lang="en-US" sz="1800" dirty="0" err="1"/>
              <a:t>berukuran</a:t>
            </a:r>
            <a:r>
              <a:rPr lang="en-US" sz="1800" dirty="0"/>
              <a:t> 8 byte dan </a:t>
            </a:r>
            <a:r>
              <a:rPr lang="en-US" sz="1800" dirty="0" err="1"/>
              <a:t>mengikutsertakan</a:t>
            </a:r>
            <a:r>
              <a:rPr lang="en-US" sz="1800" dirty="0"/>
              <a:t> </a:t>
            </a:r>
            <a:r>
              <a:rPr lang="en-US" sz="1800" dirty="0" err="1"/>
              <a:t>prioritas</a:t>
            </a:r>
            <a:r>
              <a:rPr lang="en-US" sz="1800" dirty="0"/>
              <a:t> </a:t>
            </a:r>
            <a:r>
              <a:rPr lang="en-US" sz="1800" dirty="0" err="1"/>
              <a:t>serta</a:t>
            </a:r>
            <a:r>
              <a:rPr lang="en-US" sz="1800" dirty="0"/>
              <a:t> MAC address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yang </a:t>
            </a:r>
            <a:r>
              <a:rPr lang="en-US" sz="1800" dirty="0" err="1"/>
              <a:t>bersangkutan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1800" dirty="0" err="1"/>
              <a:t>Prioritas</a:t>
            </a:r>
            <a:r>
              <a:rPr lang="en-US" sz="1800" dirty="0"/>
              <a:t> default </a:t>
            </a: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seluruh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 yang </a:t>
            </a:r>
            <a:r>
              <a:rPr lang="en-US" sz="1800" dirty="0" err="1"/>
              <a:t>menjalankan</a:t>
            </a:r>
            <a:r>
              <a:rPr lang="en-US" sz="1800" dirty="0"/>
              <a:t> STP </a:t>
            </a:r>
            <a:r>
              <a:rPr lang="en-US" sz="1800" dirty="0" err="1"/>
              <a:t>versi</a:t>
            </a:r>
            <a:r>
              <a:rPr lang="en-US" sz="1800" dirty="0"/>
              <a:t> IEEE </a:t>
            </a:r>
            <a:r>
              <a:rPr lang="en-US" sz="1800" dirty="0" err="1"/>
              <a:t>adalah</a:t>
            </a:r>
            <a:r>
              <a:rPr lang="en-US" sz="1800" dirty="0"/>
              <a:t> 32,768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203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 </a:t>
            </a:r>
            <a:r>
              <a:rPr lang="en-US"/>
              <a:t>(2)</a:t>
            </a:r>
            <a:endParaRPr lang="en-US" i="1"/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 err="1"/>
              <a:t>Penentuan</a:t>
            </a:r>
            <a:r>
              <a:rPr lang="en-US" sz="2400" dirty="0"/>
              <a:t> </a:t>
            </a:r>
            <a:r>
              <a:rPr lang="en-US" sz="2400" i="1" dirty="0"/>
              <a:t>root bridge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bridge dan </a:t>
            </a:r>
            <a:r>
              <a:rPr lang="en-US" sz="2400" i="1" dirty="0"/>
              <a:t>MAC address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 err="1"/>
              <a:t>Jika</a:t>
            </a:r>
            <a:r>
              <a:rPr lang="en-US" sz="2400" dirty="0"/>
              <a:t> dua switch </a:t>
            </a:r>
            <a:r>
              <a:rPr lang="en-US" sz="2400" dirty="0" err="1"/>
              <a:t>atau</a:t>
            </a:r>
            <a:r>
              <a:rPr lang="en-US" sz="2400" dirty="0"/>
              <a:t> bridge </a:t>
            </a:r>
            <a:r>
              <a:rPr lang="en-US" sz="2400" dirty="0" err="1"/>
              <a:t>memilki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barulah</a:t>
            </a:r>
            <a:r>
              <a:rPr lang="en-US" sz="2400" dirty="0"/>
              <a:t> </a:t>
            </a:r>
            <a:r>
              <a:rPr lang="en-US" sz="2400" i="1" dirty="0"/>
              <a:t>MAC address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mana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keduanya</a:t>
            </a:r>
            <a:r>
              <a:rPr lang="en-US" sz="2400" dirty="0"/>
              <a:t>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paling </a:t>
            </a:r>
            <a:r>
              <a:rPr lang="en-US" sz="2400" dirty="0" err="1"/>
              <a:t>rendah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200" dirty="0" err="1"/>
              <a:t>Misalnya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dua switch A dan </a:t>
            </a:r>
            <a:r>
              <a:rPr lang="en-US" sz="2200" dirty="0" err="1"/>
              <a:t>B;keduanya</a:t>
            </a:r>
            <a:r>
              <a:rPr lang="en-US" sz="2200" dirty="0"/>
              <a:t> </a:t>
            </a:r>
            <a:r>
              <a:rPr lang="en-US" sz="2200" dirty="0" err="1"/>
              <a:t>memiliki</a:t>
            </a:r>
            <a:r>
              <a:rPr lang="en-US" sz="2200" dirty="0"/>
              <a:t> </a:t>
            </a:r>
            <a:r>
              <a:rPr lang="en-US" sz="2200" dirty="0" err="1"/>
              <a:t>prioritas</a:t>
            </a:r>
            <a:r>
              <a:rPr lang="en-US" sz="2200" dirty="0"/>
              <a:t> 32,768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i="1" dirty="0"/>
              <a:t>MAC address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digunakan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menentukan</a:t>
            </a:r>
            <a:r>
              <a:rPr lang="en-US" sz="2200" dirty="0"/>
              <a:t> switch yang </a:t>
            </a:r>
            <a:r>
              <a:rPr lang="en-US" sz="2200" dirty="0" err="1"/>
              <a:t>prioritasnya</a:t>
            </a:r>
            <a:r>
              <a:rPr lang="en-US" sz="2200" dirty="0"/>
              <a:t> paling </a:t>
            </a:r>
            <a:r>
              <a:rPr lang="en-US" sz="2200" dirty="0" err="1"/>
              <a:t>rendah</a:t>
            </a:r>
            <a:r>
              <a:rPr lang="en-US" sz="2200" dirty="0"/>
              <a:t>; </a:t>
            </a:r>
            <a:r>
              <a:rPr lang="en-US" sz="2200" dirty="0" err="1"/>
              <a:t>misalnya</a:t>
            </a:r>
            <a:r>
              <a:rPr lang="en-US" sz="2200" dirty="0"/>
              <a:t> </a:t>
            </a:r>
            <a:r>
              <a:rPr lang="en-US" sz="2200" i="1" dirty="0"/>
              <a:t>MAC address</a:t>
            </a:r>
            <a:r>
              <a:rPr lang="en-US" sz="2200" dirty="0"/>
              <a:t> switch A </a:t>
            </a:r>
            <a:r>
              <a:rPr lang="en-US" sz="2200" dirty="0" err="1"/>
              <a:t>adalah</a:t>
            </a:r>
            <a:r>
              <a:rPr lang="en-US" sz="2200" dirty="0"/>
              <a:t> 0000.0c00.1111.1111 </a:t>
            </a:r>
            <a:r>
              <a:rPr lang="en-US" sz="2200" dirty="0" err="1"/>
              <a:t>sedangkan</a:t>
            </a:r>
            <a:r>
              <a:rPr lang="en-US" sz="2200" dirty="0"/>
              <a:t> </a:t>
            </a:r>
            <a:r>
              <a:rPr lang="en-US" sz="2200" i="1" dirty="0"/>
              <a:t>MAC address </a:t>
            </a:r>
            <a:r>
              <a:rPr lang="en-US" sz="2200" dirty="0"/>
              <a:t>switch B </a:t>
            </a:r>
            <a:r>
              <a:rPr lang="en-US" sz="2200" dirty="0" err="1"/>
              <a:t>adalah</a:t>
            </a:r>
            <a:r>
              <a:rPr lang="en-US" sz="2200" dirty="0"/>
              <a:t> 0000.0c00.2222.2222, </a:t>
            </a:r>
            <a:r>
              <a:rPr lang="en-US" sz="2200" dirty="0" err="1"/>
              <a:t>maka</a:t>
            </a:r>
            <a:r>
              <a:rPr lang="en-US" sz="2200" dirty="0"/>
              <a:t> switch A-</a:t>
            </a:r>
            <a:r>
              <a:rPr lang="en-US" sz="2200" dirty="0" err="1"/>
              <a:t>lah</a:t>
            </a:r>
            <a:r>
              <a:rPr lang="en-US" sz="2200" dirty="0"/>
              <a:t> yang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dipilih</a:t>
            </a:r>
            <a:r>
              <a:rPr lang="en-US" sz="2200" dirty="0"/>
              <a:t> </a:t>
            </a:r>
            <a:r>
              <a:rPr lang="en-US" sz="2200" dirty="0" err="1"/>
              <a:t>menjadi</a:t>
            </a:r>
            <a:r>
              <a:rPr lang="en-US" sz="2200" dirty="0"/>
              <a:t> </a:t>
            </a:r>
            <a:r>
              <a:rPr lang="en-US" sz="2200" i="1" dirty="0"/>
              <a:t>root bridge</a:t>
            </a:r>
            <a:endParaRPr lang="en-US" sz="22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0555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memilih </a:t>
            </a:r>
            <a:r>
              <a:rPr lang="en-US" i="1"/>
              <a:t>root bridge </a:t>
            </a:r>
            <a:r>
              <a:rPr lang="en-US"/>
              <a:t>(3)</a:t>
            </a: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2192339" y="1752600"/>
            <a:ext cx="7927975" cy="42672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900" b="1"/>
              <a:t>Berikut contoh suatu BPDU yang dikirimkan oleh suatu switch Cisco 1900 (BPDU dikirimkan setiap 2 detik (default))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Flags:	0x80	</a:t>
            </a:r>
            <a:r>
              <a:rPr lang="en-US" sz="800" i="1">
                <a:latin typeface="Courier New" pitchFamily="49" charset="0"/>
              </a:rPr>
              <a:t>802.3</a:t>
            </a: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Status:	0x00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Packet Length:64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Timestamp:	19:33:18.726314	02/28/2000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802.3 Header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Destination:	01:80:c2:00:00:00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Source:		00:b0:64:75:6b:c3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LLC Length:	38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802.2 Logical Link Control (LLC) Header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Dest. SAP:	0x42 802.1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Source SAP:	0x42 802.1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Command:		0x03 Unnumbered Information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802.1 – Bridge Spanning Tree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Protocol Identifier:	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Protocol Version ID:	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Message Type:		0 Configuration Message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Flags:			%00000000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Root Priority/ID:	0x800	/ 00:b0:64:75:6b:c0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Cost of Path to Root: 	0x00000000 (0)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Bridge Priority/ID:	0x8000	/ 00:b0:64:75:6b:c0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Port Priority/ID:	0x80	/0x03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Message Age:				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0seconds)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Maximum Age:				5120/256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20seconds)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Hello Time:				512/256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2seconds)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Forward Delay:				3840/256 seconds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(exactly 15seconds)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Extra bytes (Padding):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	………………		00 00 00 00 00 00 00 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r>
              <a:rPr lang="en-US" sz="800">
                <a:latin typeface="Courier New" pitchFamily="49" charset="0"/>
              </a:rPr>
              <a:t>    Frame Check Sequence:	0x2e006400</a:t>
            </a: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Webdings" pitchFamily="18" charset="2"/>
              <a:buNone/>
            </a:pPr>
            <a:endParaRPr lang="en-US" sz="800">
              <a:latin typeface="Courier New" pitchFamily="49" charset="0"/>
            </a:endParaRP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36</a:t>
            </a:fld>
            <a:endParaRPr lang="en-SG" dirty="0"/>
          </a:p>
        </p:txBody>
      </p:sp>
      <p:sp>
        <p:nvSpPr>
          <p:cNvPr id="494596" name="Oval 4"/>
          <p:cNvSpPr>
            <a:spLocks noChangeArrowheads="1"/>
          </p:cNvSpPr>
          <p:nvPr/>
        </p:nvSpPr>
        <p:spPr bwMode="auto">
          <a:xfrm>
            <a:off x="2619375" y="4095750"/>
            <a:ext cx="2362200" cy="1524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>
            <a:off x="6823075" y="2108201"/>
            <a:ext cx="24844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Verdana" pitchFamily="34" charset="0"/>
              </a:rPr>
              <a:t>This is a root bridge</a:t>
            </a:r>
          </a:p>
        </p:txBody>
      </p:sp>
      <p:sp>
        <p:nvSpPr>
          <p:cNvPr id="494598" name="Line 6"/>
          <p:cNvSpPr>
            <a:spLocks noChangeShapeType="1"/>
          </p:cNvSpPr>
          <p:nvPr/>
        </p:nvSpPr>
        <p:spPr bwMode="auto">
          <a:xfrm flipH="1">
            <a:off x="4514850" y="2438400"/>
            <a:ext cx="2381250" cy="16192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530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Cara memilih </a:t>
            </a:r>
            <a:r>
              <a:rPr lang="en-US" i="1"/>
              <a:t>designated port</a:t>
            </a:r>
            <a:endParaRPr lang="en-US"/>
          </a:p>
        </p:txBody>
      </p:sp>
      <p:graphicFrame>
        <p:nvGraphicFramePr>
          <p:cNvPr id="495620" name="Group 4"/>
          <p:cNvGraphicFramePr>
            <a:graphicFrameLocks noGrp="1"/>
          </p:cNvGraphicFramePr>
          <p:nvPr>
            <p:ph idx="1"/>
          </p:nvPr>
        </p:nvGraphicFramePr>
        <p:xfrm>
          <a:off x="6053168" y="1946282"/>
          <a:ext cx="4329113" cy="2339975"/>
        </p:xfrm>
        <a:graphic>
          <a:graphicData uri="http://schemas.openxmlformats.org/drawingml/2006/table">
            <a:tbl>
              <a:tblPr/>
              <a:tblGrid>
                <a:gridCol w="1443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0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Speed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New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IEEE Cost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Original IEEE Cost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 Gbps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2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 Gbps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4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 Mbps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19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 Mbps</a:t>
                      </a:r>
                    </a:p>
                  </a:txBody>
                  <a:tcPr marL="180371" marR="18037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Webdings" pitchFamily="18" charset="2"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itchFamily="34" charset="0"/>
                        </a:rPr>
                        <a:t>100</a:t>
                      </a:r>
                    </a:p>
                  </a:txBody>
                  <a:tcPr marL="180371" marR="18037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37</a:t>
            </a:fld>
            <a:endParaRPr lang="en-SG" dirty="0"/>
          </a:p>
        </p:txBody>
      </p:sp>
      <p:sp>
        <p:nvSpPr>
          <p:cNvPr id="4956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0" y="1714500"/>
            <a:ext cx="4008438" cy="4686300"/>
          </a:xfrm>
        </p:spPr>
        <p:txBody>
          <a:bodyPr/>
          <a:lstStyle/>
          <a:p>
            <a:r>
              <a:rPr lang="en-US" sz="2400" dirty="0" err="1">
                <a:latin typeface="Franklin Gothic Book" pitchFamily="34" charset="0"/>
              </a:rPr>
              <a:t>Untuk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menentukan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satu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buah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atau</a:t>
            </a:r>
            <a:r>
              <a:rPr lang="en-US" sz="2400" dirty="0">
                <a:latin typeface="Franklin Gothic Book" pitchFamily="34" charset="0"/>
              </a:rPr>
              <a:t> beberapa port yang </a:t>
            </a:r>
            <a:r>
              <a:rPr lang="en-US" sz="2400" dirty="0" err="1">
                <a:latin typeface="Franklin Gothic Book" pitchFamily="34" charset="0"/>
              </a:rPr>
              <a:t>akan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digunakan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untuk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berkomunikasi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dengan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i="1" dirty="0">
                <a:latin typeface="Franklin Gothic Book" pitchFamily="34" charset="0"/>
              </a:rPr>
              <a:t>root bridge</a:t>
            </a:r>
            <a:r>
              <a:rPr lang="en-US" sz="2400" dirty="0">
                <a:latin typeface="Franklin Gothic Book" pitchFamily="34" charset="0"/>
              </a:rPr>
              <a:t>, yang </a:t>
            </a:r>
            <a:r>
              <a:rPr lang="en-US" sz="2400" dirty="0" err="1">
                <a:latin typeface="Franklin Gothic Book" pitchFamily="34" charset="0"/>
              </a:rPr>
              <a:t>harus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diperhatikan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adalah</a:t>
            </a:r>
            <a:r>
              <a:rPr lang="en-US" sz="2400" dirty="0">
                <a:latin typeface="Franklin Gothic Book" pitchFamily="34" charset="0"/>
              </a:rPr>
              <a:t> cost </a:t>
            </a:r>
            <a:r>
              <a:rPr lang="en-US" sz="2400" dirty="0" err="1">
                <a:latin typeface="Franklin Gothic Book" pitchFamily="34" charset="0"/>
              </a:rPr>
              <a:t>dari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jalur</a:t>
            </a:r>
            <a:r>
              <a:rPr lang="en-US" sz="2400" dirty="0">
                <a:latin typeface="Franklin Gothic Book" pitchFamily="34" charset="0"/>
              </a:rPr>
              <a:t> (path cost)</a:t>
            </a:r>
          </a:p>
          <a:p>
            <a:r>
              <a:rPr lang="en-US" sz="2400" dirty="0" err="1">
                <a:latin typeface="Franklin Gothic Book" pitchFamily="34" charset="0"/>
              </a:rPr>
              <a:t>Tabel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di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samping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menunjukkan</a:t>
            </a:r>
            <a:r>
              <a:rPr lang="en-US" sz="2400" dirty="0">
                <a:latin typeface="Franklin Gothic Book" pitchFamily="34" charset="0"/>
              </a:rPr>
              <a:t> cost </a:t>
            </a:r>
            <a:r>
              <a:rPr lang="en-US" sz="2400" dirty="0" err="1">
                <a:latin typeface="Franklin Gothic Book" pitchFamily="34" charset="0"/>
              </a:rPr>
              <a:t>tipikal</a:t>
            </a:r>
            <a:r>
              <a:rPr lang="en-US" sz="2400" dirty="0">
                <a:latin typeface="Franklin Gothic Book" pitchFamily="34" charset="0"/>
              </a:rPr>
              <a:t> </a:t>
            </a:r>
            <a:r>
              <a:rPr lang="en-US" sz="2400" dirty="0" err="1">
                <a:latin typeface="Franklin Gothic Book" pitchFamily="34" charset="0"/>
              </a:rPr>
              <a:t>jaringan</a:t>
            </a:r>
            <a:r>
              <a:rPr lang="en-US" sz="2400" dirty="0">
                <a:latin typeface="Franklin Gothic Book" pitchFamily="34" charset="0"/>
              </a:rPr>
              <a:t> Ethernet</a:t>
            </a:r>
          </a:p>
          <a:p>
            <a:pPr>
              <a:buFont typeface="Webdings" pitchFamily="18" charset="2"/>
              <a:buNone/>
            </a:pPr>
            <a:r>
              <a:rPr lang="en-US" sz="2400" dirty="0">
                <a:latin typeface="Franklin Gothic Book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7563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Kondisi Port Spanning-Tree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 err="1"/>
              <a:t>Kondisi</a:t>
            </a:r>
            <a:r>
              <a:rPr lang="en-US" sz="2400" dirty="0"/>
              <a:t> (state) port yang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bridge </a:t>
            </a:r>
            <a:r>
              <a:rPr lang="en-US" sz="2400" dirty="0" err="1"/>
              <a:t>atau</a:t>
            </a:r>
            <a:r>
              <a:rPr lang="en-US" sz="2400" dirty="0"/>
              <a:t> switch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bertransisi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empat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Blocking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bridge/switch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mem</a:t>
            </a:r>
            <a:r>
              <a:rPr lang="en-US" sz="1800" dirty="0"/>
              <a:t>-forward frame </a:t>
            </a:r>
            <a:r>
              <a:rPr lang="en-US" sz="1800" dirty="0" err="1"/>
              <a:t>pada</a:t>
            </a:r>
            <a:r>
              <a:rPr lang="en-US" sz="1800" dirty="0"/>
              <a:t> port </a:t>
            </a:r>
            <a:r>
              <a:rPr lang="en-US" sz="1800" dirty="0" err="1"/>
              <a:t>tersebut</a:t>
            </a:r>
            <a:endParaRPr lang="en-US" sz="1800" dirty="0"/>
          </a:p>
          <a:p>
            <a:pPr lvl="2">
              <a:lnSpc>
                <a:spcPct val="80000"/>
              </a:lnSpc>
            </a:pPr>
            <a:r>
              <a:rPr lang="en-US" sz="1800" dirty="0"/>
              <a:t>Port </a:t>
            </a:r>
            <a:r>
              <a:rPr lang="en-US" sz="1800" dirty="0" err="1"/>
              <a:t>masih</a:t>
            </a:r>
            <a:r>
              <a:rPr lang="en-US" sz="1800" dirty="0"/>
              <a:t> bisa “</a:t>
            </a:r>
            <a:r>
              <a:rPr lang="en-US" sz="1800" dirty="0" err="1"/>
              <a:t>mendengarkan</a:t>
            </a:r>
            <a:r>
              <a:rPr lang="en-US" sz="1800" dirty="0"/>
              <a:t>” BPDU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Secara </a:t>
            </a:r>
            <a:r>
              <a:rPr lang="en-US" sz="1800" dirty="0" err="1"/>
              <a:t>default,seluruh</a:t>
            </a:r>
            <a:r>
              <a:rPr lang="en-US" sz="1800" dirty="0"/>
              <a:t> port </a:t>
            </a:r>
            <a:r>
              <a:rPr lang="en-US" sz="1800" dirty="0" err="1"/>
              <a:t>berada</a:t>
            </a:r>
            <a:r>
              <a:rPr lang="en-US" sz="1800" dirty="0"/>
              <a:t>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i="1" dirty="0"/>
              <a:t>blocking </a:t>
            </a:r>
            <a:r>
              <a:rPr lang="en-US" sz="1800" dirty="0" err="1"/>
              <a:t>bila</a:t>
            </a:r>
            <a:r>
              <a:rPr lang="en-US" sz="1800" dirty="0"/>
              <a:t> bridge/switch </a:t>
            </a:r>
            <a:r>
              <a:rPr lang="en-US" sz="1800" dirty="0" err="1"/>
              <a:t>baru</a:t>
            </a:r>
            <a:r>
              <a:rPr lang="en-US" sz="1800" dirty="0"/>
              <a:t> </a:t>
            </a:r>
            <a:r>
              <a:rPr lang="en-US" sz="1800" dirty="0" err="1"/>
              <a:t>pertama</a:t>
            </a:r>
            <a:r>
              <a:rPr lang="en-US" sz="1800" dirty="0"/>
              <a:t> </a:t>
            </a:r>
            <a:r>
              <a:rPr lang="en-US" sz="1800" dirty="0" err="1"/>
              <a:t>kalai</a:t>
            </a:r>
            <a:r>
              <a:rPr lang="en-US" sz="1800" dirty="0"/>
              <a:t> </a:t>
            </a:r>
            <a:r>
              <a:rPr lang="en-US" sz="1800" dirty="0" err="1"/>
              <a:t>dinyalakan</a:t>
            </a:r>
            <a:endParaRPr lang="en-US" sz="1800" dirty="0"/>
          </a:p>
          <a:p>
            <a:pPr lvl="1">
              <a:lnSpc>
                <a:spcPct val="80000"/>
              </a:lnSpc>
            </a:pPr>
            <a:r>
              <a:rPr lang="en-US" sz="2000" b="1" dirty="0"/>
              <a:t>Listening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Port “</a:t>
            </a:r>
            <a:r>
              <a:rPr lang="en-US" sz="1800" dirty="0" err="1"/>
              <a:t>mendengarkan</a:t>
            </a:r>
            <a:r>
              <a:rPr lang="en-US" sz="1800" dirty="0"/>
              <a:t>” BPDU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menjamin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loop </a:t>
            </a:r>
            <a:r>
              <a:rPr lang="en-US" sz="1800" dirty="0" err="1"/>
              <a:t>di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jaringan</a:t>
            </a:r>
            <a:r>
              <a:rPr lang="en-US" sz="1800" dirty="0"/>
              <a:t> </a:t>
            </a:r>
            <a:r>
              <a:rPr lang="en-US" sz="1800" dirty="0" err="1"/>
              <a:t>sebelum</a:t>
            </a:r>
            <a:r>
              <a:rPr lang="en-US" sz="1800" dirty="0"/>
              <a:t> </a:t>
            </a:r>
            <a:r>
              <a:rPr lang="en-US" sz="1800" dirty="0" err="1"/>
              <a:t>mengirimkan</a:t>
            </a:r>
            <a:r>
              <a:rPr lang="en-US" sz="1800" dirty="0"/>
              <a:t> data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Learning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Mempelajari</a:t>
            </a:r>
            <a:r>
              <a:rPr lang="en-US" sz="1800" dirty="0"/>
              <a:t> MAC address dan </a:t>
            </a:r>
            <a:r>
              <a:rPr lang="en-US" sz="1800" dirty="0" err="1"/>
              <a:t>mambangun</a:t>
            </a:r>
            <a:r>
              <a:rPr lang="en-US" sz="1800" dirty="0"/>
              <a:t> </a:t>
            </a:r>
            <a:r>
              <a:rPr lang="en-US" sz="1800" dirty="0" err="1"/>
              <a:t>tabel</a:t>
            </a:r>
            <a:r>
              <a:rPr lang="en-US" sz="1800" dirty="0"/>
              <a:t> filter </a:t>
            </a:r>
            <a:r>
              <a:rPr lang="en-US" sz="1800" dirty="0" err="1"/>
              <a:t>tetapi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mem</a:t>
            </a:r>
            <a:r>
              <a:rPr lang="en-US" sz="1800" dirty="0"/>
              <a:t>-forward frame</a:t>
            </a:r>
          </a:p>
          <a:p>
            <a:pPr lvl="1">
              <a:lnSpc>
                <a:spcPct val="80000"/>
              </a:lnSpc>
            </a:pPr>
            <a:r>
              <a:rPr lang="en-US" sz="2000" b="1" dirty="0"/>
              <a:t>Forwarding</a:t>
            </a:r>
          </a:p>
          <a:p>
            <a:pPr lvl="2">
              <a:lnSpc>
                <a:spcPct val="80000"/>
              </a:lnSpc>
            </a:pPr>
            <a:r>
              <a:rPr lang="en-US" sz="1800" dirty="0" err="1"/>
              <a:t>Mengirimkan</a:t>
            </a:r>
            <a:r>
              <a:rPr lang="en-US" sz="1800" dirty="0"/>
              <a:t> dan </a:t>
            </a:r>
            <a:r>
              <a:rPr lang="en-US" sz="1800" dirty="0" err="1"/>
              <a:t>menerima</a:t>
            </a:r>
            <a:r>
              <a:rPr lang="en-US" sz="1800" dirty="0"/>
              <a:t> </a:t>
            </a:r>
            <a:r>
              <a:rPr lang="en-US" sz="1800" dirty="0" err="1"/>
              <a:t>seleuruh</a:t>
            </a:r>
            <a:r>
              <a:rPr lang="en-US" sz="1800" dirty="0"/>
              <a:t> data </a:t>
            </a:r>
            <a:r>
              <a:rPr lang="en-US" sz="1800" dirty="0" err="1"/>
              <a:t>pada</a:t>
            </a:r>
            <a:r>
              <a:rPr lang="en-US" sz="1800" dirty="0"/>
              <a:t> port bridge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3300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Kondisi Port Spanning-Tree (2)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>
          <a:xfrm>
            <a:off x="1738282" y="1600201"/>
            <a:ext cx="8786842" cy="4525963"/>
          </a:xfrm>
        </p:spPr>
        <p:txBody>
          <a:bodyPr>
            <a:noAutofit/>
          </a:bodyPr>
          <a:lstStyle/>
          <a:p>
            <a:r>
              <a:rPr lang="en-US" sz="2000" dirty="0" err="1"/>
              <a:t>Biasanya</a:t>
            </a:r>
            <a:r>
              <a:rPr lang="en-US" sz="2000" dirty="0"/>
              <a:t>, port switch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blocking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i="1" dirty="0"/>
              <a:t>forwarding</a:t>
            </a:r>
            <a:endParaRPr lang="en-US" sz="2000" dirty="0"/>
          </a:p>
          <a:p>
            <a:pPr lvl="1"/>
            <a:r>
              <a:rPr lang="en-US" sz="1800" i="1" dirty="0"/>
              <a:t>Forwarding port </a:t>
            </a:r>
            <a:r>
              <a:rPr lang="en-US" sz="1800" dirty="0" err="1"/>
              <a:t>memiliki</a:t>
            </a:r>
            <a:r>
              <a:rPr lang="en-US" sz="1800" dirty="0"/>
              <a:t> cost </a:t>
            </a:r>
            <a:r>
              <a:rPr lang="en-US" sz="1800" dirty="0" err="1"/>
              <a:t>jalur</a:t>
            </a:r>
            <a:r>
              <a:rPr lang="en-US" sz="1800" dirty="0"/>
              <a:t> yang paling </a:t>
            </a:r>
            <a:r>
              <a:rPr lang="en-US" sz="1800" dirty="0" err="1"/>
              <a:t>rendah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</a:t>
            </a:r>
            <a:r>
              <a:rPr lang="en-US" sz="1800" i="1" dirty="0"/>
              <a:t>root bridge</a:t>
            </a:r>
            <a:endParaRPr lang="en-US" sz="1800" dirty="0"/>
          </a:p>
          <a:p>
            <a:r>
              <a:rPr lang="en-US" sz="2000" dirty="0" err="1"/>
              <a:t>Tetapi</a:t>
            </a:r>
            <a:r>
              <a:rPr lang="en-US" sz="2000" dirty="0"/>
              <a:t>, </a:t>
            </a:r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perubahan</a:t>
            </a:r>
            <a:r>
              <a:rPr lang="en-US" sz="2000" dirty="0"/>
              <a:t> </a:t>
            </a:r>
            <a:r>
              <a:rPr lang="en-US" sz="2000" dirty="0" err="1"/>
              <a:t>topologi</a:t>
            </a:r>
            <a:r>
              <a:rPr lang="en-US" sz="2000" dirty="0"/>
              <a:t> </a:t>
            </a:r>
            <a:r>
              <a:rPr lang="en-US" sz="2000" dirty="0" err="1"/>
              <a:t>akibat</a:t>
            </a:r>
            <a:r>
              <a:rPr lang="en-US" sz="2000" dirty="0"/>
              <a:t> </a:t>
            </a:r>
            <a:r>
              <a:rPr lang="en-US" sz="2000" dirty="0" err="1"/>
              <a:t>adanya</a:t>
            </a:r>
            <a:r>
              <a:rPr lang="en-US" sz="2000" dirty="0"/>
              <a:t> link yang </a:t>
            </a:r>
            <a:r>
              <a:rPr lang="en-US" sz="2000" dirty="0" err="1"/>
              <a:t>rusak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ada</a:t>
            </a:r>
            <a:r>
              <a:rPr lang="en-US" sz="2000" dirty="0"/>
              <a:t> </a:t>
            </a:r>
            <a:r>
              <a:rPr lang="en-US" sz="2000" dirty="0" err="1"/>
              <a:t>penambahan</a:t>
            </a:r>
            <a:r>
              <a:rPr lang="en-US" sz="2000" dirty="0"/>
              <a:t> switch, </a:t>
            </a:r>
            <a:r>
              <a:rPr lang="en-US" sz="2000" dirty="0" err="1"/>
              <a:t>maka</a:t>
            </a:r>
            <a:r>
              <a:rPr lang="en-US" sz="2000" dirty="0"/>
              <a:t> port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listening</a:t>
            </a:r>
            <a:r>
              <a:rPr lang="en-US" sz="2000" dirty="0"/>
              <a:t> dan </a:t>
            </a:r>
            <a:r>
              <a:rPr lang="en-US" sz="2000" i="1" dirty="0"/>
              <a:t>learning</a:t>
            </a:r>
          </a:p>
          <a:p>
            <a:r>
              <a:rPr lang="en-US" sz="2000" i="1" dirty="0"/>
              <a:t>Blocking port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untukmencegah</a:t>
            </a:r>
            <a:r>
              <a:rPr lang="en-US" sz="2000" dirty="0"/>
              <a:t> loop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jaringan</a:t>
            </a:r>
            <a:endParaRPr lang="en-US" sz="2000" dirty="0"/>
          </a:p>
          <a:p>
            <a:r>
              <a:rPr lang="en-US" sz="2000" dirty="0" err="1"/>
              <a:t>Ketika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sudah</a:t>
            </a:r>
            <a:r>
              <a:rPr lang="en-US" sz="2000" dirty="0"/>
              <a:t>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jalur</a:t>
            </a:r>
            <a:r>
              <a:rPr lang="en-US" sz="2000" dirty="0"/>
              <a:t> </a:t>
            </a:r>
            <a:r>
              <a:rPr lang="en-US" sz="2000" dirty="0" err="1"/>
              <a:t>terbaik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i="1" dirty="0"/>
              <a:t>root bridge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port lain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blocking</a:t>
            </a:r>
            <a:endParaRPr lang="en-US" sz="2000" dirty="0"/>
          </a:p>
          <a:p>
            <a:pPr lvl="1"/>
            <a:r>
              <a:rPr lang="en-US" sz="1800" dirty="0" err="1"/>
              <a:t>Jangan</a:t>
            </a:r>
            <a:r>
              <a:rPr lang="en-US" sz="1800" dirty="0"/>
              <a:t> </a:t>
            </a:r>
            <a:r>
              <a:rPr lang="en-US" sz="1800" dirty="0" err="1"/>
              <a:t>lupa</a:t>
            </a:r>
            <a:r>
              <a:rPr lang="en-US" sz="1800" dirty="0"/>
              <a:t> </a:t>
            </a:r>
            <a:r>
              <a:rPr lang="en-US" sz="1800" i="1" dirty="0"/>
              <a:t>blocked port</a:t>
            </a:r>
            <a:r>
              <a:rPr lang="en-US" sz="1800" dirty="0"/>
              <a:t> </a:t>
            </a:r>
            <a:r>
              <a:rPr lang="en-US" sz="1800" dirty="0" err="1"/>
              <a:t>tetap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menerima</a:t>
            </a:r>
            <a:r>
              <a:rPr lang="en-US" sz="1800" dirty="0"/>
              <a:t> BPDU</a:t>
            </a:r>
          </a:p>
          <a:p>
            <a:r>
              <a:rPr lang="en-US" sz="2000" dirty="0" err="1"/>
              <a:t>Jika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switch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i="1" dirty="0"/>
              <a:t>blocked port</a:t>
            </a:r>
            <a:r>
              <a:rPr lang="en-US" sz="2000" dirty="0"/>
              <a:t>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dijadikan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i="1" dirty="0"/>
              <a:t>designated ports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switch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listening</a:t>
            </a:r>
          </a:p>
          <a:p>
            <a:pPr lvl="1"/>
            <a:r>
              <a:rPr lang="en-US" sz="1800" dirty="0" err="1"/>
              <a:t>Pada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, switch men-</a:t>
            </a:r>
            <a:r>
              <a:rPr lang="en-US" sz="1800" dirty="0" err="1"/>
              <a:t>cek</a:t>
            </a:r>
            <a:r>
              <a:rPr lang="en-US" sz="1800" dirty="0"/>
              <a:t> </a:t>
            </a:r>
            <a:r>
              <a:rPr lang="en-US" sz="1800" dirty="0" err="1"/>
              <a:t>seluruh</a:t>
            </a:r>
            <a:r>
              <a:rPr lang="en-US" sz="1800" dirty="0"/>
              <a:t> BPDU yang </a:t>
            </a:r>
            <a:r>
              <a:rPr lang="en-US" sz="1800" dirty="0" err="1"/>
              <a:t>diterima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menjamin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terbentuknya</a:t>
            </a:r>
            <a:r>
              <a:rPr lang="en-US" sz="1800" dirty="0"/>
              <a:t> loop </a:t>
            </a:r>
            <a:r>
              <a:rPr lang="en-US" sz="1800" dirty="0" err="1"/>
              <a:t>bila</a:t>
            </a:r>
            <a:r>
              <a:rPr lang="en-US" sz="1800" dirty="0"/>
              <a:t> </a:t>
            </a:r>
            <a:r>
              <a:rPr lang="en-US" sz="1800" dirty="0" err="1"/>
              <a:t>kondisi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port </a:t>
            </a:r>
            <a:r>
              <a:rPr lang="en-US" sz="1800" dirty="0" err="1"/>
              <a:t>berubah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i="1" dirty="0"/>
              <a:t>forwarding</a:t>
            </a:r>
            <a:endParaRPr lang="en-US" sz="1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833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Convergence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terjadi</a:t>
            </a:r>
            <a:r>
              <a:rPr lang="en-US" sz="2000" dirty="0"/>
              <a:t> </a:t>
            </a:r>
            <a:r>
              <a:rPr lang="en-US" sz="2000" dirty="0" err="1"/>
              <a:t>ketika</a:t>
            </a:r>
            <a:r>
              <a:rPr lang="en-US" sz="2000" dirty="0"/>
              <a:t> bridge dan switch </a:t>
            </a:r>
            <a:r>
              <a:rPr lang="en-US" sz="2000" dirty="0" err="1"/>
              <a:t>bertransisi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forwarding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i="1" dirty="0"/>
              <a:t>blocking</a:t>
            </a:r>
            <a:endParaRPr lang="en-US" sz="2000" dirty="0"/>
          </a:p>
          <a:p>
            <a:pPr lvl="1"/>
            <a:r>
              <a:rPr lang="en-US" sz="1800" dirty="0" err="1"/>
              <a:t>Selama</a:t>
            </a:r>
            <a:r>
              <a:rPr lang="en-US" sz="1800" dirty="0"/>
              <a:t> </a:t>
            </a:r>
            <a:r>
              <a:rPr lang="en-US" sz="1800" dirty="0" err="1"/>
              <a:t>transisi</a:t>
            </a:r>
            <a:r>
              <a:rPr lang="en-US" sz="1800" dirty="0"/>
              <a:t>,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data yang </a:t>
            </a:r>
            <a:r>
              <a:rPr lang="en-US" sz="1800" dirty="0" err="1"/>
              <a:t>diforward</a:t>
            </a:r>
            <a:endParaRPr lang="en-US" sz="1800" dirty="0"/>
          </a:p>
          <a:p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menjamin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perangkat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database yang </a:t>
            </a:r>
            <a:r>
              <a:rPr lang="en-US" sz="2000" dirty="0" err="1"/>
              <a:t>sama</a:t>
            </a:r>
            <a:endParaRPr lang="en-US" sz="2000" dirty="0"/>
          </a:p>
          <a:p>
            <a:r>
              <a:rPr lang="en-US" sz="2000" dirty="0" err="1"/>
              <a:t>Sebelum</a:t>
            </a:r>
            <a:r>
              <a:rPr lang="en-US" sz="2000" dirty="0"/>
              <a:t> data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-forward, </a:t>
            </a:r>
            <a:r>
              <a:rPr lang="en-US" sz="2000" dirty="0" err="1"/>
              <a:t>seluruh</a:t>
            </a:r>
            <a:r>
              <a:rPr lang="en-US" sz="2000" dirty="0"/>
              <a:t> </a:t>
            </a:r>
            <a:r>
              <a:rPr lang="en-US" sz="2000" dirty="0" err="1"/>
              <a:t>perangkat</a:t>
            </a:r>
            <a:r>
              <a:rPr lang="en-US" sz="2000" dirty="0"/>
              <a:t>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-update</a:t>
            </a:r>
          </a:p>
          <a:p>
            <a:r>
              <a:rPr lang="en-US" sz="2000" dirty="0" err="1"/>
              <a:t>Masalah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konvergensi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yang </a:t>
            </a:r>
            <a:r>
              <a:rPr lang="en-US" sz="2000" dirty="0" err="1"/>
              <a:t>diperlukan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perangkat-perangkat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melakukan update</a:t>
            </a:r>
          </a:p>
          <a:p>
            <a:r>
              <a:rPr lang="en-US" sz="2000" dirty="0" err="1"/>
              <a:t>Biasanya</a:t>
            </a:r>
            <a:r>
              <a:rPr lang="en-US" sz="2000" dirty="0"/>
              <a:t> </a:t>
            </a:r>
            <a:r>
              <a:rPr lang="en-US" sz="2000" dirty="0" err="1"/>
              <a:t>diperlukan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50 </a:t>
            </a:r>
            <a:r>
              <a:rPr lang="en-US" sz="2000" dirty="0" err="1"/>
              <a:t>detik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blocking </a:t>
            </a:r>
            <a:r>
              <a:rPr lang="en-US" sz="2000" dirty="0" err="1"/>
              <a:t>ke</a:t>
            </a:r>
            <a:r>
              <a:rPr lang="en-US" sz="2000" dirty="0"/>
              <a:t> forwarding</a:t>
            </a:r>
          </a:p>
          <a:p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dianjurkan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merubah</a:t>
            </a:r>
            <a:r>
              <a:rPr lang="en-US" sz="2000" dirty="0"/>
              <a:t> timer STP, </a:t>
            </a:r>
            <a:r>
              <a:rPr lang="en-US" sz="2000" dirty="0" err="1"/>
              <a:t>tetapi</a:t>
            </a:r>
            <a:r>
              <a:rPr lang="en-US" sz="2000" dirty="0"/>
              <a:t> </a:t>
            </a:r>
            <a:r>
              <a:rPr lang="en-US" sz="2000" dirty="0" err="1"/>
              <a:t>bila</a:t>
            </a:r>
            <a:r>
              <a:rPr lang="en-US" sz="2000" dirty="0"/>
              <a:t> </a:t>
            </a:r>
            <a:r>
              <a:rPr lang="en-US" sz="2000" dirty="0" err="1"/>
              <a:t>perlu</a:t>
            </a:r>
            <a:r>
              <a:rPr lang="en-US" sz="2000" dirty="0"/>
              <a:t> timer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disetting</a:t>
            </a:r>
            <a:endParaRPr lang="en-US" sz="2000" dirty="0"/>
          </a:p>
          <a:p>
            <a:r>
              <a:rPr lang="en-US" sz="2000" i="1" dirty="0"/>
              <a:t>Forward delay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waktu</a:t>
            </a:r>
            <a:r>
              <a:rPr lang="en-US" sz="2000" dirty="0"/>
              <a:t> yang </a:t>
            </a:r>
            <a:r>
              <a:rPr lang="en-US" sz="2000" dirty="0" err="1"/>
              <a:t>dibutuhkan</a:t>
            </a:r>
            <a:r>
              <a:rPr lang="en-US" sz="2000" dirty="0"/>
              <a:t> </a:t>
            </a:r>
            <a:r>
              <a:rPr lang="en-US" sz="2000" dirty="0" err="1"/>
              <a:t>oleh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port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learning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i="1" dirty="0"/>
              <a:t>forwarding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076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 Switch Type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>
          <a:xfrm>
            <a:off x="1881158" y="1600200"/>
            <a:ext cx="8786842" cy="475775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Latency </a:t>
            </a:r>
            <a:r>
              <a:rPr lang="en-US" sz="2400" dirty="0" err="1"/>
              <a:t>pada</a:t>
            </a:r>
            <a:r>
              <a:rPr lang="en-US" sz="2400" dirty="0"/>
              <a:t> switch </a:t>
            </a:r>
            <a:r>
              <a:rPr lang="en-US" sz="2400" dirty="0" err="1"/>
              <a:t>dipengaruhi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mode switching yang </a:t>
            </a:r>
            <a:r>
              <a:rPr lang="en-US" sz="2400" dirty="0" err="1"/>
              <a:t>digunakan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tiga</a:t>
            </a:r>
            <a:r>
              <a:rPr lang="en-US" sz="2400" dirty="0"/>
              <a:t> </a:t>
            </a:r>
            <a:r>
              <a:rPr lang="en-US" sz="2400" dirty="0" err="1"/>
              <a:t>macam</a:t>
            </a:r>
            <a:r>
              <a:rPr lang="en-US" sz="2400" dirty="0"/>
              <a:t> mode switching, </a:t>
            </a:r>
            <a:r>
              <a:rPr lang="en-US" sz="2400" dirty="0" err="1"/>
              <a:t>yaitu</a:t>
            </a:r>
            <a:r>
              <a:rPr lang="en-US" sz="2400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2200" dirty="0"/>
              <a:t>Store and Forward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Seluruh</a:t>
            </a:r>
            <a:r>
              <a:rPr lang="en-US" dirty="0"/>
              <a:t> frame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diperiksa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switch,CRC-nya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dicarikan</a:t>
            </a:r>
            <a:r>
              <a:rPr lang="en-US" dirty="0"/>
              <a:t> hardware address </a:t>
            </a:r>
            <a:r>
              <a:rPr lang="en-US" dirty="0" err="1"/>
              <a:t>tujuannya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Frame </a:t>
            </a:r>
            <a:r>
              <a:rPr lang="en-US" dirty="0" err="1"/>
              <a:t>dibuang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:</a:t>
            </a:r>
          </a:p>
          <a:p>
            <a:pPr lvl="3">
              <a:lnSpc>
                <a:spcPct val="120000"/>
              </a:lnSpc>
            </a:pPr>
            <a:r>
              <a:rPr lang="en-US" sz="1600" dirty="0"/>
              <a:t>CRC error</a:t>
            </a:r>
          </a:p>
          <a:p>
            <a:pPr lvl="3">
              <a:lnSpc>
                <a:spcPct val="120000"/>
              </a:lnSpc>
            </a:pPr>
            <a:r>
              <a:rPr lang="en-US" sz="1600" dirty="0" err="1"/>
              <a:t>Terlalu</a:t>
            </a:r>
            <a:r>
              <a:rPr lang="en-US" sz="1600" dirty="0"/>
              <a:t> </a:t>
            </a:r>
            <a:r>
              <a:rPr lang="en-US" sz="1600" dirty="0" err="1"/>
              <a:t>pendek</a:t>
            </a:r>
            <a:endParaRPr lang="en-US" sz="1600" dirty="0"/>
          </a:p>
          <a:p>
            <a:pPr lvl="3">
              <a:lnSpc>
                <a:spcPct val="120000"/>
              </a:lnSpc>
            </a:pPr>
            <a:r>
              <a:rPr lang="en-US" sz="1600" dirty="0" err="1"/>
              <a:t>Terlalu</a:t>
            </a:r>
            <a:r>
              <a:rPr lang="en-US" sz="1600" dirty="0"/>
              <a:t> </a:t>
            </a:r>
            <a:r>
              <a:rPr lang="en-US" sz="1600" dirty="0" err="1"/>
              <a:t>panjang</a:t>
            </a:r>
            <a:endParaRPr lang="en-US" sz="1600" dirty="0"/>
          </a:p>
          <a:p>
            <a:pPr lvl="1">
              <a:lnSpc>
                <a:spcPct val="120000"/>
              </a:lnSpc>
            </a:pPr>
            <a:r>
              <a:rPr lang="en-US" sz="2200" dirty="0"/>
              <a:t>Cut-trough (real time/fast forward)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Frame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diperiksa</a:t>
            </a:r>
            <a:r>
              <a:rPr lang="en-US" dirty="0"/>
              <a:t> </a:t>
            </a:r>
            <a:r>
              <a:rPr lang="en-US" dirty="0" err="1"/>
              <a:t>keseluruhan,melainkan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hardware address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diterima</a:t>
            </a:r>
            <a:r>
              <a:rPr lang="en-US" dirty="0"/>
              <a:t> switch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mencarikan</a:t>
            </a:r>
            <a:r>
              <a:rPr lang="en-US" dirty="0"/>
              <a:t> hardware address </a:t>
            </a:r>
            <a:r>
              <a:rPr lang="en-US" dirty="0" err="1"/>
              <a:t>tujuan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200" dirty="0"/>
              <a:t>Fragment Free (Modified Cut-trough)</a:t>
            </a:r>
          </a:p>
          <a:p>
            <a:pPr lvl="2">
              <a:lnSpc>
                <a:spcPct val="120000"/>
              </a:lnSpc>
            </a:pPr>
            <a:r>
              <a:rPr lang="en-US" dirty="0" err="1"/>
              <a:t>Pada</a:t>
            </a:r>
            <a:r>
              <a:rPr lang="en-US" dirty="0"/>
              <a:t> mode </a:t>
            </a:r>
            <a:r>
              <a:rPr lang="en-US" dirty="0" err="1"/>
              <a:t>ini</a:t>
            </a:r>
            <a:r>
              <a:rPr lang="en-US" dirty="0"/>
              <a:t>, switch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mencek</a:t>
            </a:r>
            <a:r>
              <a:rPr lang="en-US" dirty="0"/>
              <a:t> frame </a:t>
            </a:r>
            <a:r>
              <a:rPr lang="en-US" dirty="0" err="1"/>
              <a:t>sampai</a:t>
            </a:r>
            <a:r>
              <a:rPr lang="en-US" dirty="0"/>
              <a:t> 64 bytes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mem</a:t>
            </a:r>
            <a:r>
              <a:rPr lang="en-US" dirty="0"/>
              <a:t>-forward frame</a:t>
            </a:r>
          </a:p>
          <a:p>
            <a:pPr lvl="3">
              <a:lnSpc>
                <a:spcPct val="120000"/>
              </a:lnSpc>
            </a:pPr>
            <a:r>
              <a:rPr lang="en-US" sz="1600" dirty="0"/>
              <a:t>Hal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dilakukan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umumnya</a:t>
            </a:r>
            <a:r>
              <a:rPr lang="en-US" sz="1600" dirty="0"/>
              <a:t> error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64 bytes </a:t>
            </a:r>
            <a:r>
              <a:rPr lang="en-US" sz="1600" dirty="0" err="1"/>
              <a:t>pertama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400" dirty="0"/>
              <a:t>Latency Store and Forward &gt; Latency Fragment Free&gt; Latency Cut-trough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9206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LAN Switch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42</a:t>
            </a:fld>
            <a:endParaRPr lang="en-SG" dirty="0"/>
          </a:p>
        </p:txBody>
      </p:sp>
      <p:pic>
        <p:nvPicPr>
          <p:cNvPr id="13317" name="Picture 5" descr="E:\mybook\JaringanKomputer\cisco\Bridging Basics_files\ct840404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905001"/>
            <a:ext cx="4953000" cy="3890963"/>
          </a:xfrm>
          <a:prstGeom prst="rect">
            <a:avLst/>
          </a:prstGeom>
          <a:noFill/>
        </p:spPr>
      </p:pic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524000" y="5867401"/>
            <a:ext cx="9144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b="1"/>
              <a:t>A LAN Switch Can Link 10-Mbps and 100-Mbps Ethernet Segments</a:t>
            </a:r>
            <a:br>
              <a:rPr lang="en-US" sz="2000" b="1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5246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7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8189" y="2001838"/>
            <a:ext cx="8174037" cy="340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4374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</a:rPr>
              <a:t>Adaptive Cut Through</a:t>
            </a:r>
            <a:endParaRPr lang="en-SG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38282" y="1643051"/>
            <a:ext cx="8329642" cy="4525963"/>
          </a:xfrm>
        </p:spPr>
        <p:txBody>
          <a:bodyPr/>
          <a:lstStyle/>
          <a:p>
            <a:pPr>
              <a:buSzPct val="75000"/>
              <a:buFont typeface="Webdings" pitchFamily="18" charset="2"/>
              <a:buChar char="8"/>
            </a:pP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Kombinasi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antara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cut through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dan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store and forward</a:t>
            </a:r>
          </a:p>
          <a:p>
            <a:pPr lvl="1">
              <a:buFont typeface="Webdings" pitchFamily="18" charset="2"/>
              <a:buChar char="ò"/>
            </a:pP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Switch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menggunakan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cut-through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sampai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tingkat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error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tertentu</a:t>
            </a: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pPr lvl="1">
              <a:buFont typeface="Webdings" pitchFamily="18" charset="2"/>
              <a:buChar char="ò"/>
            </a:pP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Lalu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switch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dirty="0" err="1" smtClean="0">
                <a:solidFill>
                  <a:srgbClr val="800000"/>
                </a:solidFill>
                <a:latin typeface="Arial" pitchFamily="34" charset="0"/>
              </a:rPr>
              <a:t>menggunakan</a:t>
            </a:r>
            <a:r>
              <a:rPr lang="en-US" dirty="0" smtClean="0">
                <a:solidFill>
                  <a:srgbClr val="800000"/>
                </a:solidFill>
                <a:latin typeface="Arial" pitchFamily="34" charset="0"/>
              </a:rPr>
              <a:t> </a:t>
            </a:r>
            <a:r>
              <a:rPr lang="en-US" i="1" dirty="0" smtClean="0">
                <a:solidFill>
                  <a:srgbClr val="800000"/>
                </a:solidFill>
                <a:latin typeface="Arial" pitchFamily="34" charset="0"/>
              </a:rPr>
              <a:t>store and forward</a:t>
            </a: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pPr>
              <a:buSzPct val="75000"/>
              <a:buFont typeface="Webdings" pitchFamily="18" charset="2"/>
              <a:buChar char="8"/>
            </a:pPr>
            <a:endParaRPr lang="en-US" dirty="0" smtClean="0">
              <a:solidFill>
                <a:srgbClr val="800000"/>
              </a:solidFill>
              <a:latin typeface="Arial" pitchFamily="34" charset="0"/>
            </a:endParaRPr>
          </a:p>
          <a:p>
            <a:endParaRPr lang="en-SG" dirty="0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248AA-CB25-4CAC-9394-E98DB9341A17}" type="datetime1">
              <a:rPr lang="en-US" smtClean="0"/>
              <a:pPr/>
              <a:t>4/13/2026</a:t>
            </a:fld>
            <a:endParaRPr lang="en-SG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356351"/>
            <a:ext cx="2895600" cy="365125"/>
          </a:xfrm>
        </p:spPr>
        <p:txBody>
          <a:bodyPr/>
          <a:lstStyle/>
          <a:p>
            <a:r>
              <a:rPr lang="en-US" smtClean="0"/>
              <a:t>Jaringan Komputer </a:t>
            </a:r>
            <a:endParaRPr lang="en-SG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356351"/>
            <a:ext cx="2133600" cy="365125"/>
          </a:xfrm>
        </p:spPr>
        <p:txBody>
          <a:bodyPr/>
          <a:lstStyle/>
          <a:p>
            <a:fld id="{33FE6DC0-3D3F-452A-B58D-D3787DC8F01A}" type="slidenum">
              <a:rPr lang="en-SG" smtClean="0"/>
              <a:pPr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463999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524000" y="6356351"/>
            <a:ext cx="2133600" cy="365125"/>
          </a:xfrm>
        </p:spPr>
        <p:txBody>
          <a:bodyPr/>
          <a:lstStyle/>
          <a:p>
            <a:fld id="{231B3F47-7288-4570-9DFE-1965D41C4E9C}" type="slidenum">
              <a:rPr lang="en-US"/>
              <a:pPr/>
              <a:t>45</a:t>
            </a:fld>
            <a:endParaRPr lang="en-US"/>
          </a:p>
        </p:txBody>
      </p:sp>
      <p:sp>
        <p:nvSpPr>
          <p:cNvPr id="471044" name="Rectangle 4"/>
          <p:cNvSpPr>
            <a:spLocks noChangeArrowheads="1"/>
          </p:cNvSpPr>
          <p:nvPr/>
        </p:nvSpPr>
        <p:spPr bwMode="auto">
          <a:xfrm>
            <a:off x="1828800" y="-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Router</a:t>
            </a:r>
          </a:p>
        </p:txBody>
      </p:sp>
      <p:pic>
        <p:nvPicPr>
          <p:cNvPr id="4710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88938"/>
            <a:ext cx="8229600" cy="624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8111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524000" y="6356351"/>
            <a:ext cx="2133600" cy="365125"/>
          </a:xfrm>
        </p:spPr>
        <p:txBody>
          <a:bodyPr/>
          <a:lstStyle/>
          <a:p>
            <a:fld id="{C38E2C20-2DF8-4B52-967A-5C30C9D77195}" type="slidenum">
              <a:rPr lang="en-US"/>
              <a:pPr/>
              <a:t>46</a:t>
            </a:fld>
            <a:endParaRPr lang="en-US"/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1828800" y="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800" b="1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Gateway</a:t>
            </a:r>
          </a:p>
        </p:txBody>
      </p:sp>
      <p:pic>
        <p:nvPicPr>
          <p:cNvPr id="4720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066801"/>
            <a:ext cx="8915400" cy="526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2070" name="Oval 6"/>
          <p:cNvSpPr>
            <a:spLocks noChangeArrowheads="1"/>
          </p:cNvSpPr>
          <p:nvPr/>
        </p:nvSpPr>
        <p:spPr bwMode="auto">
          <a:xfrm>
            <a:off x="2971800" y="4953000"/>
            <a:ext cx="1219200" cy="685800"/>
          </a:xfrm>
          <a:prstGeom prst="ellipse">
            <a:avLst/>
          </a:prstGeom>
          <a:noFill/>
          <a:ln w="57150">
            <a:solidFill>
              <a:srgbClr val="FF505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  <p:sp>
        <p:nvSpPr>
          <p:cNvPr id="472071" name="Oval 7"/>
          <p:cNvSpPr>
            <a:spLocks noChangeArrowheads="1"/>
          </p:cNvSpPr>
          <p:nvPr/>
        </p:nvSpPr>
        <p:spPr bwMode="auto">
          <a:xfrm>
            <a:off x="8458200" y="4572000"/>
            <a:ext cx="1219200" cy="685800"/>
          </a:xfrm>
          <a:prstGeom prst="ellipse">
            <a:avLst/>
          </a:prstGeom>
          <a:noFill/>
          <a:ln w="57150">
            <a:solidFill>
              <a:srgbClr val="FF505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725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1831</TotalTime>
  <Words>2249</Words>
  <Application>Microsoft Office PowerPoint</Application>
  <PresentationFormat>Widescreen</PresentationFormat>
  <Paragraphs>431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맑은 고딕</vt:lpstr>
      <vt:lpstr>Arial</vt:lpstr>
      <vt:lpstr>Calibri</vt:lpstr>
      <vt:lpstr>Calibri Light</vt:lpstr>
      <vt:lpstr>Cordia New</vt:lpstr>
      <vt:lpstr>Courier New</vt:lpstr>
      <vt:lpstr>Franklin Gothic Book</vt:lpstr>
      <vt:lpstr>Symbol</vt:lpstr>
      <vt:lpstr>Times New Roman</vt:lpstr>
      <vt:lpstr>Verdana</vt:lpstr>
      <vt:lpstr>Webdings</vt:lpstr>
      <vt:lpstr>Office Theme</vt:lpstr>
      <vt:lpstr>Photo Editor Photo</vt:lpstr>
      <vt:lpstr>Visio</vt:lpstr>
      <vt:lpstr>Image</vt:lpstr>
      <vt:lpstr>PowerPoint Presentation</vt:lpstr>
      <vt:lpstr>Satuan Acara Perkuliahan</vt:lpstr>
      <vt:lpstr>Memperluas Jangkauan LAN</vt:lpstr>
      <vt:lpstr>Repeater (Hub)</vt:lpstr>
      <vt:lpstr>PowerPoint Presentation</vt:lpstr>
      <vt:lpstr>Bridge</vt:lpstr>
      <vt:lpstr>Types of Bridges</vt:lpstr>
      <vt:lpstr>Types of Bridges</vt:lpstr>
      <vt:lpstr>PowerPoint Presentation</vt:lpstr>
      <vt:lpstr>PowerPoint Presentation</vt:lpstr>
      <vt:lpstr>PowerPoint Presentation</vt:lpstr>
      <vt:lpstr>Algoritma pada Bridge</vt:lpstr>
      <vt:lpstr>Ilustrasi pembelajaran yang dilakukan oleh suatu Bridge</vt:lpstr>
      <vt:lpstr>Satellite Bridging</vt:lpstr>
      <vt:lpstr>PowerPoint Presentation</vt:lpstr>
      <vt:lpstr>Spanning Tree Algorithm  pada Bridge</vt:lpstr>
      <vt:lpstr>Loop problem</vt:lpstr>
      <vt:lpstr>PowerPoint Presentation</vt:lpstr>
      <vt:lpstr>Switch</vt:lpstr>
      <vt:lpstr>Perbedaan antara hub dan switch</vt:lpstr>
      <vt:lpstr>Beberapa terminologi</vt:lpstr>
      <vt:lpstr>What is Layer-2 switching?</vt:lpstr>
      <vt:lpstr>Keterbatasan Layer-2 Switching</vt:lpstr>
      <vt:lpstr>PowerPoint Presentation</vt:lpstr>
      <vt:lpstr>Bridging vs Layer-2 Switching</vt:lpstr>
      <vt:lpstr>Fungsi Layer-2 Switching</vt:lpstr>
      <vt:lpstr>Switching Table</vt:lpstr>
      <vt:lpstr>Loop avoidance</vt:lpstr>
      <vt:lpstr>Loop Avoidance (2)</vt:lpstr>
      <vt:lpstr>Loop Avoidance (3)</vt:lpstr>
      <vt:lpstr>Spanning-Tree Protocol (STP)</vt:lpstr>
      <vt:lpstr>Cara kerja STP</vt:lpstr>
      <vt:lpstr>PowerPoint Presentation</vt:lpstr>
      <vt:lpstr>Cara memilih root bridge</vt:lpstr>
      <vt:lpstr>Cara memilih root bridge (2)</vt:lpstr>
      <vt:lpstr>Cara memilih root bridge (3)</vt:lpstr>
      <vt:lpstr>Cara memilih designated port</vt:lpstr>
      <vt:lpstr>Kondisi Port Spanning-Tree</vt:lpstr>
      <vt:lpstr>Kondisi Port Spanning-Tree (2)</vt:lpstr>
      <vt:lpstr>Convergence</vt:lpstr>
      <vt:lpstr>LAN Switch Type</vt:lpstr>
      <vt:lpstr>LAN Switch</vt:lpstr>
      <vt:lpstr>PowerPoint Presentation</vt:lpstr>
      <vt:lpstr>Adaptive Cut Through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pds</dc:creator>
  <cp:lastModifiedBy>Gde</cp:lastModifiedBy>
  <cp:revision>77</cp:revision>
  <dcterms:created xsi:type="dcterms:W3CDTF">2022-08-25T13:17:53Z</dcterms:created>
  <dcterms:modified xsi:type="dcterms:W3CDTF">2026-04-13T00:47:14Z</dcterms:modified>
</cp:coreProperties>
</file>